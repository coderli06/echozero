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f2c514475429d" /><Relationship Type="http://schemas.openxmlformats.org/officeDocument/2006/relationships/extended-properties" Target="/docProps/app.xml" Id="R5e885c575c144a43" /><Relationship Type="http://schemas.openxmlformats.org/officeDocument/2006/relationships/officeDocument" Target="/ppt/presentation.xml" Id="R565660e64c1442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e306c1ff34903"/>
  </p:sldMasterIdLst>
  <p:notesMasterIdLst>
    <p:notesMasterId xmlns:r="http://schemas.openxmlformats.org/officeDocument/2006/relationships" r:id="R1a02492d9018414d"/>
  </p:notesMasterIdLst>
  <p:sldIdLst>
    <p:sldId xmlns:r="http://schemas.openxmlformats.org/officeDocument/2006/relationships" id="256" r:id="Rc30e8558628f4571"/>
    <p:sldId xmlns:r="http://schemas.openxmlformats.org/officeDocument/2006/relationships" id="257" r:id="Rf1d998c0d4f042c9"/>
    <p:sldId xmlns:r="http://schemas.openxmlformats.org/officeDocument/2006/relationships" id="258" r:id="Ra14605680ea34a43"/>
    <p:sldId xmlns:r="http://schemas.openxmlformats.org/officeDocument/2006/relationships" id="259" r:id="Rcb67fe2a89124c78"/>
    <p:sldId xmlns:r="http://schemas.openxmlformats.org/officeDocument/2006/relationships" id="260" r:id="R8e3ecebb87664ea6"/>
    <p:sldId xmlns:r="http://schemas.openxmlformats.org/officeDocument/2006/relationships" id="261" r:id="R7292dda7f7414083"/>
    <p:sldId xmlns:r="http://schemas.openxmlformats.org/officeDocument/2006/relationships" id="262" r:id="Rbccdf42d8f18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7686010a546e0" /><Relationship Type="http://schemas.openxmlformats.org/officeDocument/2006/relationships/slideMaster" Target="/ppt/slideMasters/slideMaster1.xml" Id="R00fe306c1ff34903" /><Relationship Type="http://schemas.openxmlformats.org/officeDocument/2006/relationships/notesMaster" Target="/ppt/notesMasters/notesMaster1.xml" Id="R1a02492d9018414d" /><Relationship Type="http://schemas.openxmlformats.org/officeDocument/2006/relationships/presProps" Target="/ppt/presProps.xml" Id="R6c49f98a277c4f24" /><Relationship Type="http://schemas.openxmlformats.org/officeDocument/2006/relationships/tableStyles" Target="/ppt/tableStyles.xml" Id="R02ae6abf9984444a" /><Relationship Type="http://schemas.openxmlformats.org/officeDocument/2006/relationships/slide" Target="/ppt/slides/slide1.xml" Id="Rc30e8558628f4571" /><Relationship Type="http://schemas.openxmlformats.org/officeDocument/2006/relationships/slide" Target="/ppt/slides/slide2.xml" Id="Rf1d998c0d4f042c9" /><Relationship Type="http://schemas.openxmlformats.org/officeDocument/2006/relationships/slide" Target="/ppt/slides/slide3.xml" Id="Ra14605680ea34a43" /><Relationship Type="http://schemas.openxmlformats.org/officeDocument/2006/relationships/slide" Target="/ppt/slides/slide4.xml" Id="Rcb67fe2a89124c78" /><Relationship Type="http://schemas.openxmlformats.org/officeDocument/2006/relationships/slide" Target="/ppt/slides/slide5.xml" Id="R8e3ecebb87664ea6" /><Relationship Type="http://schemas.openxmlformats.org/officeDocument/2006/relationships/slide" Target="/ppt/slides/slide6.xml" Id="R7292dda7f7414083" /><Relationship Type="http://schemas.openxmlformats.org/officeDocument/2006/relationships/slide" Target="/ppt/slides/slide7.xml" Id="Rbccdf42d8f18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86bdf6ad5a46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ca7787da04a13" /><Relationship Type="http://schemas.openxmlformats.org/officeDocument/2006/relationships/notesMaster" Target="/ppt/notesMasters/notesMaster1.xml" Id="Rfcf6bc7de07b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a7491310e2404a" /><Relationship Type="http://schemas.openxmlformats.org/officeDocument/2006/relationships/notesMaster" Target="/ppt/notesMasters/notesMaster1.xml" Id="Rad9173279c2048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f4679ae6fd4b2a" /><Relationship Type="http://schemas.openxmlformats.org/officeDocument/2006/relationships/notesMaster" Target="/ppt/notesMasters/notesMaster1.xml" Id="R4cd003be549f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67abcec4d4536" /><Relationship Type="http://schemas.openxmlformats.org/officeDocument/2006/relationships/notesMaster" Target="/ppt/notesMasters/notesMaster1.xml" Id="Rd23fc47bc352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7283f06a7240a7" /><Relationship Type="http://schemas.openxmlformats.org/officeDocument/2006/relationships/notesMaster" Target="/ppt/notesMasters/notesMaster1.xml" Id="Re570078f223446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6518aa7dd048af" /><Relationship Type="http://schemas.openxmlformats.org/officeDocument/2006/relationships/notesMaster" Target="/ppt/notesMasters/notesMaster1.xml" Id="Ra938cbb80f4b43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4760e846524637" /><Relationship Type="http://schemas.openxmlformats.org/officeDocument/2006/relationships/notesMaster" Target="/ppt/notesMasters/notesMaster1.xml" Id="Re0fabf50c1984d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秒。开场只讲一句：EchoZero 是实时动作 Roguelike，但在危险瞬间可以冻结战局，用三拍顺序改写结果。随后说明今天用四分钟证明：它可玩、创新清楚、技术可信。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D:/daerxia/程序设计实训/project/artifacts/final_ppt_yellow_edit/artifacts/meowa_ui_qa/06_boss_1280x800.png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秒。按左侧四步讲完整循环，画面只指三个信息：敌人意图、冷却与构筑。强调正式入口不是单场演示：有程序地图、奖励、三场遭遇和 Boss 终局。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D:/daerxia/程序设计实训/project/README.md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D:/daerxia/程序设计实训/project/artifacts/final_ppt_yellow_edit/artifacts/meowa_ui_qa/02_action_1280x800.png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秒。这一页是答辩的核心。先讲敌人意图固定，再读左右两种顺序。重点落在：画面预测和真实执行共用同一个模拟器，所以玩家看到的因果就是之后发生的结果。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D:/daerxia/程序设计实训/project/artifacts/final_ppt_yellow_edit/artifacts/meowa_ui_qa/03_tactical_1280x800.png</a:t>
            </a:r>
          </a:p>
          <a:p xmlns:a="http://schemas.openxmlformats.org/drawingml/2006/main">
            <a:r>
              <a:t>- D:/daerxia/程序设计实训/project/logs/visual_polish/11_causality_rewritten.png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秒。第一关教稳定顺序，第二关把同一时间轴改为逆序，并用相位锚把空间位置和时间规则绑定。最后用三条 Build 说明成长不是三档攻击力，而是分别奖励空拍、墙面和先后顺序。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D:/daerxia/程序设计实训/project/DEMO_PLAN.md</a:t>
            </a:r>
          </a:p>
          <a:p xmlns:a="http://schemas.openxmlformats.org/drawingml/2006/main">
            <a:r>
              <a:t>- D:/daerxia/程序设计实训/project/logs/visual_polish/12_level1_1920x1080.png</a:t>
            </a:r>
          </a:p>
          <a:p xmlns:a="http://schemas.openxmlformats.org/drawingml/2006/main">
            <a:r>
              <a:t>- D:/daerxia/程序设计实训/project/logs/visual_polish/09_level2_reverse.png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秒。只讲三条线：预演同源、地图可复现、AI 可解释。右图可指 F3 面板中的 Selector/Sequence/Condition。最后用底部一句交代领域与表现分离，避免动画改逻辑。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D:/daerxia/程序设计实训/project/artifacts/final_ppt_yellow_edit/artifacts/meowa_ui_qa/09_debug_1280x800.png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秒。本页必须独立讲。先说协作闭环，再用前后截图证明不是一次生成即交付。三个例子依次对应：架构边界、运行画面验证、面对冲突证据时不盲改。最后明确人机分工。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D:/daerxia/程序设计实训/project/AGENTS.md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D:/daerxia/程序设计实训/project/artifacts/ui_polish_pass1/03_tactical_1280x800.png</a:t>
            </a:r>
          </a:p>
          <a:p xmlns:a="http://schemas.openxmlformats.org/drawingml/2006/main">
            <a:r>
              <a:t>- D:/daerxia/程序设计实训/project/artifacts/final_ppt_yellow_edit/artifacts/meowa_ui_qa/03_tactical_1280x800.png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秒。用三个数字收口：131 项测试、Preview/Reverse 理解 100%、2/3 通关且无人介入。补一句发布包和两条 Smoke 已通过，然后不要说谢谢，直接转入现场演示。总讲解约 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D:/daerxia/程序设计实训/project/答辩预评分报告.md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84e68cc3046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3dcc88a0c74c0c" /><Relationship Type="http://schemas.openxmlformats.org/officeDocument/2006/relationships/slideLayout" Target="/ppt/slideLayouts/slideLayout1.xml" Id="Rbdf93b69acda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93b69acda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be17749124bc5" /><Relationship Type="http://schemas.openxmlformats.org/officeDocument/2006/relationships/image" Target="/ppt/media/image.png" Id="Rfd97e1ab0bb94da8" /><Relationship Type="http://schemas.openxmlformats.org/officeDocument/2006/relationships/notesSlide" Target="/ppt/notesSlides/notesSlide1.xml" Id="R112a696b286d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48166670c4adb" /><Relationship Type="http://schemas.openxmlformats.org/officeDocument/2006/relationships/image" Target="/ppt/media/image2.png" Id="R2f2a54f4c9224c4f" /><Relationship Type="http://schemas.openxmlformats.org/officeDocument/2006/relationships/notesSlide" Target="/ppt/notesSlides/notesSlide2.xml" Id="R0b2d5a619d40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93b0b67c64d0f" /><Relationship Type="http://schemas.openxmlformats.org/officeDocument/2006/relationships/image" Target="/ppt/media/image3.png" Id="Rb617992f742d4eff" /><Relationship Type="http://schemas.openxmlformats.org/officeDocument/2006/relationships/image" Target="/ppt/media/image4.png" Id="R53e9d97da188488f" /><Relationship Type="http://schemas.openxmlformats.org/officeDocument/2006/relationships/notesSlide" Target="/ppt/notesSlides/notesSlide3.xml" Id="Rea85a18bcc84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a4c3734224051" /><Relationship Type="http://schemas.openxmlformats.org/officeDocument/2006/relationships/image" Target="/ppt/media/image5.png" Id="R2799316a66454d7f" /><Relationship Type="http://schemas.openxmlformats.org/officeDocument/2006/relationships/image" Target="/ppt/media/image6.png" Id="R68538d4aac3f4b37" /><Relationship Type="http://schemas.openxmlformats.org/officeDocument/2006/relationships/notesSlide" Target="/ppt/notesSlides/notesSlide4.xml" Id="R21c69d6bc3f8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c8ce8e9034417" /><Relationship Type="http://schemas.openxmlformats.org/officeDocument/2006/relationships/image" Target="/ppt/media/image7.png" Id="Rc1d6fc2c474f4faf" /><Relationship Type="http://schemas.openxmlformats.org/officeDocument/2006/relationships/notesSlide" Target="/ppt/notesSlides/notesSlide5.xml" Id="R7f5633c530eb43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4eaade5f34625" /><Relationship Type="http://schemas.openxmlformats.org/officeDocument/2006/relationships/image" Target="/ppt/media/image8.png" Id="R5ff11bfb6ea54d59" /><Relationship Type="http://schemas.openxmlformats.org/officeDocument/2006/relationships/image" Target="/ppt/media/image9.png" Id="R2b954e0ee8ad4571" /><Relationship Type="http://schemas.openxmlformats.org/officeDocument/2006/relationships/notesSlide" Target="/ppt/notesSlides/notesSlide6.xml" Id="R89d55043b2bd46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8eb1581314a80" /><Relationship Type="http://schemas.openxmlformats.org/officeDocument/2006/relationships/notesSlide" Target="/ppt/notesSlides/notesSlide7.xml" Id="R00826edc85e24e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7e1ab0bb94da8"/>
          <a:srcRect xmlns:a="http://schemas.openxmlformats.org/drawingml/2006/main" l="20920" t="0" r="209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image-divider">
            <a:extLst xmlns:a="http://schemas.openxmlformats.org/drawingml/2006/main">
              <a:ext uri="{FF2B5EF4-FFF2-40B4-BE49-F238E27FC236}">
                <a16:creationId xmlns:a16="http://schemas.microsoft.com/office/drawing/2014/main" id="{3FE75721-9F47-4740-94AC-CB921B7C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left-field">
            <a:extLst xmlns:a="http://schemas.openxmlformats.org/drawingml/2006/main">
              <a:ext uri="{FF2B5EF4-FFF2-40B4-BE49-F238E27FC236}">
                <a16:creationId xmlns:a16="http://schemas.microsoft.com/office/drawing/2014/main" id="{6CFF2487-C60F-41E2-96CE-2339E5E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06A36CE-2B8B-4842-B27E-C639275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34A"/>
                </a:solidFill>
              </a:defRPr>
            </a:pPr>
            <a:r>
              <a:rPr sz="1350" b="1">
                <a:solidFill>
                  <a:srgbClr val="F0B34A"/>
                </a:solidFill>
              </a:rPr>
              <a:t>PYTHON · PYGAME-CE · 8 DAYS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694A93F7-97CA-4215-854F-5F27F16D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E7C2"/>
                </a:solidFill>
              </a:defRPr>
            </a:pPr>
            <a:r>
              <a:rPr sz="5400" b="1">
                <a:solidFill>
                  <a:srgbClr val="F4E7C2"/>
                </a:solidFill>
              </a:rPr>
              <a:t>ECHO // ZERO</a:t>
            </a:r>
          </a:p>
        </p:txBody>
      </p:sp>
      <p:sp>
        <p:nvSpPr>
          <p:cNvPr id="6" name="cover-title-cn">
            <a:extLst xmlns:a="http://schemas.openxmlformats.org/drawingml/2006/main">
              <a:ext uri="{FF2B5EF4-FFF2-40B4-BE49-F238E27FC236}">
                <a16:creationId xmlns:a16="http://schemas.microsoft.com/office/drawing/2014/main" id="{E32326E1-3897-41E6-A637-0DF8657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A93D"/>
                </a:solidFill>
              </a:defRPr>
            </a:pPr>
            <a:r>
              <a:rPr sz="3300" b="1">
                <a:solidFill>
                  <a:srgbClr val="D9A93D"/>
                </a:solidFill>
              </a:rPr>
              <a:t>冻结战局，改写因果</a:t>
            </a:r>
          </a:p>
        </p:txBody>
      </p:sp>
      <p:sp>
        <p:nvSpPr>
          <p:cNvPr id="7" name="cover-sub">
            <a:extLst xmlns:a="http://schemas.openxmlformats.org/drawingml/2006/main">
              <a:ext uri="{FF2B5EF4-FFF2-40B4-BE49-F238E27FC236}">
                <a16:creationId xmlns:a16="http://schemas.microsoft.com/office/drawing/2014/main" id="{48216CD1-8365-4D1A-83D6-FE929628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533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E7C2"/>
                </a:solidFill>
              </a:defRPr>
            </a:pPr>
            <a:r>
              <a:rPr sz="2025" b="0">
                <a:solidFill>
                  <a:srgbClr val="F4E7C2"/>
                </a:solidFill>
              </a:rPr>
              <a:t>动作 Roguelike × 三拍战术因果编排</a:t>
            </a:r>
          </a:p>
          <a:p xmlns:a="http://schemas.openxmlformats.org/drawingml/2006/main">
            <a:pPr algn="l">
              <a:defRPr sz="2025" b="0">
                <a:solidFill>
                  <a:srgbClr val="F4E7C2"/>
                </a:solidFill>
              </a:defRPr>
            </a:pPr>
            <a:r>
              <a:rPr sz="2025" b="0">
                <a:solidFill>
                  <a:srgbClr val="F4E7C2"/>
                </a:solidFill>
              </a:rPr>
              <a:t>两个完整关卡 · 可解释 AI · 可复现验证</a:t>
            </a:r>
          </a:p>
        </p:txBody>
      </p:sp>
      <p:sp>
        <p:nvSpPr>
          <p:cNvPr id="8" name="cover-proof-rule">
            <a:extLst xmlns:a="http://schemas.openxmlformats.org/drawingml/2006/main">
              <a:ext uri="{FF2B5EF4-FFF2-40B4-BE49-F238E27FC236}">
                <a16:creationId xmlns:a16="http://schemas.microsoft.com/office/drawing/2014/main" id="{E23AE4C8-3300-4B94-944A-341D58A8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C1A62A4-0D04-4998-9487-6DADD76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终验答辩｜核心创新可见、技术可解释、现场可演示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897ED0AD-B841-43B5-8BF4-553381E4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040760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">
            <a:extLst xmlns:a="http://schemas.openxmlformats.org/drawingml/2006/main">
              <a:ext uri="{FF2B5EF4-FFF2-40B4-BE49-F238E27FC236}">
                <a16:creationId xmlns:a16="http://schemas.microsoft.com/office/drawing/2014/main" id="{B5AAE312-AC88-4BB5-8337-D6EC72F0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01 / 功能与界面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A272E94-A337-4CFD-90DD-A2178F6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不是概念原型，而是一局完整的动作 Roguelike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BAC744CD-DF0F-4371-A487-FD09377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DFF3917-DDC5-421F-8A39-500CDC6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a54f4c9224c4f"/>
          <a:srcRect xmlns:a="http://schemas.openxmlformats.org/drawingml/2006/main" l="0" t="4986" r="0" b="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57350"/>
            <a:ext cx="6838950" cy="3848100"/>
          </a:xfrm>
          <a:prstGeom xmlns:a="http://schemas.openxmlformats.org/drawingml/2006/main" prst="roundRect">
            <a:avLst>
              <a:gd name="adj" fmla="val 1980"/>
            </a:avLst>
          </a:prstGeom>
        </p:spPr>
      </p:pic>
      <p:sp>
        <p:nvSpPr>
          <p:cNvPr id="6" name="loop-num-01">
            <a:extLst xmlns:a="http://schemas.openxmlformats.org/drawingml/2006/main">
              <a:ext uri="{FF2B5EF4-FFF2-40B4-BE49-F238E27FC236}">
                <a16:creationId xmlns:a16="http://schemas.microsoft.com/office/drawing/2014/main" id="{BF34C903-5140-451E-BD6B-9FEAEA1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01</a:t>
            </a:r>
          </a:p>
        </p:txBody>
      </p:sp>
      <p:sp>
        <p:nvSpPr>
          <p:cNvPr id="7" name="loop-title-01">
            <a:extLst xmlns:a="http://schemas.openxmlformats.org/drawingml/2006/main">
              <a:ext uri="{FF2B5EF4-FFF2-40B4-BE49-F238E27FC236}">
                <a16:creationId xmlns:a16="http://schemas.microsoft.com/office/drawing/2014/main" id="{501A79EB-FDF2-4AEC-BD9C-21EFBC2E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实时交锋</a:t>
            </a:r>
          </a:p>
        </p:txBody>
      </p:sp>
      <p:sp>
        <p:nvSpPr>
          <p:cNvPr id="8" name="loop-body-01">
            <a:extLst xmlns:a="http://schemas.openxmlformats.org/drawingml/2006/main">
              <a:ext uri="{FF2B5EF4-FFF2-40B4-BE49-F238E27FC236}">
                <a16:creationId xmlns:a16="http://schemas.microsoft.com/office/drawing/2014/main" id="{DF226FB5-BEA2-4526-9B61-2946C17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WASD、近/远程、闪避、牵引</a:t>
            </a:r>
          </a:p>
        </p:txBody>
      </p:sp>
      <p:sp>
        <p:nvSpPr>
          <p:cNvPr id="9" name="loop-rule-01">
            <a:extLst xmlns:a="http://schemas.openxmlformats.org/drawingml/2006/main">
              <a:ext uri="{FF2B5EF4-FFF2-40B4-BE49-F238E27FC236}">
                <a16:creationId xmlns:a16="http://schemas.microsoft.com/office/drawing/2014/main" id="{F2044CD1-4F65-4C52-9ADA-2A63F787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um-02">
            <a:extLst xmlns:a="http://schemas.openxmlformats.org/drawingml/2006/main">
              <a:ext uri="{FF2B5EF4-FFF2-40B4-BE49-F238E27FC236}">
                <a16:creationId xmlns:a16="http://schemas.microsoft.com/office/drawing/2014/main" id="{6818D843-8F2C-4689-BAEE-1846622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A93D"/>
                </a:solidFill>
              </a:defRPr>
            </a:pPr>
            <a:r>
              <a:rPr sz="1650" b="1">
                <a:solidFill>
                  <a:srgbClr val="D9A93D"/>
                </a:solidFill>
              </a:rPr>
              <a:t>02</a:t>
            </a:r>
          </a:p>
        </p:txBody>
      </p:sp>
      <p:sp>
        <p:nvSpPr>
          <p:cNvPr id="11" name="loop-title-02">
            <a:extLst xmlns:a="http://schemas.openxmlformats.org/drawingml/2006/main">
              <a:ext uri="{FF2B5EF4-FFF2-40B4-BE49-F238E27FC236}">
                <a16:creationId xmlns:a16="http://schemas.microsoft.com/office/drawing/2014/main" id="{89372F38-4867-4AA6-ADAB-E475647E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冻结危险瞬间</a:t>
            </a:r>
          </a:p>
        </p:txBody>
      </p:sp>
      <p:sp>
        <p:nvSpPr>
          <p:cNvPr id="12" name="loop-body-02">
            <a:extLst xmlns:a="http://schemas.openxmlformats.org/drawingml/2006/main">
              <a:ext uri="{FF2B5EF4-FFF2-40B4-BE49-F238E27FC236}">
                <a16:creationId xmlns:a16="http://schemas.microsoft.com/office/drawing/2014/main" id="{F10F6FC4-8F3D-4788-A07A-444410D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读取 Enemy Intent，进入三拍 Tactical</a:t>
            </a:r>
          </a:p>
        </p:txBody>
      </p:sp>
      <p:sp>
        <p:nvSpPr>
          <p:cNvPr id="13" name="loop-rule-02">
            <a:extLst xmlns:a="http://schemas.openxmlformats.org/drawingml/2006/main">
              <a:ext uri="{FF2B5EF4-FFF2-40B4-BE49-F238E27FC236}">
                <a16:creationId xmlns:a16="http://schemas.microsoft.com/office/drawing/2014/main" id="{B5D433DC-8976-4DFC-A359-5767BCFB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num-03">
            <a:extLst xmlns:a="http://schemas.openxmlformats.org/drawingml/2006/main">
              <a:ext uri="{FF2B5EF4-FFF2-40B4-BE49-F238E27FC236}">
                <a16:creationId xmlns:a16="http://schemas.microsoft.com/office/drawing/2014/main" id="{512B9D1E-83D4-4733-930B-408D10E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58A32"/>
                </a:solidFill>
              </a:defRPr>
            </a:pPr>
            <a:r>
              <a:rPr sz="1650" b="1">
                <a:solidFill>
                  <a:srgbClr val="C58A32"/>
                </a:solidFill>
              </a:rPr>
              <a:t>03</a:t>
            </a:r>
          </a:p>
        </p:txBody>
      </p:sp>
      <p:sp>
        <p:nvSpPr>
          <p:cNvPr id="15" name="loop-title-03">
            <a:extLst xmlns:a="http://schemas.openxmlformats.org/drawingml/2006/main">
              <a:ext uri="{FF2B5EF4-FFF2-40B4-BE49-F238E27FC236}">
                <a16:creationId xmlns:a16="http://schemas.microsoft.com/office/drawing/2014/main" id="{4EB13115-A476-4358-AC10-BC917E2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三选一成长</a:t>
            </a:r>
          </a:p>
        </p:txBody>
      </p:sp>
      <p:sp>
        <p:nvSpPr>
          <p:cNvPr id="16" name="loop-body-03">
            <a:extLst xmlns:a="http://schemas.openxmlformats.org/drawingml/2006/main">
              <a:ext uri="{FF2B5EF4-FFF2-40B4-BE49-F238E27FC236}">
                <a16:creationId xmlns:a16="http://schemas.microsoft.com/office/drawing/2014/main" id="{1DA2840A-AE38-4A69-AC97-F9B8D7BF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协议 / 技能 / 属性改变后续战斗</a:t>
            </a:r>
          </a:p>
        </p:txBody>
      </p:sp>
      <p:sp>
        <p:nvSpPr>
          <p:cNvPr id="17" name="loop-rule-03">
            <a:extLst xmlns:a="http://schemas.openxmlformats.org/drawingml/2006/main">
              <a:ext uri="{FF2B5EF4-FFF2-40B4-BE49-F238E27FC236}">
                <a16:creationId xmlns:a16="http://schemas.microsoft.com/office/drawing/2014/main" id="{782462E0-9AC9-4291-982B-55595337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num-04">
            <a:extLst xmlns:a="http://schemas.openxmlformats.org/drawingml/2006/main">
              <a:ext uri="{FF2B5EF4-FFF2-40B4-BE49-F238E27FC236}">
                <a16:creationId xmlns:a16="http://schemas.microsoft.com/office/drawing/2014/main" id="{2A7D730F-5519-44D8-B95B-87B13D75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AE5A"/>
                </a:solidFill>
              </a:defRPr>
            </a:pPr>
            <a:r>
              <a:rPr sz="1650" b="1">
                <a:solidFill>
                  <a:srgbClr val="9AAE5A"/>
                </a:solidFill>
              </a:rPr>
              <a:t>04</a:t>
            </a:r>
          </a:p>
        </p:txBody>
      </p:sp>
      <p:sp>
        <p:nvSpPr>
          <p:cNvPr id="19" name="loop-title-04">
            <a:extLst xmlns:a="http://schemas.openxmlformats.org/drawingml/2006/main">
              <a:ext uri="{FF2B5EF4-FFF2-40B4-BE49-F238E27FC236}">
                <a16:creationId xmlns:a16="http://schemas.microsoft.com/office/drawing/2014/main" id="{08120095-32B7-45DA-BF01-34ACE4F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完整 Run</a:t>
            </a:r>
          </a:p>
        </p:txBody>
      </p:sp>
      <p:sp>
        <p:nvSpPr>
          <p:cNvPr id="20" name="loop-body-04">
            <a:extLst xmlns:a="http://schemas.openxmlformats.org/drawingml/2006/main">
              <a:ext uri="{FF2B5EF4-FFF2-40B4-BE49-F238E27FC236}">
                <a16:creationId xmlns:a16="http://schemas.microsoft.com/office/drawing/2014/main" id="{5DABD23E-08FA-4A1A-8727-6442547E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程序地图 → 3 个遭遇 → 12 HP Boss</a:t>
            </a:r>
          </a:p>
        </p:txBody>
      </p:sp>
      <p:sp>
        <p:nvSpPr>
          <p:cNvPr id="21" name="loop-rule-04">
            <a:extLst xmlns:a="http://schemas.openxmlformats.org/drawingml/2006/main">
              <a:ext uri="{FF2B5EF4-FFF2-40B4-BE49-F238E27FC236}">
                <a16:creationId xmlns:a16="http://schemas.microsoft.com/office/drawing/2014/main" id="{B443DAB2-92A3-4F2D-9E1B-477F6756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ui-caption">
            <a:extLst xmlns:a="http://schemas.openxmlformats.org/drawingml/2006/main">
              <a:ext uri="{FF2B5EF4-FFF2-40B4-BE49-F238E27FC236}">
                <a16:creationId xmlns:a16="http://schemas.microsoft.com/office/drawing/2014/main" id="{828746DC-8CEE-4BDB-9F23-B5E4BF7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5785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实机：中文 HUD、敌我编号、Intent 倒计时、构筑常驻显示</a:t>
            </a:r>
          </a:p>
        </p:txBody>
      </p:sp>
      <p:sp>
        <p:nvSpPr>
          <p:cNvPr id="23" name="loop-summary">
            <a:extLst xmlns:a="http://schemas.openxmlformats.org/drawingml/2006/main">
              <a:ext uri="{FF2B5EF4-FFF2-40B4-BE49-F238E27FC236}">
                <a16:creationId xmlns:a16="http://schemas.microsoft.com/office/drawing/2014/main" id="{5CDF06C4-3821-4F02-AB9E-0E41962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60% 动作 · 25% 策略 · 15% Build</a:t>
            </a:r>
          </a:p>
        </p:txBody>
      </p:sp>
    </p:spTree>
    <p:extLst>
      <p:ext uri="{BB962C8B-B14F-4D97-AF65-F5344CB8AC3E}">
        <p14:creationId xmlns:p14="http://schemas.microsoft.com/office/powerpoint/2010/main" val="420379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F582FB72-76A5-499D-A0C8-A409DD8A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02 / 主创新：三拍命令链 + 因果预演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664A102-67E6-4DAB-9075-A1E8C341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同样三招，只换顺序，失败就变成击杀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1DEDF297-7AF8-425B-B20B-B92E505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D99A3A9-7DA9-4585-BA74-F981DF1E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7992f742d4eff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9d97da188488f"/>
          <a:srcRect xmlns:a="http://schemas.openxmlformats.org/drawingml/2006/main" l="4965" t="0" r="4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D92F74F0-640B-486A-B0DD-63F220B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464"/>
                </a:solidFill>
              </a:defRPr>
            </a:pPr>
            <a:r>
              <a:rPr sz="1800" b="1">
                <a:solidFill>
                  <a:srgbClr val="F06464"/>
                </a:solidFill>
              </a:rPr>
              <a:t>原顺序：推击 → 移动 → 牵引</a:t>
            </a:r>
          </a:p>
        </p:txBody>
      </p:sp>
      <p:sp>
        <p:nvSpPr>
          <p:cNvPr id="8" name="before-desc">
            <a:extLst xmlns:a="http://schemas.openxmlformats.org/drawingml/2006/main">
              <a:ext uri="{FF2B5EF4-FFF2-40B4-BE49-F238E27FC236}">
                <a16:creationId xmlns:a16="http://schemas.microsoft.com/office/drawing/2014/main" id="{402584FF-90E7-4376-B629-0B16067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敌人存活，锁定意图继续结算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8C9F643B-3806-44E3-AE0B-11ECDD56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0B34A"/>
                </a:solidFill>
              </a:defRPr>
            </a:pPr>
            <a:r>
              <a:rPr sz="4800" b="1">
                <a:solidFill>
                  <a:srgbClr val="F0B34A"/>
                </a:solidFill>
              </a:rPr>
              <a:t>→</a:t>
            </a:r>
          </a:p>
        </p:txBody>
      </p:sp>
      <p:sp>
        <p:nvSpPr>
          <p:cNvPr id="1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4325EF61-9CF4-419E-AB3A-BB4BC4A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新顺序：牵引 → 推击 → 移动</a:t>
            </a:r>
          </a:p>
        </p:txBody>
      </p:sp>
      <p:sp>
        <p:nvSpPr>
          <p:cNvPr id="11" name="after-desc">
            <a:extLst xmlns:a="http://schemas.openxmlformats.org/drawingml/2006/main">
              <a:ext uri="{FF2B5EF4-FFF2-40B4-BE49-F238E27FC236}">
                <a16:creationId xmlns:a16="http://schemas.microsoft.com/office/drawing/2014/main" id="{03383633-0B01-4221-AB9C-00AF12A7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敌人在行动前死亡，意图自动取消</a:t>
            </a:r>
          </a:p>
        </p:txBody>
      </p:sp>
      <p:sp>
        <p:nvSpPr>
          <p:cNvPr id="12" name="innovation-band">
            <a:extLst xmlns:a="http://schemas.openxmlformats.org/drawingml/2006/main">
              <a:ext uri="{FF2B5EF4-FFF2-40B4-BE49-F238E27FC236}">
                <a16:creationId xmlns:a16="http://schemas.microsoft.com/office/drawing/2014/main" id="{FC7DF8C8-8EA5-4F08-A35F-7616C0FA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3" name="innovation-band-text">
            <a:extLst xmlns:a="http://schemas.openxmlformats.org/drawingml/2006/main">
              <a:ext uri="{FF2B5EF4-FFF2-40B4-BE49-F238E27FC236}">
                <a16:creationId xmlns:a16="http://schemas.microsoft.com/office/drawing/2014/main" id="{B7994FFC-A724-4D25-ABA2-BDB8F3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Preview 不是录制动画：状态副本与真实 Execute 调用同一个 simulate_turn</a:t>
            </a:r>
          </a:p>
        </p:txBody>
      </p:sp>
    </p:spTree>
    <p:extLst>
      <p:ext uri="{BB962C8B-B14F-4D97-AF65-F5344CB8AC3E}">
        <p14:creationId xmlns:p14="http://schemas.microsoft.com/office/powerpoint/2010/main" val="1595822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4">
            <a:extLst xmlns:a="http://schemas.openxmlformats.org/drawingml/2006/main">
              <a:ext uri="{FF2B5EF4-FFF2-40B4-BE49-F238E27FC236}">
                <a16:creationId xmlns:a16="http://schemas.microsoft.com/office/drawing/2014/main" id="{92D24706-97C1-41BD-BD89-A717012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03 / 两关差异与构筑深度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DC011FF-2BF6-4C9F-AD8D-10FFE211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第二关不加一套系统，而是反转玩家已学会的规则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43DCB0A3-E052-4B81-B5DB-02666E0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ECE4E6F-D285-4EAA-B92F-12F6CE2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9316a66454d7f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38d4aac3f4b37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7" name="level1-title">
            <a:extLst xmlns:a="http://schemas.openxmlformats.org/drawingml/2006/main">
              <a:ext uri="{FF2B5EF4-FFF2-40B4-BE49-F238E27FC236}">
                <a16:creationId xmlns:a16="http://schemas.microsoft.com/office/drawing/2014/main" id="{158735DE-6405-4688-9F0F-2AAD728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Level 1｜校准舱：稳定 1→2→3</a:t>
            </a:r>
          </a:p>
        </p:txBody>
      </p:sp>
      <p:sp>
        <p:nvSpPr>
          <p:cNvPr id="8" name="level1-body">
            <a:extLst xmlns:a="http://schemas.openxmlformats.org/drawingml/2006/main">
              <a:ext uri="{FF2B5EF4-FFF2-40B4-BE49-F238E27FC236}">
                <a16:creationId xmlns:a16="http://schemas.microsoft.com/office/drawing/2014/main" id="{643BC15A-2A00-4B36-A07D-598D6BD8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教学换序、首次协议、三遭遇闭环</a:t>
            </a:r>
          </a:p>
        </p:txBody>
      </p:sp>
      <p:sp>
        <p:nvSpPr>
          <p:cNvPr id="9" name="level2-title">
            <a:extLst xmlns:a="http://schemas.openxmlformats.org/drawingml/2006/main">
              <a:ext uri="{FF2B5EF4-FFF2-40B4-BE49-F238E27FC236}">
                <a16:creationId xmlns:a16="http://schemas.microsoft.com/office/drawing/2014/main" id="{F37BB6E1-C090-43CB-A8BD-6EC3F848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8A32"/>
                </a:solidFill>
              </a:defRPr>
            </a:pPr>
            <a:r>
              <a:rPr sz="1800" b="1">
                <a:solidFill>
                  <a:srgbClr val="C58A32"/>
                </a:solidFill>
              </a:rPr>
              <a:t>Level 2｜逆相反应堆：3→2→1</a:t>
            </a:r>
          </a:p>
        </p:txBody>
      </p:sp>
      <p:sp>
        <p:nvSpPr>
          <p:cNvPr id="10" name="level2-body">
            <a:extLst xmlns:a="http://schemas.openxmlformats.org/drawingml/2006/main">
              <a:ext uri="{FF2B5EF4-FFF2-40B4-BE49-F238E27FC236}">
                <a16:creationId xmlns:a16="http://schemas.microsoft.com/office/drawing/2014/main" id="{A29675AC-8B82-4AF6-8B97-0115F72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相位锚锁相、多格 Intent、守卫终局</a:t>
            </a:r>
          </a:p>
        </p:txBody>
      </p:sp>
      <p:sp>
        <p:nvSpPr>
          <p:cNvPr id="11" name="build-回声编排">
            <a:extLst xmlns:a="http://schemas.openxmlformats.org/drawingml/2006/main">
              <a:ext uri="{FF2B5EF4-FFF2-40B4-BE49-F238E27FC236}">
                <a16:creationId xmlns:a16="http://schemas.microsoft.com/office/drawing/2014/main" id="{B9A89C50-D5CC-4AD6-ACC9-5CAB45C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D9A93D"/>
            </a:solidFill>
            <a:prstDash val="solid"/>
          </a:ln>
        </p:spPr>
      </p:sp>
      <p:sp>
        <p:nvSpPr>
          <p:cNvPr id="12" name="build-title-回声编排">
            <a:extLst xmlns:a="http://schemas.openxmlformats.org/drawingml/2006/main">
              <a:ext uri="{FF2B5EF4-FFF2-40B4-BE49-F238E27FC236}">
                <a16:creationId xmlns:a16="http://schemas.microsoft.com/office/drawing/2014/main" id="{B65DB701-7B3A-410E-85C3-E34F233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A93D"/>
                </a:solidFill>
              </a:defRPr>
            </a:pPr>
            <a:r>
              <a:rPr sz="1575" b="1">
                <a:solidFill>
                  <a:srgbClr val="D9A93D"/>
                </a:solidFill>
              </a:rPr>
              <a:t>回声编排</a:t>
            </a:r>
          </a:p>
        </p:txBody>
      </p:sp>
      <p:sp>
        <p:nvSpPr>
          <p:cNvPr id="13" name="build-body-回声编排">
            <a:extLst xmlns:a="http://schemas.openxmlformats.org/drawingml/2006/main">
              <a:ext uri="{FF2B5EF4-FFF2-40B4-BE49-F238E27FC236}">
                <a16:creationId xmlns:a16="http://schemas.microsoft.com/office/drawing/2014/main" id="{971BAB72-F234-4F79-80F1-4112C258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奖励空拍：首拍在第三拍重放</a:t>
            </a:r>
          </a:p>
        </p:txBody>
      </p:sp>
      <p:sp>
        <p:nvSpPr>
          <p:cNvPr id="14" name="build-动能破阵">
            <a:extLst xmlns:a="http://schemas.openxmlformats.org/drawingml/2006/main">
              <a:ext uri="{FF2B5EF4-FFF2-40B4-BE49-F238E27FC236}">
                <a16:creationId xmlns:a16="http://schemas.microsoft.com/office/drawing/2014/main" id="{80CCA93F-2A6E-436A-B0E4-95F33481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build-title-动能破阵">
            <a:extLst xmlns:a="http://schemas.openxmlformats.org/drawingml/2006/main">
              <a:ext uri="{FF2B5EF4-FFF2-40B4-BE49-F238E27FC236}">
                <a16:creationId xmlns:a16="http://schemas.microsoft.com/office/drawing/2014/main" id="{E637850E-4EAE-4FB8-8E60-BAA90AB6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B34A"/>
                </a:solidFill>
              </a:defRPr>
            </a:pPr>
            <a:r>
              <a:rPr sz="1575" b="1">
                <a:solidFill>
                  <a:srgbClr val="F0B34A"/>
                </a:solidFill>
              </a:rPr>
              <a:t>动能破阵</a:t>
            </a:r>
          </a:p>
        </p:txBody>
      </p:sp>
      <p:sp>
        <p:nvSpPr>
          <p:cNvPr id="16" name="build-body-动能破阵">
            <a:extLst xmlns:a="http://schemas.openxmlformats.org/drawingml/2006/main">
              <a:ext uri="{FF2B5EF4-FFF2-40B4-BE49-F238E27FC236}">
                <a16:creationId xmlns:a16="http://schemas.microsoft.com/office/drawing/2014/main" id="{29DF8A70-A247-4BDE-BB62-9DB11C36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奖励墙面：推击 + 碰撞过载</a:t>
            </a:r>
          </a:p>
        </p:txBody>
      </p:sp>
      <p:sp>
        <p:nvSpPr>
          <p:cNvPr id="17" name="build-屏障反推">
            <a:extLst xmlns:a="http://schemas.openxmlformats.org/drawingml/2006/main">
              <a:ext uri="{FF2B5EF4-FFF2-40B4-BE49-F238E27FC236}">
                <a16:creationId xmlns:a16="http://schemas.microsoft.com/office/drawing/2014/main" id="{94CD3396-2F50-460E-97D9-C6D2C090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9AAE5A"/>
            </a:solidFill>
            <a:prstDash val="solid"/>
          </a:ln>
        </p:spPr>
      </p:sp>
      <p:sp>
        <p:nvSpPr>
          <p:cNvPr id="18" name="build-title-屏障反推">
            <a:extLst xmlns:a="http://schemas.openxmlformats.org/drawingml/2006/main">
              <a:ext uri="{FF2B5EF4-FFF2-40B4-BE49-F238E27FC236}">
                <a16:creationId xmlns:a16="http://schemas.microsoft.com/office/drawing/2014/main" id="{579C3466-34D3-4EB2-AF93-917AC2DC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AE5A"/>
                </a:solidFill>
              </a:defRPr>
            </a:pPr>
            <a:r>
              <a:rPr sz="1575" b="1">
                <a:solidFill>
                  <a:srgbClr val="9AAE5A"/>
                </a:solidFill>
              </a:rPr>
              <a:t>屏障反推</a:t>
            </a:r>
          </a:p>
        </p:txBody>
      </p:sp>
      <p:sp>
        <p:nvSpPr>
          <p:cNvPr id="19" name="build-body-屏障反推">
            <a:extLst xmlns:a="http://schemas.openxmlformats.org/drawingml/2006/main">
              <a:ext uri="{FF2B5EF4-FFF2-40B4-BE49-F238E27FC236}">
                <a16:creationId xmlns:a16="http://schemas.microsoft.com/office/drawing/2014/main" id="{656E736E-31D1-4F02-B3E9-DC505163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奖励顺序：先盾后推才增伤</a:t>
            </a:r>
          </a:p>
        </p:txBody>
      </p:sp>
    </p:spTree>
    <p:extLst>
      <p:ext uri="{BB962C8B-B14F-4D97-AF65-F5344CB8AC3E}">
        <p14:creationId xmlns:p14="http://schemas.microsoft.com/office/powerpoint/2010/main" val="1616752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5">
            <a:extLst xmlns:a="http://schemas.openxmlformats.org/drawingml/2006/main">
              <a:ext uri="{FF2B5EF4-FFF2-40B4-BE49-F238E27FC236}">
                <a16:creationId xmlns:a16="http://schemas.microsoft.com/office/drawing/2014/main" id="{9FEE4B1F-75DF-4A7D-8B0A-05BCFDE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04 / 技术实现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F5C7440-3E3B-4BC3-89E8-15D4AE11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三条技术线共同保证：可解释、可复现、不穿帮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177A2439-B513-4B81-8784-A76304A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4FF6FFC-3656-4CA8-A49A-FC2BEB1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6fc2c474f4faf"/>
          <a:srcRect xmlns:a="http://schemas.openxmlformats.org/drawingml/2006/main" l="9615" t="0" r="9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57350"/>
            <a:ext cx="48006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tech-node-确定性模拟">
            <a:extLst xmlns:a="http://schemas.openxmlformats.org/drawingml/2006/main">
              <a:ext uri="{FF2B5EF4-FFF2-40B4-BE49-F238E27FC236}">
                <a16:creationId xmlns:a16="http://schemas.microsoft.com/office/drawing/2014/main" id="{C36FF6B8-DBD2-4F93-9959-AE73D85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D9A93D"/>
            </a:solidFill>
            <a:prstDash val="solid"/>
          </a:ln>
        </p:spPr>
      </p:sp>
      <p:sp>
        <p:nvSpPr>
          <p:cNvPr id="7" name="tech-title-确定性模拟">
            <a:extLst xmlns:a="http://schemas.openxmlformats.org/drawingml/2006/main">
              <a:ext uri="{FF2B5EF4-FFF2-40B4-BE49-F238E27FC236}">
                <a16:creationId xmlns:a16="http://schemas.microsoft.com/office/drawing/2014/main" id="{2EEDE395-C102-4FC6-A4C2-936624C6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确定性模拟</a:t>
            </a:r>
          </a:p>
        </p:txBody>
      </p:sp>
      <p:sp>
        <p:nvSpPr>
          <p:cNvPr id="8" name="tech-flow-确定性模拟">
            <a:extLst xmlns:a="http://schemas.openxmlformats.org/drawingml/2006/main">
              <a:ext uri="{FF2B5EF4-FFF2-40B4-BE49-F238E27FC236}">
                <a16:creationId xmlns:a16="http://schemas.microsoft.com/office/drawing/2014/main" id="{67E14FEF-D1C4-4ED1-A067-9B712B73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859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clone(state) → simulate_turn → fingerprint</a:t>
            </a:r>
          </a:p>
        </p:txBody>
      </p:sp>
      <p:sp>
        <p:nvSpPr>
          <p:cNvPr id="9" name="tech-outcome-确定性模拟">
            <a:extLst xmlns:a="http://schemas.openxmlformats.org/drawingml/2006/main">
              <a:ext uri="{FF2B5EF4-FFF2-40B4-BE49-F238E27FC236}">
                <a16:creationId xmlns:a16="http://schemas.microsoft.com/office/drawing/2014/main" id="{64BEF6CD-3F96-48A5-8DDC-C956098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Preview = Execute 终态</a:t>
            </a:r>
          </a:p>
        </p:txBody>
      </p:sp>
      <p:sp>
        <p:nvSpPr>
          <p:cNvPr id="10" name="tech-node-程序地图">
            <a:extLst xmlns:a="http://schemas.openxmlformats.org/drawingml/2006/main">
              <a:ext uri="{FF2B5EF4-FFF2-40B4-BE49-F238E27FC236}">
                <a16:creationId xmlns:a16="http://schemas.microsoft.com/office/drawing/2014/main" id="{D73EAF70-A63B-413C-802F-45115AA5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9AAE5A"/>
            </a:solidFill>
            <a:prstDash val="solid"/>
          </a:ln>
        </p:spPr>
      </p:sp>
      <p:sp>
        <p:nvSpPr>
          <p:cNvPr id="11" name="tech-title-程序地图">
            <a:extLst xmlns:a="http://schemas.openxmlformats.org/drawingml/2006/main">
              <a:ext uri="{FF2B5EF4-FFF2-40B4-BE49-F238E27FC236}">
                <a16:creationId xmlns:a16="http://schemas.microsoft.com/office/drawing/2014/main" id="{315182A0-530A-474E-A8EE-93469FD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AE5A"/>
                </a:solidFill>
              </a:defRPr>
            </a:pPr>
            <a:r>
              <a:rPr sz="1800" b="1">
                <a:solidFill>
                  <a:srgbClr val="9AAE5A"/>
                </a:solidFill>
              </a:rPr>
              <a:t>程序地图</a:t>
            </a:r>
          </a:p>
        </p:txBody>
      </p:sp>
      <p:sp>
        <p:nvSpPr>
          <p:cNvPr id="12" name="tech-flow-程序地图">
            <a:extLst xmlns:a="http://schemas.openxmlformats.org/drawingml/2006/main">
              <a:ext uri="{FF2B5EF4-FFF2-40B4-BE49-F238E27FC236}">
                <a16:creationId xmlns:a16="http://schemas.microsoft.com/office/drawing/2014/main" id="{12C671B0-62F6-4BDB-96B6-6253E85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813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Seed → 房间/走廊 → BFS → 距离校验</a:t>
            </a:r>
          </a:p>
        </p:txBody>
      </p:sp>
      <p:sp>
        <p:nvSpPr>
          <p:cNvPr id="13" name="tech-outcome-程序地图">
            <a:extLst xmlns:a="http://schemas.openxmlformats.org/drawingml/2006/main">
              <a:ext uri="{FF2B5EF4-FFF2-40B4-BE49-F238E27FC236}">
                <a16:creationId xmlns:a16="http://schemas.microsoft.com/office/drawing/2014/main" id="{E235804C-BCC7-4634-AF74-1C296406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290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同 Seed 复现，非法则重试</a:t>
            </a:r>
          </a:p>
        </p:txBody>
      </p:sp>
      <p:sp>
        <p:nvSpPr>
          <p:cNvPr id="14" name="tech-node-行为树 AI">
            <a:extLst xmlns:a="http://schemas.openxmlformats.org/drawingml/2006/main">
              <a:ext uri="{FF2B5EF4-FFF2-40B4-BE49-F238E27FC236}">
                <a16:creationId xmlns:a16="http://schemas.microsoft.com/office/drawing/2014/main" id="{E4100957-A086-47FE-A575-E4B77FB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5829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tech-title-行为树 AI">
            <a:extLst xmlns:a="http://schemas.openxmlformats.org/drawingml/2006/main">
              <a:ext uri="{FF2B5EF4-FFF2-40B4-BE49-F238E27FC236}">
                <a16:creationId xmlns:a16="http://schemas.microsoft.com/office/drawing/2014/main" id="{B2DEB2F5-4BFB-4DEC-8A1E-61557B73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行为树 AI</a:t>
            </a:r>
          </a:p>
        </p:txBody>
      </p:sp>
      <p:sp>
        <p:nvSpPr>
          <p:cNvPr id="16" name="tech-flow-行为树 AI">
            <a:extLst xmlns:a="http://schemas.openxmlformats.org/drawingml/2006/main">
              <a:ext uri="{FF2B5EF4-FFF2-40B4-BE49-F238E27FC236}">
                <a16:creationId xmlns:a16="http://schemas.microsoft.com/office/drawing/2014/main" id="{7B222855-81B8-4DA8-8D3B-3C588E14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Selector / Sequence → PreparedAction</a:t>
            </a:r>
          </a:p>
        </p:txBody>
      </p:sp>
      <p:sp>
        <p:nvSpPr>
          <p:cNvPr id="17" name="tech-outcome-行为树 AI">
            <a:extLst xmlns:a="http://schemas.openxmlformats.org/drawingml/2006/main">
              <a:ext uri="{FF2B5EF4-FFF2-40B4-BE49-F238E27FC236}">
                <a16:creationId xmlns:a16="http://schemas.microsoft.com/office/drawing/2014/main" id="{02BD057A-B6D2-40E9-8E0D-0E538C03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24425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同一 Action 驱动 Intent 与执行</a:t>
            </a:r>
          </a:p>
        </p:txBody>
      </p:sp>
      <p:sp>
        <p:nvSpPr>
          <p:cNvPr id="18" name="tech-boundary">
            <a:extLst xmlns:a="http://schemas.openxmlformats.org/drawingml/2006/main">
              <a:ext uri="{FF2B5EF4-FFF2-40B4-BE49-F238E27FC236}">
                <a16:creationId xmlns:a16="http://schemas.microsoft.com/office/drawing/2014/main" id="{B3E01321-9E67-448E-A982-B2AE327E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tech-boundary-text">
            <a:extLst xmlns:a="http://schemas.openxmlformats.org/drawingml/2006/main">
              <a:ext uri="{FF2B5EF4-FFF2-40B4-BE49-F238E27FC236}">
                <a16:creationId xmlns:a16="http://schemas.microsoft.com/office/drawing/2014/main" id="{E6AC7178-15F0-4B70-84BD-719EFA10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领域层不导入 pygame；动画与音效只消费 LogicEvent，不改变伤害、位置或胜负</a:t>
            </a:r>
          </a:p>
        </p:txBody>
      </p:sp>
      <p:sp>
        <p:nvSpPr>
          <p:cNvPr id="20" name="debug-caption">
            <a:extLst xmlns:a="http://schemas.openxmlformats.org/drawingml/2006/main">
              <a:ext uri="{FF2B5EF4-FFF2-40B4-BE49-F238E27FC236}">
                <a16:creationId xmlns:a16="http://schemas.microsoft.com/office/drawing/2014/main" id="{5A91C45F-B119-4644-8496-96643A5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F3 面板只在答辩展示；正式 HUD 隐藏内部实现</a:t>
            </a:r>
          </a:p>
        </p:txBody>
      </p:sp>
    </p:spTree>
    <p:extLst>
      <p:ext uri="{BB962C8B-B14F-4D97-AF65-F5344CB8AC3E}">
        <p14:creationId xmlns:p14="http://schemas.microsoft.com/office/powerpoint/2010/main" val="2054644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6">
            <a:extLst xmlns:a="http://schemas.openxmlformats.org/drawingml/2006/main">
              <a:ext uri="{FF2B5EF4-FFF2-40B4-BE49-F238E27FC236}">
                <a16:creationId xmlns:a16="http://schemas.microsoft.com/office/drawing/2014/main" id="{6FA25071-68AD-4674-B3CC-7B393C2F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05 / AI 协作（独立评分项）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2A67235-1E0C-45FB-B454-7FC858A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AI 提高迭代速度，人负责证据、边界与最终判断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8AB41CC7-3158-4795-8570-5E85BD3E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9914E3D-0AB0-48D3-86C8-9F880946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06</a:t>
            </a:r>
          </a:p>
        </p:txBody>
      </p:sp>
      <p:sp>
        <p:nvSpPr>
          <p:cNvPr id="5" name="ai-step-0">
            <a:extLst xmlns:a="http://schemas.openxmlformats.org/drawingml/2006/main">
              <a:ext uri="{FF2B5EF4-FFF2-40B4-BE49-F238E27FC236}">
                <a16:creationId xmlns:a16="http://schemas.microsoft.com/office/drawing/2014/main" id="{C7CF9BF9-85DD-44F6-A62F-5BEE8DE8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6" name="ai-step-text-0">
            <a:extLst xmlns:a="http://schemas.openxmlformats.org/drawingml/2006/main">
              <a:ext uri="{FF2B5EF4-FFF2-40B4-BE49-F238E27FC236}">
                <a16:creationId xmlns:a16="http://schemas.microsoft.com/office/drawing/2014/main" id="{78AF878D-54E1-4CCC-964B-F6422E1E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冻结需求</a:t>
            </a:r>
          </a:p>
        </p:txBody>
      </p:sp>
      <p:sp>
        <p:nvSpPr>
          <p:cNvPr id="7" name="ai-arrow-0">
            <a:extLst xmlns:a="http://schemas.openxmlformats.org/drawingml/2006/main">
              <a:ext uri="{FF2B5EF4-FFF2-40B4-BE49-F238E27FC236}">
                <a16:creationId xmlns:a16="http://schemas.microsoft.com/office/drawing/2014/main" id="{3B1D25D9-E5BA-468D-9F0F-487CB43D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8" name="ai-step-1">
            <a:extLst xmlns:a="http://schemas.openxmlformats.org/drawingml/2006/main">
              <a:ext uri="{FF2B5EF4-FFF2-40B4-BE49-F238E27FC236}">
                <a16:creationId xmlns:a16="http://schemas.microsoft.com/office/drawing/2014/main" id="{6BBEE7BA-1862-40EF-8ABC-54828CCC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9" name="ai-step-text-1">
            <a:extLst xmlns:a="http://schemas.openxmlformats.org/drawingml/2006/main">
              <a:ext uri="{FF2B5EF4-FFF2-40B4-BE49-F238E27FC236}">
                <a16:creationId xmlns:a16="http://schemas.microsoft.com/office/drawing/2014/main" id="{1562F2BA-C2BB-4343-94E6-B85A4AF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AI 方案/代码/测试</a:t>
            </a:r>
          </a:p>
        </p:txBody>
      </p:sp>
      <p:sp>
        <p:nvSpPr>
          <p:cNvPr id="10" name="ai-arrow-1">
            <a:extLst xmlns:a="http://schemas.openxmlformats.org/drawingml/2006/main">
              <a:ext uri="{FF2B5EF4-FFF2-40B4-BE49-F238E27FC236}">
                <a16:creationId xmlns:a16="http://schemas.microsoft.com/office/drawing/2014/main" id="{BBBE9D8A-AFAB-4DB2-B031-60CC1BF9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11" name="ai-step-2">
            <a:extLst xmlns:a="http://schemas.openxmlformats.org/drawingml/2006/main">
              <a:ext uri="{FF2B5EF4-FFF2-40B4-BE49-F238E27FC236}">
                <a16:creationId xmlns:a16="http://schemas.microsoft.com/office/drawing/2014/main" id="{1629D56E-B458-4BD1-B949-EC71885E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2" name="ai-step-text-2">
            <a:extLst xmlns:a="http://schemas.openxmlformats.org/drawingml/2006/main">
              <a:ext uri="{FF2B5EF4-FFF2-40B4-BE49-F238E27FC236}">
                <a16:creationId xmlns:a16="http://schemas.microsoft.com/office/drawing/2014/main" id="{92748CB4-ED92-46E2-884D-5EE751D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真人运行审图</a:t>
            </a:r>
          </a:p>
        </p:txBody>
      </p:sp>
      <p:sp>
        <p:nvSpPr>
          <p:cNvPr id="13" name="ai-arrow-2">
            <a:extLst xmlns:a="http://schemas.openxmlformats.org/drawingml/2006/main">
              <a:ext uri="{FF2B5EF4-FFF2-40B4-BE49-F238E27FC236}">
                <a16:creationId xmlns:a16="http://schemas.microsoft.com/office/drawing/2014/main" id="{4401A25C-10B8-45BE-95D5-AD6CD0A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14" name="ai-step-3">
            <a:extLst xmlns:a="http://schemas.openxmlformats.org/drawingml/2006/main">
              <a:ext uri="{FF2B5EF4-FFF2-40B4-BE49-F238E27FC236}">
                <a16:creationId xmlns:a16="http://schemas.microsoft.com/office/drawing/2014/main" id="{B493D451-CE09-43C3-B54C-885983A1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ai-step-text-3">
            <a:extLst xmlns:a="http://schemas.openxmlformats.org/drawingml/2006/main">
              <a:ext uri="{FF2B5EF4-FFF2-40B4-BE49-F238E27FC236}">
                <a16:creationId xmlns:a16="http://schemas.microsoft.com/office/drawing/2014/main" id="{F6DB9F13-FF7C-44D3-9047-EC42FB5B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B34A"/>
                </a:solidFill>
              </a:defRPr>
            </a:pPr>
            <a:r>
              <a:rPr sz="1500" b="1">
                <a:solidFill>
                  <a:srgbClr val="F0B34A"/>
                </a:solidFill>
              </a:rPr>
              <a:t>反证与取舍</a:t>
            </a:r>
          </a:p>
        </p:txBody>
      </p:sp>
      <p:sp>
        <p:nvSpPr>
          <p:cNvPr id="16" name="ai-arrow-3">
            <a:extLst xmlns:a="http://schemas.openxmlformats.org/drawingml/2006/main">
              <a:ext uri="{FF2B5EF4-FFF2-40B4-BE49-F238E27FC236}">
                <a16:creationId xmlns:a16="http://schemas.microsoft.com/office/drawing/2014/main" id="{0E0AF609-2B38-43A6-8F6A-C9C289D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</a:p>
        </p:txBody>
      </p:sp>
      <p:sp>
        <p:nvSpPr>
          <p:cNvPr id="17" name="ai-step-4">
            <a:extLst xmlns:a="http://schemas.openxmlformats.org/drawingml/2006/main">
              <a:ext uri="{FF2B5EF4-FFF2-40B4-BE49-F238E27FC236}">
                <a16:creationId xmlns:a16="http://schemas.microsoft.com/office/drawing/2014/main" id="{A85F8552-97EC-4E0F-AF59-FDC4626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8" name="ai-step-text-4">
            <a:extLst xmlns:a="http://schemas.openxmlformats.org/drawingml/2006/main">
              <a:ext uri="{FF2B5EF4-FFF2-40B4-BE49-F238E27FC236}">
                <a16:creationId xmlns:a16="http://schemas.microsoft.com/office/drawing/2014/main" id="{42AE1103-8B3E-490B-A167-8C37EB4D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回归并归档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11bfb6ea54d59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54e0ee8ad4571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21" name="ai-before-label">
            <a:extLst xmlns:a="http://schemas.openxmlformats.org/drawingml/2006/main">
              <a:ext uri="{FF2B5EF4-FFF2-40B4-BE49-F238E27FC236}">
                <a16:creationId xmlns:a16="http://schemas.microsoft.com/office/drawing/2014/main" id="{30DC1F6A-7213-42E1-814B-F4D0F2C1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06464"/>
                </a:solidFill>
              </a:defRPr>
            </a:pPr>
            <a:r>
              <a:rPr sz="1350" b="0">
                <a:solidFill>
                  <a:srgbClr val="F06464"/>
                </a:solidFill>
              </a:rPr>
              <a:t>首轮：扫描过强 / 构筑区偏空</a:t>
            </a:r>
          </a:p>
        </p:txBody>
      </p:sp>
      <p:sp>
        <p:nvSpPr>
          <p:cNvPr id="22" name="ai-after-label">
            <a:extLst xmlns:a="http://schemas.openxmlformats.org/drawingml/2006/main">
              <a:ext uri="{FF2B5EF4-FFF2-40B4-BE49-F238E27FC236}">
                <a16:creationId xmlns:a16="http://schemas.microsoft.com/office/drawing/2014/main" id="{946D0BBC-5C64-4FC7-B613-2D0E9A15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AE5A"/>
                </a:solidFill>
              </a:defRPr>
            </a:pPr>
            <a:r>
              <a:rPr sz="1350" b="0">
                <a:solidFill>
                  <a:srgbClr val="9AAE5A"/>
                </a:solidFill>
              </a:rPr>
              <a:t>回修：单扫描线 / 增长信息补齐</a:t>
            </a:r>
          </a:p>
        </p:txBody>
      </p:sp>
      <p:sp>
        <p:nvSpPr>
          <p:cNvPr id="23" name="ai-critical-title">
            <a:extLst xmlns:a="http://schemas.openxmlformats.org/drawingml/2006/main">
              <a:ext uri="{FF2B5EF4-FFF2-40B4-BE49-F238E27FC236}">
                <a16:creationId xmlns:a16="http://schemas.microsoft.com/office/drawing/2014/main" id="{C135D370-F7A7-45E8-AD78-156FCC11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三个关键的人类判断</a:t>
            </a:r>
          </a:p>
        </p:txBody>
      </p:sp>
      <p:sp>
        <p:nvSpPr>
          <p:cNvPr id="24" name="decision-mark-0">
            <a:extLst xmlns:a="http://schemas.openxmlformats.org/drawingml/2006/main">
              <a:ext uri="{FF2B5EF4-FFF2-40B4-BE49-F238E27FC236}">
                <a16:creationId xmlns:a16="http://schemas.microsoft.com/office/drawing/2014/main" id="{F7131B5D-6036-4DED-AE19-36A3C63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cision-0">
            <a:extLst xmlns:a="http://schemas.openxmlformats.org/drawingml/2006/main">
              <a:ext uri="{FF2B5EF4-FFF2-40B4-BE49-F238E27FC236}">
                <a16:creationId xmlns:a16="http://schemas.microsoft.com/office/drawing/2014/main" id="{76232930-2A93-4C3F-BF22-D49110B9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否决“另写预演规则”</a:t>
            </a:r>
          </a:p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Preview / Execute 统一 simulate_turn</a:t>
            </a:r>
          </a:p>
        </p:txBody>
      </p:sp>
      <p:sp>
        <p:nvSpPr>
          <p:cNvPr id="26" name="decision-mark-1">
            <a:extLst xmlns:a="http://schemas.openxmlformats.org/drawingml/2006/main">
              <a:ext uri="{FF2B5EF4-FFF2-40B4-BE49-F238E27FC236}">
                <a16:creationId xmlns:a16="http://schemas.microsoft.com/office/drawing/2014/main" id="{26C706CD-4588-440F-84CA-7292EF58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1">
            <a:extLst xmlns:a="http://schemas.openxmlformats.org/drawingml/2006/main">
              <a:ext uri="{FF2B5EF4-FFF2-40B4-BE49-F238E27FC236}">
                <a16:creationId xmlns:a16="http://schemas.microsoft.com/office/drawing/2014/main" id="{269E933C-4224-48B6-BF07-ACF6CEDF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不相信“代码改完即完成”</a:t>
            </a:r>
          </a:p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六状态截图审查后再 Smoke</a:t>
            </a:r>
          </a:p>
        </p:txBody>
      </p:sp>
      <p:sp>
        <p:nvSpPr>
          <p:cNvPr id="28" name="decision-mark-2">
            <a:extLst xmlns:a="http://schemas.openxmlformats.org/drawingml/2006/main">
              <a:ext uri="{FF2B5EF4-FFF2-40B4-BE49-F238E27FC236}">
                <a16:creationId xmlns:a16="http://schemas.microsoft.com/office/drawing/2014/main" id="{D35B6941-70E8-48AD-958E-D4B3AC11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cision-2">
            <a:extLst xmlns:a="http://schemas.openxmlformats.org/drawingml/2006/main">
              <a:ext uri="{FF2B5EF4-FFF2-40B4-BE49-F238E27FC236}">
                <a16:creationId xmlns:a16="http://schemas.microsoft.com/office/drawing/2014/main" id="{7B4D7AED-33D0-4FA6-9A35-C91A18BF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盲测数值意见相互矛盾</a:t>
            </a:r>
          </a:p>
          <a:p xmlns:a="http://schemas.openxmlformats.org/drawingml/2006/main">
            <a:pPr algn="l"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不冒险改平衡，只修共性可读性</a:t>
            </a:r>
          </a:p>
        </p:txBody>
      </p:sp>
      <p:sp>
        <p:nvSpPr>
          <p:cNvPr id="30" name="ai-roles">
            <a:extLst xmlns:a="http://schemas.openxmlformats.org/drawingml/2006/main">
              <a:ext uri="{FF2B5EF4-FFF2-40B4-BE49-F238E27FC236}">
                <a16:creationId xmlns:a16="http://schemas.microsoft.com/office/drawing/2014/main" id="{44A9348D-CAC2-414F-B4FB-50FE2C0B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31" name="ai-role-ai">
            <a:extLst xmlns:a="http://schemas.openxmlformats.org/drawingml/2006/main">
              <a:ext uri="{FF2B5EF4-FFF2-40B4-BE49-F238E27FC236}">
                <a16:creationId xmlns:a16="http://schemas.microsoft.com/office/drawing/2014/main" id="{DEFACA4E-9AD3-4F2D-A4C0-9031594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A93D"/>
                </a:solidFill>
              </a:defRPr>
            </a:pPr>
            <a:r>
              <a:rPr sz="1500" b="0">
                <a:solidFill>
                  <a:srgbClr val="D9A93D"/>
                </a:solidFill>
              </a:rPr>
              <a:t>AI：方案比较、代码辅助、测试生成、视觉审查、文档整理</a:t>
            </a:r>
          </a:p>
        </p:txBody>
      </p:sp>
      <p:sp>
        <p:nvSpPr>
          <p:cNvPr id="32" name="ai-role-human">
            <a:extLst xmlns:a="http://schemas.openxmlformats.org/drawingml/2006/main">
              <a:ext uri="{FF2B5EF4-FFF2-40B4-BE49-F238E27FC236}">
                <a16:creationId xmlns:a16="http://schemas.microsoft.com/office/drawing/2014/main" id="{E79D69EA-1C78-4A4C-B97D-9893874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B34A"/>
                </a:solidFill>
              </a:defRPr>
            </a:pPr>
            <a:r>
              <a:rPr sz="1500" b="0">
                <a:solidFill>
                  <a:srgbClr val="F0B34A"/>
                </a:solidFill>
              </a:rPr>
              <a:t>人：冻结方向、运行验证、版权/风险把关、否决错误、现场验收</a:t>
            </a:r>
          </a:p>
        </p:txBody>
      </p:sp>
    </p:spTree>
    <p:extLst>
      <p:ext uri="{BB962C8B-B14F-4D97-AF65-F5344CB8AC3E}">
        <p14:creationId xmlns:p14="http://schemas.microsoft.com/office/powerpoint/2010/main" val="1908057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7">
            <a:extLst xmlns:a="http://schemas.openxmlformats.org/drawingml/2006/main">
              <a:ext uri="{FF2B5EF4-FFF2-40B4-BE49-F238E27FC236}">
                <a16:creationId xmlns:a16="http://schemas.microsoft.com/office/drawing/2014/main" id="{E2CEA682-F5AC-4F99-92AE-FC6342E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06 / 验收证据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86F8FFB-64EB-48EE-8C1C-22FD2E60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终验结论：创新可见、流程跑通、交付可复现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CEAF0AB2-D469-4EC5-94B0-C371F98B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CD707084-EDD7-4EC6-AD21-72B63C9B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07</a:t>
            </a:r>
          </a:p>
        </p:txBody>
      </p:sp>
      <p:sp>
        <p:nvSpPr>
          <p:cNvPr id="5" name="evidence-lead">
            <a:extLst xmlns:a="http://schemas.openxmlformats.org/drawingml/2006/main">
              <a:ext uri="{FF2B5EF4-FFF2-40B4-BE49-F238E27FC236}">
                <a16:creationId xmlns:a16="http://schemas.microsoft.com/office/drawing/2014/main" id="{FE138A15-20B0-4B73-B6F7-35229B5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E7C2"/>
                </a:solidFill>
              </a:defRPr>
            </a:pPr>
            <a:r>
              <a:rPr sz="1875" b="0">
                <a:solidFill>
                  <a:srgbClr val="F4E7C2"/>
                </a:solidFill>
              </a:rPr>
              <a:t>项目证据覆盖自动化、完整路径、真人盲测与发布包，而不是只展示代码截图。</a:t>
            </a:r>
          </a:p>
        </p:txBody>
      </p:sp>
      <p:sp>
        <p:nvSpPr>
          <p:cNvPr id="6" name="metric-bg-56">
            <a:extLst xmlns:a="http://schemas.openxmlformats.org/drawingml/2006/main">
              <a:ext uri="{FF2B5EF4-FFF2-40B4-BE49-F238E27FC236}">
                <a16:creationId xmlns:a16="http://schemas.microsoft.com/office/drawing/2014/main" id="{AB41E4B3-815D-4AD3-987C-D5E125B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7" name="metric-accent-56">
            <a:extLst xmlns:a="http://schemas.openxmlformats.org/drawingml/2006/main">
              <a:ext uri="{FF2B5EF4-FFF2-40B4-BE49-F238E27FC236}">
                <a16:creationId xmlns:a16="http://schemas.microsoft.com/office/drawing/2014/main" id="{915F599D-F369-4B7F-87DA-6C4741F9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56">
            <a:extLst xmlns:a="http://schemas.openxmlformats.org/drawingml/2006/main">
              <a:ext uri="{FF2B5EF4-FFF2-40B4-BE49-F238E27FC236}">
                <a16:creationId xmlns:a16="http://schemas.microsoft.com/office/drawing/2014/main" id="{A7F67C0C-54FB-4D05-976B-9AE2377D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9A93D"/>
                </a:solidFill>
              </a:defRPr>
            </a:pPr>
            <a:r>
              <a:rPr sz="5400" b="1">
                <a:solidFill>
                  <a:srgbClr val="D9A93D"/>
                </a:solidFill>
              </a:rPr>
              <a:t>131</a:t>
            </a:r>
          </a:p>
        </p:txBody>
      </p:sp>
      <p:sp>
        <p:nvSpPr>
          <p:cNvPr id="9" name="metric-label-56">
            <a:extLst xmlns:a="http://schemas.openxmlformats.org/drawingml/2006/main">
              <a:ext uri="{FF2B5EF4-FFF2-40B4-BE49-F238E27FC236}">
                <a16:creationId xmlns:a16="http://schemas.microsoft.com/office/drawing/2014/main" id="{E57D400C-B5EE-428E-A9F3-B9FDB815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项自动化测试全部通过</a:t>
            </a:r>
          </a:p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覆盖模拟、AI、地图、UI 与双关</a:t>
            </a:r>
          </a:p>
        </p:txBody>
      </p:sp>
      <p:sp>
        <p:nvSpPr>
          <p:cNvPr id="10" name="metric-bg-468">
            <a:extLst xmlns:a="http://schemas.openxmlformats.org/drawingml/2006/main">
              <a:ext uri="{FF2B5EF4-FFF2-40B4-BE49-F238E27FC236}">
                <a16:creationId xmlns:a16="http://schemas.microsoft.com/office/drawing/2014/main" id="{740BBC27-FB14-47CA-A0EA-F0FFE6C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1" name="metric-accent-468">
            <a:extLst xmlns:a="http://schemas.openxmlformats.org/drawingml/2006/main">
              <a:ext uri="{FF2B5EF4-FFF2-40B4-BE49-F238E27FC236}">
                <a16:creationId xmlns:a16="http://schemas.microsoft.com/office/drawing/2014/main" id="{405AEC0B-7363-48D3-91EA-A7F344B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468">
            <a:extLst xmlns:a="http://schemas.openxmlformats.org/drawingml/2006/main">
              <a:ext uri="{FF2B5EF4-FFF2-40B4-BE49-F238E27FC236}">
                <a16:creationId xmlns:a16="http://schemas.microsoft.com/office/drawing/2014/main" id="{47B59F57-9547-41B6-BB1F-FA815351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9AAE5A"/>
                </a:solidFill>
              </a:defRPr>
            </a:pPr>
            <a:r>
              <a:rPr sz="5400" b="1">
                <a:solidFill>
                  <a:srgbClr val="9AAE5A"/>
                </a:solidFill>
              </a:rPr>
              <a:t>100%</a:t>
            </a:r>
          </a:p>
        </p:txBody>
      </p:sp>
      <p:sp>
        <p:nvSpPr>
          <p:cNvPr id="13" name="metric-label-468">
            <a:extLst xmlns:a="http://schemas.openxmlformats.org/drawingml/2006/main">
              <a:ext uri="{FF2B5EF4-FFF2-40B4-BE49-F238E27FC236}">
                <a16:creationId xmlns:a16="http://schemas.microsoft.com/office/drawing/2014/main" id="{38C0E74D-46AF-43C3-8D99-2EB3566E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3/3 新玩家理解 Preview 与 Reverse</a:t>
            </a:r>
          </a:p>
        </p:txBody>
      </p:sp>
      <p:sp>
        <p:nvSpPr>
          <p:cNvPr id="14" name="metric-bg-880">
            <a:extLst xmlns:a="http://schemas.openxmlformats.org/drawingml/2006/main">
              <a:ext uri="{FF2B5EF4-FFF2-40B4-BE49-F238E27FC236}">
                <a16:creationId xmlns:a16="http://schemas.microsoft.com/office/drawing/2014/main" id="{65F23C81-AF0C-4EAA-A209-BA148EC4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5" name="metric-accent-880">
            <a:extLst xmlns:a="http://schemas.openxmlformats.org/drawingml/2006/main">
              <a:ext uri="{FF2B5EF4-FFF2-40B4-BE49-F238E27FC236}">
                <a16:creationId xmlns:a16="http://schemas.microsoft.com/office/drawing/2014/main" id="{0BEA24B7-C4CE-4D76-B59D-C62C0866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880">
            <a:extLst xmlns:a="http://schemas.openxmlformats.org/drawingml/2006/main">
              <a:ext uri="{FF2B5EF4-FFF2-40B4-BE49-F238E27FC236}">
                <a16:creationId xmlns:a16="http://schemas.microsoft.com/office/drawing/2014/main" id="{FFAA1F58-6D19-4E13-AB52-28405EC2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0B34A"/>
                </a:solidFill>
              </a:defRPr>
            </a:pPr>
            <a:r>
              <a:rPr sz="5400" b="1">
                <a:solidFill>
                  <a:srgbClr val="F0B34A"/>
                </a:solidFill>
              </a:rPr>
              <a:t>2/3</a:t>
            </a:r>
          </a:p>
        </p:txBody>
      </p:sp>
      <p:sp>
        <p:nvSpPr>
          <p:cNvPr id="17" name="metric-label-880">
            <a:extLst xmlns:a="http://schemas.openxmlformats.org/drawingml/2006/main">
              <a:ext uri="{FF2B5EF4-FFF2-40B4-BE49-F238E27FC236}">
                <a16:creationId xmlns:a16="http://schemas.microsoft.com/office/drawing/2014/main" id="{6CC7CB20-9FF3-486D-ACD3-0607EB7C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新玩家无指导通关</a:t>
            </a:r>
          </a:p>
          <a:p xmlns:a="http://schemas.openxmlformats.org/drawingml/2006/main">
            <a:pPr algn="l"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观察者介入 0/3、无阻断问题</a:t>
            </a:r>
          </a:p>
        </p:txBody>
      </p:sp>
      <p:sp>
        <p:nvSpPr>
          <p:cNvPr id="18" name="delivery-strip">
            <a:extLst xmlns:a="http://schemas.openxmlformats.org/drawingml/2006/main">
              <a:ext uri="{FF2B5EF4-FFF2-40B4-BE49-F238E27FC236}">
                <a16:creationId xmlns:a16="http://schemas.microsoft.com/office/drawing/2014/main" id="{0637E4E2-4ECA-45E2-A7D9-2CC0BBF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delivery-text">
            <a:extLst xmlns:a="http://schemas.openxmlformats.org/drawingml/2006/main">
              <a:ext uri="{FF2B5EF4-FFF2-40B4-BE49-F238E27FC236}">
                <a16:creationId xmlns:a16="http://schemas.microsoft.com/office/drawing/2014/main" id="{FF0C3420-183F-4B13-8004-A1F0700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PyInstaller onedir 已交付 · Action / Showcase 两条发布版 Smoke 退出码 0 · 固定 Seed 可复现演示</a:t>
            </a:r>
          </a:p>
        </p:txBody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8B87919F-EA10-46A7-A7AB-E8EAD37B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58A32"/>
                </a:solidFill>
              </a:defRPr>
            </a:pPr>
            <a:r>
              <a:rPr sz="2325" b="1">
                <a:solidFill>
                  <a:srgbClr val="C58A32"/>
                </a:solidFill>
              </a:rPr>
              <a:t>现在请看现场演示：同样三招，顺序如何改写结局。</a:t>
            </a:r>
          </a:p>
        </p:txBody>
      </p:sp>
    </p:spTree>
    <p:extLst>
      <p:ext uri="{BB962C8B-B14F-4D97-AF65-F5344CB8AC3E}">
        <p14:creationId xmlns:p14="http://schemas.microsoft.com/office/powerpoint/2010/main" val="281336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2026-09-02T14:41:39.3600000Z</dcterms:created>
  <dcterms:modified xsi:type="dcterms:W3CDTF">2026-09-02T14:41:39.3600000Z</dcterms:modified>
</coreProperties>
</file>