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d10db9cdafb4f2e" /><Relationship Type="http://schemas.openxmlformats.org/officeDocument/2006/relationships/extended-properties" Target="/docProps/app.xml" Id="Rb52a14cf8d244e93" /><Relationship Type="http://schemas.openxmlformats.org/officeDocument/2006/relationships/officeDocument" Target="/ppt/presentation.xml" Id="R270ee6f2b5d242e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ffc8949905148be"/>
  </p:sldMasterIdLst>
  <p:notesMasterIdLst>
    <p:notesMasterId xmlns:r="http://schemas.openxmlformats.org/officeDocument/2006/relationships" r:id="Rad5f4cbcaa964ae3"/>
  </p:notesMasterIdLst>
  <p:sldIdLst>
    <p:sldId xmlns:r="http://schemas.openxmlformats.org/officeDocument/2006/relationships" id="256" r:id="Rbb1feb6a7b4043ad"/>
    <p:sldId xmlns:r="http://schemas.openxmlformats.org/officeDocument/2006/relationships" id="257" r:id="R1aafefa5c62e4921"/>
    <p:sldId xmlns:r="http://schemas.openxmlformats.org/officeDocument/2006/relationships" id="258" r:id="R4ea43b3c7d7f403c"/>
    <p:sldId xmlns:r="http://schemas.openxmlformats.org/officeDocument/2006/relationships" id="259" r:id="R9fb99583efe24a13"/>
    <p:sldId xmlns:r="http://schemas.openxmlformats.org/officeDocument/2006/relationships" id="260" r:id="R51236aa947cc43ac"/>
    <p:sldId xmlns:r="http://schemas.openxmlformats.org/officeDocument/2006/relationships" id="261" r:id="R47f51452b08b41d2"/>
    <p:sldId xmlns:r="http://schemas.openxmlformats.org/officeDocument/2006/relationships" id="262" r:id="R9f6039a63cfd4323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cce2cef793b4504" /><Relationship Type="http://schemas.openxmlformats.org/officeDocument/2006/relationships/slideMaster" Target="/ppt/slideMasters/slideMaster1.xml" Id="R8ffc8949905148be" /><Relationship Type="http://schemas.openxmlformats.org/officeDocument/2006/relationships/notesMaster" Target="/ppt/notesMasters/notesMaster1.xml" Id="Rad5f4cbcaa964ae3" /><Relationship Type="http://schemas.openxmlformats.org/officeDocument/2006/relationships/presProps" Target="/ppt/presProps.xml" Id="R2f0f3f24faae4a8c" /><Relationship Type="http://schemas.openxmlformats.org/officeDocument/2006/relationships/tableStyles" Target="/ppt/tableStyles.xml" Id="R0f82da4efdf74db8" /><Relationship Type="http://schemas.openxmlformats.org/officeDocument/2006/relationships/slide" Target="/ppt/slides/slide1.xml" Id="Rbb1feb6a7b4043ad" /><Relationship Type="http://schemas.openxmlformats.org/officeDocument/2006/relationships/slide" Target="/ppt/slides/slide2.xml" Id="R1aafefa5c62e4921" /><Relationship Type="http://schemas.openxmlformats.org/officeDocument/2006/relationships/slide" Target="/ppt/slides/slide3.xml" Id="R4ea43b3c7d7f403c" /><Relationship Type="http://schemas.openxmlformats.org/officeDocument/2006/relationships/slide" Target="/ppt/slides/slide4.xml" Id="R9fb99583efe24a13" /><Relationship Type="http://schemas.openxmlformats.org/officeDocument/2006/relationships/slide" Target="/ppt/slides/slide5.xml" Id="R51236aa947cc43ac" /><Relationship Type="http://schemas.openxmlformats.org/officeDocument/2006/relationships/slide" Target="/ppt/slides/slide6.xml" Id="R47f51452b08b41d2" /><Relationship Type="http://schemas.openxmlformats.org/officeDocument/2006/relationships/slide" Target="/ppt/slides/slide7.xml" Id="R9f6039a63cfd432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a3b0e937c82418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e722a55c17047c5" /><Relationship Type="http://schemas.openxmlformats.org/officeDocument/2006/relationships/notesMaster" Target="/ppt/notesMasters/notesMaster1.xml" Id="R778e6a237f87441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1318d95cdcf431a" /><Relationship Type="http://schemas.openxmlformats.org/officeDocument/2006/relationships/notesMaster" Target="/ppt/notesMasters/notesMaster1.xml" Id="Rd304a6272ff14fd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8ce3477446745fe" /><Relationship Type="http://schemas.openxmlformats.org/officeDocument/2006/relationships/notesMaster" Target="/ppt/notesMasters/notesMaster1.xml" Id="Re79f4b3f8faf49b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7479a7f59694d31" /><Relationship Type="http://schemas.openxmlformats.org/officeDocument/2006/relationships/notesMaster" Target="/ppt/notesMasters/notesMaster1.xml" Id="Ra07e4ea638dc478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8403f1dfeb44df9" /><Relationship Type="http://schemas.openxmlformats.org/officeDocument/2006/relationships/notesMaster" Target="/ppt/notesMasters/notesMaster1.xml" Id="Rf20372def8c943d5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92384d6789ee4a51" /><Relationship Type="http://schemas.openxmlformats.org/officeDocument/2006/relationships/notesMaster" Target="/ppt/notesMasters/notesMaster1.xml" Id="R596fed1128604875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107751b8ad734874" /><Relationship Type="http://schemas.openxmlformats.org/officeDocument/2006/relationships/notesMaster" Target="/ppt/notesMasters/notesMaster1.xml" Id="Re70057f0532541d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约 25 秒。开场只讲一句：EchoZero 是实时动作 Roguelike，但在危险瞬间可以冻结战局，用三拍顺序改写结果。随后说明今天用四分钟证明：它可玩、创新清楚、技术可信。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D:/daerxia/程序设计实训/project/项目配置.md</a:t>
            </a:r>
          </a:p>
          <a:p xmlns:a="http://schemas.openxmlformats.org/drawingml/2006/main">
            <a:r>
              <a:t>- D:/daerxia/程序设计实训/project/INNOVATION.md</a:t>
            </a:r>
          </a:p>
          <a:p xmlns:a="http://schemas.openxmlformats.org/drawingml/2006/main">
            <a:r>
              <a:t>- D:/daerxia/程序设计实训/project/artifacts/ui_polish_final/06_boss_final_1920x1080.png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约 35 秒。按左侧四步讲完整循环，画面只指三个信息：敌人意图、冷却与构筑。强调正式入口不是单场演示：有程序地图、奖励、三场遭遇和 Boss 终局。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D:/daerxia/程序设计实训/project/README.md</a:t>
            </a:r>
          </a:p>
          <a:p xmlns:a="http://schemas.openxmlformats.org/drawingml/2006/main">
            <a:r>
              <a:t>- D:/daerxia/程序设计实训/project/项目配置.md</a:t>
            </a:r>
          </a:p>
          <a:p xmlns:a="http://schemas.openxmlformats.org/drawingml/2006/main">
            <a:r>
              <a:t>- D:/daerxia/程序设计实训/project/artifacts/ui_polish_final/02_action_1920x1080.png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约 40 秒。这一页是答辩的核心。先讲敌人意图固定，再读左右两种顺序。重点落在：画面预测和真实执行共用同一个模拟器，所以玩家看到的因果就是之后发生的结果。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D:/daerxia/程序设计实训/project/INNOVATION.md</a:t>
            </a:r>
          </a:p>
          <a:p xmlns:a="http://schemas.openxmlformats.org/drawingml/2006/main">
            <a:r>
              <a:t>- D:/daerxia/程序设计实训/project/ARCHITECTURE.md</a:t>
            </a:r>
          </a:p>
          <a:p xmlns:a="http://schemas.openxmlformats.org/drawingml/2006/main">
            <a:r>
              <a:t>- D:/daerxia/程序设计实训/project/artifacts/tactical_action_pool/tactical_pool_1280x800.png</a:t>
            </a:r>
          </a:p>
          <a:p xmlns:a="http://schemas.openxmlformats.org/drawingml/2006/main">
            <a:r>
              <a:t>- D:/daerxia/程序设计实训/project/logs/visual_polish/11_causality_rewritten.png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约 35 秒。第一关教稳定顺序，第二关把同一时间轴改为逆序，并用相位锚把空间位置和时间规则绑定。最后用三条 Build 说明成长不是三档攻击力，而是分别奖励空拍、墙面和先后顺序。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D:/daerxia/程序设计实训/project/项目配置.md</a:t>
            </a:r>
          </a:p>
          <a:p xmlns:a="http://schemas.openxmlformats.org/drawingml/2006/main">
            <a:r>
              <a:t>- D:/daerxia/程序设计实训/project/INNOVATION.md</a:t>
            </a:r>
          </a:p>
          <a:p xmlns:a="http://schemas.openxmlformats.org/drawingml/2006/main">
            <a:r>
              <a:t>- D:/daerxia/程序设计实训/project/DEMO_PLAN.md</a:t>
            </a:r>
          </a:p>
          <a:p xmlns:a="http://schemas.openxmlformats.org/drawingml/2006/main">
            <a:r>
              <a:t>- D:/daerxia/程序设计实训/project/logs/visual_polish/12_level1_1920x1080.png</a:t>
            </a:r>
          </a:p>
          <a:p xmlns:a="http://schemas.openxmlformats.org/drawingml/2006/main">
            <a:r>
              <a:t>- D:/daerxia/程序设计实训/project/logs/visual_polish/09_level2_reverse.png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约 40 秒。只讲三条线：预演同源、地图可复现、AI 可解释。右图可指 F3 面板中的 Selector/Sequence/Condition。最后用底部一句交代领域与表现分离，避免动画改逻辑。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D:/daerxia/程序设计实训/project/ARCHITECTURE.md</a:t>
            </a:r>
          </a:p>
          <a:p xmlns:a="http://schemas.openxmlformats.org/drawingml/2006/main">
            <a:r>
              <a:t>- D:/daerxia/程序设计实训/project/功能测试与初验报告.md</a:t>
            </a:r>
          </a:p>
          <a:p xmlns:a="http://schemas.openxmlformats.org/drawingml/2006/main">
            <a:r>
              <a:t>- D:/daerxia/程序设计实训/project/artifacts/ui_polish_final/02b_debug_1280x800.png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约 45 秒。本页必须独立讲。先说协作闭环，再用前后截图证明不是一次生成即交付。三个例子依次对应：架构边界、运行画面验证、面对冲突证据时不盲改。最后明确人机分工。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D:/daerxia/程序设计实训/project/项目配置.md</a:t>
            </a:r>
          </a:p>
          <a:p xmlns:a="http://schemas.openxmlformats.org/drawingml/2006/main">
            <a:r>
              <a:t>- D:/daerxia/程序设计实训/project/AGENTS.md</a:t>
            </a:r>
          </a:p>
          <a:p xmlns:a="http://schemas.openxmlformats.org/drawingml/2006/main">
            <a:r>
              <a:t>- D:/daerxia/程序设计实训/project/每日工作日志.md</a:t>
            </a:r>
          </a:p>
          <a:p xmlns:a="http://schemas.openxmlformats.org/drawingml/2006/main">
            <a:r>
              <a:t>- D:/daerxia/程序设计实训/project/TASKS.md</a:t>
            </a:r>
          </a:p>
          <a:p xmlns:a="http://schemas.openxmlformats.org/drawingml/2006/main">
            <a:r>
              <a:t>- D:/daerxia/程序设计实训/project/docs/blind-tests/盲测汇总.md</a:t>
            </a:r>
          </a:p>
          <a:p xmlns:a="http://schemas.openxmlformats.org/drawingml/2006/main">
            <a:r>
              <a:t>- D:/daerxia/程序设计实训/project/artifacts/ui_polish_pass1/03_tactical_1280x800.png</a:t>
            </a:r>
          </a:p>
          <a:p xmlns:a="http://schemas.openxmlformats.org/drawingml/2006/main">
            <a:r>
              <a:t>- D:/daerxia/程序设计实训/project/artifacts/ui_polish_final/03_tactical_1280x800.png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约 30 秒。用三个数字收口：131 项测试、Preview/Reverse 理解 100%、2/3 通关且无人介入。补一句发布包和两条 Smoke 已通过，然后不要说谢谢，直接转入现场演示。总讲解约 4 分钟。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D:/daerxia/程序设计实训/project/功能测试与初验报告.md</a:t>
            </a:r>
          </a:p>
          <a:p xmlns:a="http://schemas.openxmlformats.org/drawingml/2006/main">
            <a:r>
              <a:t>- D:/daerxia/程序设计实训/project/docs/blind-tests/盲测汇总.md</a:t>
            </a:r>
          </a:p>
          <a:p xmlns:a="http://schemas.openxmlformats.org/drawingml/2006/main">
            <a:r>
              <a:t>- D:/daerxia/程序设计实训/project/答辩预评分报告.md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4d345337e834ad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3ab8d1d1406432a" /><Relationship Type="http://schemas.openxmlformats.org/officeDocument/2006/relationships/slideLayout" Target="/ppt/slideLayouts/slideLayout1.xml" Id="R0f5f35ae95494b1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f5f35ae95494b1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1d16acc1f014de6" /><Relationship Type="http://schemas.openxmlformats.org/officeDocument/2006/relationships/image" Target="/ppt/media/image.png" Id="R4b58c642935e4471" /><Relationship Type="http://schemas.openxmlformats.org/officeDocument/2006/relationships/notesSlide" Target="/ppt/notesSlides/notesSlide1.xml" Id="Re47995548236492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51a59213e4d45a3" /><Relationship Type="http://schemas.openxmlformats.org/officeDocument/2006/relationships/image" Target="/ppt/media/image2.png" Id="Rf0bf43c5bdc04e2c" /><Relationship Type="http://schemas.openxmlformats.org/officeDocument/2006/relationships/notesSlide" Target="/ppt/notesSlides/notesSlide2.xml" Id="R2682adcb9c7145c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199c1eca7214e8e" /><Relationship Type="http://schemas.openxmlformats.org/officeDocument/2006/relationships/image" Target="/ppt/media/image3.png" Id="Rf1358229d98648c0" /><Relationship Type="http://schemas.openxmlformats.org/officeDocument/2006/relationships/image" Target="/ppt/media/image4.png" Id="Rc8fd62753d48420b" /><Relationship Type="http://schemas.openxmlformats.org/officeDocument/2006/relationships/notesSlide" Target="/ppt/notesSlides/notesSlide3.xml" Id="R67800af313504d1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663715e6f074ce7" /><Relationship Type="http://schemas.openxmlformats.org/officeDocument/2006/relationships/image" Target="/ppt/media/image5.png" Id="R09a0f640df0f4387" /><Relationship Type="http://schemas.openxmlformats.org/officeDocument/2006/relationships/image" Target="/ppt/media/image6.png" Id="R31d3d497a03a4e55" /><Relationship Type="http://schemas.openxmlformats.org/officeDocument/2006/relationships/notesSlide" Target="/ppt/notesSlides/notesSlide4.xml" Id="Rfc6f12077f27480b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94c14a1eb0f4dc5" /><Relationship Type="http://schemas.openxmlformats.org/officeDocument/2006/relationships/image" Target="/ppt/media/image7.png" Id="R95b8633660334b20" /><Relationship Type="http://schemas.openxmlformats.org/officeDocument/2006/relationships/notesSlide" Target="/ppt/notesSlides/notesSlide5.xml" Id="Raca48dabc5894a1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724ceee0bb04803" /><Relationship Type="http://schemas.openxmlformats.org/officeDocument/2006/relationships/image" Target="/ppt/media/image8.png" Id="R539b7e37eef8468b" /><Relationship Type="http://schemas.openxmlformats.org/officeDocument/2006/relationships/image" Target="/ppt/media/image9.png" Id="R7c47ba00795d4a07" /><Relationship Type="http://schemas.openxmlformats.org/officeDocument/2006/relationships/notesSlide" Target="/ppt/notesSlides/notesSlide6.xml" Id="R53145ff6f413431e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bd2520a350c40ba" /><Relationship Type="http://schemas.openxmlformats.org/officeDocument/2006/relationships/notesSlide" Target="/ppt/notesSlides/notesSlide7.xml" Id="R9830f45812ab4451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80D1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b58c642935e4471"/>
          <a:srcRect xmlns:a="http://schemas.openxmlformats.org/drawingml/2006/main" l="23828" t="0" r="23828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810250" y="0"/>
            <a:ext cx="638175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cover-image-divider">
            <a:extLst xmlns:a="http://schemas.openxmlformats.org/drawingml/2006/main">
              <a:ext uri="{FF2B5EF4-FFF2-40B4-BE49-F238E27FC236}">
                <a16:creationId xmlns:a16="http://schemas.microsoft.com/office/drawing/2014/main" id="{46FF274A-6EB1-48FF-B305-92B86114D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0"/>
            <a:ext cx="571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B3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cover-left-field">
            <a:extLst xmlns:a="http://schemas.openxmlformats.org/drawingml/2006/main">
              <a:ext uri="{FF2B5EF4-FFF2-40B4-BE49-F238E27FC236}">
                <a16:creationId xmlns:a16="http://schemas.microsoft.com/office/drawing/2014/main" id="{86AC9C09-7A77-467C-AA5E-5CE064ABA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5810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0D1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cover-kicker">
            <a:extLst xmlns:a="http://schemas.openxmlformats.org/drawingml/2006/main">
              <a:ext uri="{FF2B5EF4-FFF2-40B4-BE49-F238E27FC236}">
                <a16:creationId xmlns:a16="http://schemas.microsoft.com/office/drawing/2014/main" id="{49A74399-82DB-4B64-AF91-FDA71DE93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"/>
            <a:ext cx="447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0B34A"/>
                </a:solidFill>
              </a:defRPr>
            </a:pPr>
            <a:r>
              <a:rPr sz="1350" b="1">
                <a:solidFill>
                  <a:srgbClr val="F0B34A"/>
                </a:solidFill>
              </a:rPr>
              <a:t>PYTHON · PYGAME-CE · 8 DAYS</a:t>
            </a:r>
          </a:p>
        </p:txBody>
      </p:sp>
      <p:sp>
        <p:nvSpPr>
          <p:cNvPr id="5" name="cover-title-en">
            <a:extLst xmlns:a="http://schemas.openxmlformats.org/drawingml/2006/main">
              <a:ext uri="{FF2B5EF4-FFF2-40B4-BE49-F238E27FC236}">
                <a16:creationId xmlns:a16="http://schemas.microsoft.com/office/drawing/2014/main" id="{8A179A7E-341E-424E-9012-3283BBCF0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14450"/>
            <a:ext cx="46672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5400" b="1">
                <a:solidFill>
                  <a:srgbClr val="F5F2EA"/>
                </a:solidFill>
              </a:defRPr>
            </a:pPr>
            <a:r>
              <a:rPr sz="5400" b="1">
                <a:solidFill>
                  <a:srgbClr val="F5F2EA"/>
                </a:solidFill>
              </a:rPr>
              <a:t>ECHO // ZERO</a:t>
            </a:r>
          </a:p>
        </p:txBody>
      </p:sp>
      <p:sp>
        <p:nvSpPr>
          <p:cNvPr id="6" name="cover-title-cn">
            <a:extLst xmlns:a="http://schemas.openxmlformats.org/drawingml/2006/main">
              <a:ext uri="{FF2B5EF4-FFF2-40B4-BE49-F238E27FC236}">
                <a16:creationId xmlns:a16="http://schemas.microsoft.com/office/drawing/2014/main" id="{A7AC3BED-7BC5-4BCF-98DF-EDE45B7BB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305050"/>
            <a:ext cx="4667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53D8E5"/>
                </a:solidFill>
              </a:defRPr>
            </a:pPr>
            <a:r>
              <a:rPr sz="3300" b="1">
                <a:solidFill>
                  <a:srgbClr val="53D8E5"/>
                </a:solidFill>
              </a:rPr>
              <a:t>冻结战局，改写因果</a:t>
            </a:r>
          </a:p>
        </p:txBody>
      </p:sp>
      <p:sp>
        <p:nvSpPr>
          <p:cNvPr id="7" name="cover-sub">
            <a:extLst xmlns:a="http://schemas.openxmlformats.org/drawingml/2006/main">
              <a:ext uri="{FF2B5EF4-FFF2-40B4-BE49-F238E27FC236}">
                <a16:creationId xmlns:a16="http://schemas.microsoft.com/office/drawing/2014/main" id="{3750302E-9E3A-40B4-924E-EAB34921D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14700"/>
            <a:ext cx="45339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F5F2EA"/>
                </a:solidFill>
              </a:defRPr>
            </a:pPr>
            <a:r>
              <a:rPr sz="2025" b="0">
                <a:solidFill>
                  <a:srgbClr val="F5F2EA"/>
                </a:solidFill>
              </a:rPr>
              <a:t>动作 Roguelike × 三拍战术因果编排</a:t>
            </a:r>
          </a:p>
          <a:p xmlns:a="http://schemas.openxmlformats.org/drawingml/2006/main">
            <a:pPr algn="l">
              <a:defRPr sz="2025" b="0">
                <a:solidFill>
                  <a:srgbClr val="F5F2EA"/>
                </a:solidFill>
              </a:defRPr>
            </a:pPr>
            <a:r>
              <a:rPr sz="2025" b="0">
                <a:solidFill>
                  <a:srgbClr val="F5F2EA"/>
                </a:solidFill>
              </a:rPr>
              <a:t>两个完整关卡 · 可解释 AI · 可复现验证</a:t>
            </a:r>
          </a:p>
        </p:txBody>
      </p:sp>
      <p:sp>
        <p:nvSpPr>
          <p:cNvPr id="8" name="cover-proof-rule">
            <a:extLst xmlns:a="http://schemas.openxmlformats.org/drawingml/2006/main">
              <a:ext uri="{FF2B5EF4-FFF2-40B4-BE49-F238E27FC236}">
                <a16:creationId xmlns:a16="http://schemas.microsoft.com/office/drawing/2014/main" id="{5445E8FB-94E1-4AE5-B3F5-211BF2901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953000"/>
            <a:ext cx="4381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44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cover-proof">
            <a:extLst xmlns:a="http://schemas.openxmlformats.org/drawingml/2006/main">
              <a:ext uri="{FF2B5EF4-FFF2-40B4-BE49-F238E27FC236}">
                <a16:creationId xmlns:a16="http://schemas.microsoft.com/office/drawing/2014/main" id="{C8E9497F-B4A2-4B83-BF41-DDFC39919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219700"/>
            <a:ext cx="45148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9BA8AA"/>
                </a:solidFill>
              </a:defRPr>
            </a:pPr>
            <a:r>
              <a:rPr sz="1500" b="0">
                <a:solidFill>
                  <a:srgbClr val="9BA8AA"/>
                </a:solidFill>
              </a:rPr>
              <a:t>终验答辩｜核心创新可见、技术可解释、现场可演示</a:t>
            </a:r>
          </a:p>
        </p:txBody>
      </p:sp>
      <p:sp>
        <p:nvSpPr>
          <p:cNvPr id="10" name="cover-date">
            <a:extLst xmlns:a="http://schemas.openxmlformats.org/drawingml/2006/main">
              <a:ext uri="{FF2B5EF4-FFF2-40B4-BE49-F238E27FC236}">
                <a16:creationId xmlns:a16="http://schemas.microsoft.com/office/drawing/2014/main" id="{1F0AEC82-2841-4504-906E-B1263A952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67450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9BA8AA"/>
                </a:solidFill>
              </a:defRPr>
            </a:pPr>
            <a:r>
              <a:rPr sz="1200" b="0">
                <a:solidFill>
                  <a:srgbClr val="9BA8AA"/>
                </a:solidFill>
              </a:rPr>
              <a:t>2026.09</a:t>
            </a:r>
          </a:p>
        </p:txBody>
      </p:sp>
    </p:spTree>
    <p:extLst>
      <p:ext uri="{BB962C8B-B14F-4D97-AF65-F5344CB8AC3E}">
        <p14:creationId xmlns:p14="http://schemas.microsoft.com/office/powerpoint/2010/main" val="6594856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80D1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section-2">
            <a:extLst xmlns:a="http://schemas.openxmlformats.org/drawingml/2006/main">
              <a:ext uri="{FF2B5EF4-FFF2-40B4-BE49-F238E27FC236}">
                <a16:creationId xmlns:a16="http://schemas.microsoft.com/office/drawing/2014/main" id="{938CACDE-2129-4554-AD5C-F4DAB6786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0B34A"/>
                </a:solidFill>
              </a:defRPr>
            </a:pPr>
            <a:r>
              <a:rPr sz="1200" b="1">
                <a:solidFill>
                  <a:srgbClr val="F0B34A"/>
                </a:solidFill>
              </a:rPr>
              <a:t>01 / 功能与界面</a:t>
            </a:r>
          </a:p>
        </p:txBody>
      </p:sp>
      <p:sp>
        <p:nvSpPr>
          <p:cNvPr id="2" name="title-2">
            <a:extLst xmlns:a="http://schemas.openxmlformats.org/drawingml/2006/main">
              <a:ext uri="{FF2B5EF4-FFF2-40B4-BE49-F238E27FC236}">
                <a16:creationId xmlns:a16="http://schemas.microsoft.com/office/drawing/2014/main" id="{F0F7834A-766B-417E-9F13-CFD542730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09600"/>
            <a:ext cx="111252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F5F2EA"/>
                </a:solidFill>
              </a:defRPr>
            </a:pPr>
            <a:r>
              <a:rPr sz="3600" b="1">
                <a:solidFill>
                  <a:srgbClr val="F5F2EA"/>
                </a:solidFill>
              </a:rPr>
              <a:t>不是概念原型，而是一局完整的动作 Roguelike</a:t>
            </a:r>
          </a:p>
        </p:txBody>
      </p:sp>
      <p:sp>
        <p:nvSpPr>
          <p:cNvPr id="3" name="rule-2">
            <a:extLst xmlns:a="http://schemas.openxmlformats.org/drawingml/2006/main">
              <a:ext uri="{FF2B5EF4-FFF2-40B4-BE49-F238E27FC236}">
                <a16:creationId xmlns:a16="http://schemas.microsoft.com/office/drawing/2014/main" id="{573753FD-D8EE-4CF9-9677-3B10CD15A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23975"/>
            <a:ext cx="11125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44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age-2">
            <a:extLst xmlns:a="http://schemas.openxmlformats.org/drawingml/2006/main">
              <a:ext uri="{FF2B5EF4-FFF2-40B4-BE49-F238E27FC236}">
                <a16:creationId xmlns:a16="http://schemas.microsoft.com/office/drawing/2014/main" id="{1FCA30E1-A67C-4542-BE3F-4D43B66DD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96050"/>
            <a:ext cx="57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9BA8AA"/>
                </a:solidFill>
              </a:defRPr>
            </a:pPr>
            <a:r>
              <a:rPr sz="1200" b="0">
                <a:solidFill>
                  <a:srgbClr val="9BA8AA"/>
                </a:solidFill>
              </a:rPr>
              <a:t>02</a:t>
            </a:r>
          </a:p>
        </p:txBody>
      </p:sp>
      <p:pic>
        <p:nvPicPr>
          <p:cNvPr id="2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0bf43c5bdc04e2c"/>
          <a:srcRect xmlns:a="http://schemas.openxmlformats.org/drawingml/2006/main" l="15" t="0" r="15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819650" y="1657350"/>
            <a:ext cx="6838950" cy="3848100"/>
          </a:xfrm>
          <a:prstGeom xmlns:a="http://schemas.openxmlformats.org/drawingml/2006/main" prst="roundRect">
            <a:avLst>
              <a:gd name="adj" fmla="val 1980"/>
            </a:avLst>
          </a:prstGeom>
        </p:spPr>
      </p:pic>
      <p:sp>
        <p:nvSpPr>
          <p:cNvPr id="6" name="loop-num-01">
            <a:extLst xmlns:a="http://schemas.openxmlformats.org/drawingml/2006/main">
              <a:ext uri="{FF2B5EF4-FFF2-40B4-BE49-F238E27FC236}">
                <a16:creationId xmlns:a16="http://schemas.microsoft.com/office/drawing/2014/main" id="{D7FCADA5-F3F4-4F0E-9F9E-F62C2AF41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57350"/>
            <a:ext cx="495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0B34A"/>
                </a:solidFill>
              </a:defRPr>
            </a:pPr>
            <a:r>
              <a:rPr sz="1650" b="1">
                <a:solidFill>
                  <a:srgbClr val="F0B34A"/>
                </a:solidFill>
              </a:rPr>
              <a:t>01</a:t>
            </a:r>
          </a:p>
        </p:txBody>
      </p:sp>
      <p:sp>
        <p:nvSpPr>
          <p:cNvPr id="7" name="loop-title-01">
            <a:extLst xmlns:a="http://schemas.openxmlformats.org/drawingml/2006/main">
              <a:ext uri="{FF2B5EF4-FFF2-40B4-BE49-F238E27FC236}">
                <a16:creationId xmlns:a16="http://schemas.microsoft.com/office/drawing/2014/main" id="{68EBB35C-39DD-4336-8B98-A971FCC30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1638300"/>
            <a:ext cx="295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F5F2EA"/>
                </a:solidFill>
              </a:defRPr>
            </a:pPr>
            <a:r>
              <a:rPr sz="2025" b="1">
                <a:solidFill>
                  <a:srgbClr val="F5F2EA"/>
                </a:solidFill>
              </a:rPr>
              <a:t>实时交锋</a:t>
            </a:r>
          </a:p>
        </p:txBody>
      </p:sp>
      <p:sp>
        <p:nvSpPr>
          <p:cNvPr id="8" name="loop-body-01">
            <a:extLst xmlns:a="http://schemas.openxmlformats.org/drawingml/2006/main">
              <a:ext uri="{FF2B5EF4-FFF2-40B4-BE49-F238E27FC236}">
                <a16:creationId xmlns:a16="http://schemas.microsoft.com/office/drawing/2014/main" id="{103AF139-D8B1-45A6-873B-68ECEE701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019300"/>
            <a:ext cx="3143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9BA8AA"/>
                </a:solidFill>
              </a:defRPr>
            </a:pPr>
            <a:r>
              <a:rPr sz="1500" b="0">
                <a:solidFill>
                  <a:srgbClr val="9BA8AA"/>
                </a:solidFill>
              </a:rPr>
              <a:t>WASD、近/远程、闪避、牵引</a:t>
            </a:r>
          </a:p>
        </p:txBody>
      </p:sp>
      <p:sp>
        <p:nvSpPr>
          <p:cNvPr id="9" name="loop-rule-01">
            <a:extLst xmlns:a="http://schemas.openxmlformats.org/drawingml/2006/main">
              <a:ext uri="{FF2B5EF4-FFF2-40B4-BE49-F238E27FC236}">
                <a16:creationId xmlns:a16="http://schemas.microsoft.com/office/drawing/2014/main" id="{CA229812-4487-4A17-8389-61B1940BA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552700"/>
            <a:ext cx="3790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44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loop-num-02">
            <a:extLst xmlns:a="http://schemas.openxmlformats.org/drawingml/2006/main">
              <a:ext uri="{FF2B5EF4-FFF2-40B4-BE49-F238E27FC236}">
                <a16:creationId xmlns:a16="http://schemas.microsoft.com/office/drawing/2014/main" id="{161463EA-9739-4391-B9C5-92BCDBC16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667000"/>
            <a:ext cx="495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53D8E5"/>
                </a:solidFill>
              </a:defRPr>
            </a:pPr>
            <a:r>
              <a:rPr sz="1650" b="1">
                <a:solidFill>
                  <a:srgbClr val="53D8E5"/>
                </a:solidFill>
              </a:rPr>
              <a:t>02</a:t>
            </a:r>
          </a:p>
        </p:txBody>
      </p:sp>
      <p:sp>
        <p:nvSpPr>
          <p:cNvPr id="11" name="loop-title-02">
            <a:extLst xmlns:a="http://schemas.openxmlformats.org/drawingml/2006/main">
              <a:ext uri="{FF2B5EF4-FFF2-40B4-BE49-F238E27FC236}">
                <a16:creationId xmlns:a16="http://schemas.microsoft.com/office/drawing/2014/main" id="{5825A235-F866-4326-8B09-D743D2D41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647950"/>
            <a:ext cx="295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F5F2EA"/>
                </a:solidFill>
              </a:defRPr>
            </a:pPr>
            <a:r>
              <a:rPr sz="2025" b="1">
                <a:solidFill>
                  <a:srgbClr val="F5F2EA"/>
                </a:solidFill>
              </a:rPr>
              <a:t>冻结危险瞬间</a:t>
            </a:r>
          </a:p>
        </p:txBody>
      </p:sp>
      <p:sp>
        <p:nvSpPr>
          <p:cNvPr id="12" name="loop-body-02">
            <a:extLst xmlns:a="http://schemas.openxmlformats.org/drawingml/2006/main">
              <a:ext uri="{FF2B5EF4-FFF2-40B4-BE49-F238E27FC236}">
                <a16:creationId xmlns:a16="http://schemas.microsoft.com/office/drawing/2014/main" id="{F8DFABC7-0984-4EFB-9B75-535AFCF24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028950"/>
            <a:ext cx="3143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9BA8AA"/>
                </a:solidFill>
              </a:defRPr>
            </a:pPr>
            <a:r>
              <a:rPr sz="1500" b="0">
                <a:solidFill>
                  <a:srgbClr val="9BA8AA"/>
                </a:solidFill>
              </a:rPr>
              <a:t>读取 Enemy Intent，进入三拍 Tactical</a:t>
            </a:r>
          </a:p>
        </p:txBody>
      </p:sp>
      <p:sp>
        <p:nvSpPr>
          <p:cNvPr id="13" name="loop-rule-02">
            <a:extLst xmlns:a="http://schemas.openxmlformats.org/drawingml/2006/main">
              <a:ext uri="{FF2B5EF4-FFF2-40B4-BE49-F238E27FC236}">
                <a16:creationId xmlns:a16="http://schemas.microsoft.com/office/drawing/2014/main" id="{706AFA26-57D8-46D4-830E-2A8CA6F9A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562350"/>
            <a:ext cx="3790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44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loop-num-03">
            <a:extLst xmlns:a="http://schemas.openxmlformats.org/drawingml/2006/main">
              <a:ext uri="{FF2B5EF4-FFF2-40B4-BE49-F238E27FC236}">
                <a16:creationId xmlns:a16="http://schemas.microsoft.com/office/drawing/2014/main" id="{6B3E1909-CFBC-454F-9843-54B7C99D0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76650"/>
            <a:ext cx="495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A67CFF"/>
                </a:solidFill>
              </a:defRPr>
            </a:pPr>
            <a:r>
              <a:rPr sz="1650" b="1">
                <a:solidFill>
                  <a:srgbClr val="A67CFF"/>
                </a:solidFill>
              </a:rPr>
              <a:t>03</a:t>
            </a:r>
          </a:p>
        </p:txBody>
      </p:sp>
      <p:sp>
        <p:nvSpPr>
          <p:cNvPr id="15" name="loop-title-03">
            <a:extLst xmlns:a="http://schemas.openxmlformats.org/drawingml/2006/main">
              <a:ext uri="{FF2B5EF4-FFF2-40B4-BE49-F238E27FC236}">
                <a16:creationId xmlns:a16="http://schemas.microsoft.com/office/drawing/2014/main" id="{20A3B4A5-707E-4586-8F16-52682E37E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657600"/>
            <a:ext cx="295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F5F2EA"/>
                </a:solidFill>
              </a:defRPr>
            </a:pPr>
            <a:r>
              <a:rPr sz="2025" b="1">
                <a:solidFill>
                  <a:srgbClr val="F5F2EA"/>
                </a:solidFill>
              </a:rPr>
              <a:t>三选一成长</a:t>
            </a:r>
          </a:p>
        </p:txBody>
      </p:sp>
      <p:sp>
        <p:nvSpPr>
          <p:cNvPr id="16" name="loop-body-03">
            <a:extLst xmlns:a="http://schemas.openxmlformats.org/drawingml/2006/main">
              <a:ext uri="{FF2B5EF4-FFF2-40B4-BE49-F238E27FC236}">
                <a16:creationId xmlns:a16="http://schemas.microsoft.com/office/drawing/2014/main" id="{A566ADC2-7CDD-4C54-9566-7C2BE257C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038600"/>
            <a:ext cx="3143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9BA8AA"/>
                </a:solidFill>
              </a:defRPr>
            </a:pPr>
            <a:r>
              <a:rPr sz="1500" b="0">
                <a:solidFill>
                  <a:srgbClr val="9BA8AA"/>
                </a:solidFill>
              </a:rPr>
              <a:t>协议 / 技能 / 属性改变后续战斗</a:t>
            </a:r>
          </a:p>
        </p:txBody>
      </p:sp>
      <p:sp>
        <p:nvSpPr>
          <p:cNvPr id="17" name="loop-rule-03">
            <a:extLst xmlns:a="http://schemas.openxmlformats.org/drawingml/2006/main">
              <a:ext uri="{FF2B5EF4-FFF2-40B4-BE49-F238E27FC236}">
                <a16:creationId xmlns:a16="http://schemas.microsoft.com/office/drawing/2014/main" id="{C78BF7E1-3EE9-4454-8E51-F25C025F0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572000"/>
            <a:ext cx="3790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44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loop-num-04">
            <a:extLst xmlns:a="http://schemas.openxmlformats.org/drawingml/2006/main">
              <a:ext uri="{FF2B5EF4-FFF2-40B4-BE49-F238E27FC236}">
                <a16:creationId xmlns:a16="http://schemas.microsoft.com/office/drawing/2014/main" id="{258C36B0-D3A7-49E9-866A-DA30F1DB2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686300"/>
            <a:ext cx="495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74D99F"/>
                </a:solidFill>
              </a:defRPr>
            </a:pPr>
            <a:r>
              <a:rPr sz="1650" b="1">
                <a:solidFill>
                  <a:srgbClr val="74D99F"/>
                </a:solidFill>
              </a:rPr>
              <a:t>04</a:t>
            </a:r>
          </a:p>
        </p:txBody>
      </p:sp>
      <p:sp>
        <p:nvSpPr>
          <p:cNvPr id="19" name="loop-title-04">
            <a:extLst xmlns:a="http://schemas.openxmlformats.org/drawingml/2006/main">
              <a:ext uri="{FF2B5EF4-FFF2-40B4-BE49-F238E27FC236}">
                <a16:creationId xmlns:a16="http://schemas.microsoft.com/office/drawing/2014/main" id="{4B81B73A-82F3-4978-A63C-DA395C29A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667250"/>
            <a:ext cx="295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F5F2EA"/>
                </a:solidFill>
              </a:defRPr>
            </a:pPr>
            <a:r>
              <a:rPr sz="2025" b="1">
                <a:solidFill>
                  <a:srgbClr val="F5F2EA"/>
                </a:solidFill>
              </a:rPr>
              <a:t>完整 Run</a:t>
            </a:r>
          </a:p>
        </p:txBody>
      </p:sp>
      <p:sp>
        <p:nvSpPr>
          <p:cNvPr id="20" name="loop-body-04">
            <a:extLst xmlns:a="http://schemas.openxmlformats.org/drawingml/2006/main">
              <a:ext uri="{FF2B5EF4-FFF2-40B4-BE49-F238E27FC236}">
                <a16:creationId xmlns:a16="http://schemas.microsoft.com/office/drawing/2014/main" id="{3736F2A7-77B1-4FEB-842C-52386D668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5048250"/>
            <a:ext cx="3143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9BA8AA"/>
                </a:solidFill>
              </a:defRPr>
            </a:pPr>
            <a:r>
              <a:rPr sz="1500" b="0">
                <a:solidFill>
                  <a:srgbClr val="9BA8AA"/>
                </a:solidFill>
              </a:rPr>
              <a:t>程序地图 → 3 个遭遇 → 12 HP Boss</a:t>
            </a:r>
          </a:p>
        </p:txBody>
      </p:sp>
      <p:sp>
        <p:nvSpPr>
          <p:cNvPr id="21" name="loop-rule-04">
            <a:extLst xmlns:a="http://schemas.openxmlformats.org/drawingml/2006/main">
              <a:ext uri="{FF2B5EF4-FFF2-40B4-BE49-F238E27FC236}">
                <a16:creationId xmlns:a16="http://schemas.microsoft.com/office/drawing/2014/main" id="{71EE1CC0-C994-4888-ABC1-DA3134FCA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581650"/>
            <a:ext cx="3790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44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loop-ui-caption">
            <a:extLst xmlns:a="http://schemas.openxmlformats.org/drawingml/2006/main">
              <a:ext uri="{FF2B5EF4-FFF2-40B4-BE49-F238E27FC236}">
                <a16:creationId xmlns:a16="http://schemas.microsoft.com/office/drawing/2014/main" id="{073F366B-74F2-4931-B4BA-1ED102E9C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5657850"/>
            <a:ext cx="6838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9BA8AA"/>
                </a:solidFill>
              </a:defRPr>
            </a:pPr>
            <a:r>
              <a:rPr sz="1500" b="0">
                <a:solidFill>
                  <a:srgbClr val="9BA8AA"/>
                </a:solidFill>
              </a:rPr>
              <a:t>实机：中文 HUD、敌我编号、Intent 倒计时、构筑常驻显示</a:t>
            </a:r>
          </a:p>
        </p:txBody>
      </p:sp>
      <p:sp>
        <p:nvSpPr>
          <p:cNvPr id="23" name="loop-summary">
            <a:extLst xmlns:a="http://schemas.openxmlformats.org/drawingml/2006/main">
              <a:ext uri="{FF2B5EF4-FFF2-40B4-BE49-F238E27FC236}">
                <a16:creationId xmlns:a16="http://schemas.microsoft.com/office/drawing/2014/main" id="{A04FEEA2-D042-4836-8946-CC4F858C3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905500"/>
            <a:ext cx="37909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F0B34A"/>
                </a:solidFill>
              </a:defRPr>
            </a:pPr>
            <a:r>
              <a:rPr sz="1950" b="1">
                <a:solidFill>
                  <a:srgbClr val="F0B34A"/>
                </a:solidFill>
              </a:rPr>
              <a:t>60% 动作 · 25% 策略 · 15% Build</a:t>
            </a:r>
          </a:p>
        </p:txBody>
      </p:sp>
    </p:spTree>
    <p:extLst>
      <p:ext uri="{BB962C8B-B14F-4D97-AF65-F5344CB8AC3E}">
        <p14:creationId xmlns:p14="http://schemas.microsoft.com/office/powerpoint/2010/main" val="202205657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80D1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section-3">
            <a:extLst xmlns:a="http://schemas.openxmlformats.org/drawingml/2006/main">
              <a:ext uri="{FF2B5EF4-FFF2-40B4-BE49-F238E27FC236}">
                <a16:creationId xmlns:a16="http://schemas.microsoft.com/office/drawing/2014/main" id="{FB13F6BD-AA2E-4940-B57F-D3ADC37DC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0B34A"/>
                </a:solidFill>
              </a:defRPr>
            </a:pPr>
            <a:r>
              <a:rPr sz="1200" b="1">
                <a:solidFill>
                  <a:srgbClr val="F0B34A"/>
                </a:solidFill>
              </a:rPr>
              <a:t>02 / 主创新：三拍命令链 + 因果预演</a:t>
            </a:r>
          </a:p>
        </p:txBody>
      </p:sp>
      <p:sp>
        <p:nvSpPr>
          <p:cNvPr id="2" name="title-3">
            <a:extLst xmlns:a="http://schemas.openxmlformats.org/drawingml/2006/main">
              <a:ext uri="{FF2B5EF4-FFF2-40B4-BE49-F238E27FC236}">
                <a16:creationId xmlns:a16="http://schemas.microsoft.com/office/drawing/2014/main" id="{723EAEFB-3087-470B-86CF-2576F9ABF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09600"/>
            <a:ext cx="111252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F5F2EA"/>
                </a:solidFill>
              </a:defRPr>
            </a:pPr>
            <a:r>
              <a:rPr sz="3600" b="1">
                <a:solidFill>
                  <a:srgbClr val="F5F2EA"/>
                </a:solidFill>
              </a:rPr>
              <a:t>同样三招，只换顺序，失败就变成击杀</a:t>
            </a:r>
          </a:p>
        </p:txBody>
      </p:sp>
      <p:sp>
        <p:nvSpPr>
          <p:cNvPr id="3" name="rule-3">
            <a:extLst xmlns:a="http://schemas.openxmlformats.org/drawingml/2006/main">
              <a:ext uri="{FF2B5EF4-FFF2-40B4-BE49-F238E27FC236}">
                <a16:creationId xmlns:a16="http://schemas.microsoft.com/office/drawing/2014/main" id="{E2BA931C-0738-422C-A53E-E11E713E7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23975"/>
            <a:ext cx="11125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44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age-3">
            <a:extLst xmlns:a="http://schemas.openxmlformats.org/drawingml/2006/main">
              <a:ext uri="{FF2B5EF4-FFF2-40B4-BE49-F238E27FC236}">
                <a16:creationId xmlns:a16="http://schemas.microsoft.com/office/drawing/2014/main" id="{F9ABEE5C-F21D-4920-8326-F5ABCFDDD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96050"/>
            <a:ext cx="57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9BA8AA"/>
                </a:solidFill>
              </a:defRPr>
            </a:pPr>
            <a:r>
              <a:rPr sz="1200" b="0">
                <a:solidFill>
                  <a:srgbClr val="9BA8AA"/>
                </a:solidFill>
              </a:rPr>
              <a:t>03</a:t>
            </a:r>
          </a:p>
        </p:txBody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1358229d98648c0"/>
          <a:srcRect xmlns:a="http://schemas.openxmlformats.org/drawingml/2006/main" l="0" t="38" r="0" b="3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33400" y="1676400"/>
            <a:ext cx="4972050" cy="3105150"/>
          </a:xfrm>
          <a:prstGeom xmlns:a="http://schemas.openxmlformats.org/drawingml/2006/main" prst="roundRect">
            <a:avLst>
              <a:gd name="adj" fmla="val 2454"/>
            </a:avLst>
          </a:prstGeom>
        </p:spPr>
      </p:pic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8fd62753d48420b"/>
          <a:srcRect xmlns:a="http://schemas.openxmlformats.org/drawingml/2006/main" l="4965" t="0" r="4965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686550" y="1676400"/>
            <a:ext cx="4972050" cy="3105150"/>
          </a:xfrm>
          <a:prstGeom xmlns:a="http://schemas.openxmlformats.org/drawingml/2006/main" prst="roundRect">
            <a:avLst>
              <a:gd name="adj" fmla="val 2454"/>
            </a:avLst>
          </a:prstGeom>
        </p:spPr>
      </p:pic>
      <p:sp>
        <p:nvSpPr>
          <p:cNvPr id="7" name="before-label">
            <a:extLst xmlns:a="http://schemas.openxmlformats.org/drawingml/2006/main">
              <a:ext uri="{FF2B5EF4-FFF2-40B4-BE49-F238E27FC236}">
                <a16:creationId xmlns:a16="http://schemas.microsoft.com/office/drawing/2014/main" id="{116C1BD4-9E11-4F95-8A61-65163DB24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933950"/>
            <a:ext cx="4667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06464"/>
                </a:solidFill>
              </a:defRPr>
            </a:pPr>
            <a:r>
              <a:rPr sz="1800" b="1">
                <a:solidFill>
                  <a:srgbClr val="F06464"/>
                </a:solidFill>
              </a:rPr>
              <a:t>原顺序：推击 → 移动 → 牵引</a:t>
            </a:r>
          </a:p>
        </p:txBody>
      </p:sp>
      <p:sp>
        <p:nvSpPr>
          <p:cNvPr id="8" name="before-desc">
            <a:extLst xmlns:a="http://schemas.openxmlformats.org/drawingml/2006/main">
              <a:ext uri="{FF2B5EF4-FFF2-40B4-BE49-F238E27FC236}">
                <a16:creationId xmlns:a16="http://schemas.microsoft.com/office/drawing/2014/main" id="{9874F9E7-39BF-4C4D-9A85-8F881F6A0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314950"/>
            <a:ext cx="4667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9BA8AA"/>
                </a:solidFill>
              </a:defRPr>
            </a:pPr>
            <a:r>
              <a:rPr sz="1500" b="0">
                <a:solidFill>
                  <a:srgbClr val="9BA8AA"/>
                </a:solidFill>
              </a:rPr>
              <a:t>敌人存活，锁定意图继续结算</a:t>
            </a:r>
          </a:p>
        </p:txBody>
      </p:sp>
      <p:sp>
        <p:nvSpPr>
          <p:cNvPr id="9" name="arrow">
            <a:extLst xmlns:a="http://schemas.openxmlformats.org/drawingml/2006/main">
              <a:ext uri="{FF2B5EF4-FFF2-40B4-BE49-F238E27FC236}">
                <a16:creationId xmlns:a16="http://schemas.microsoft.com/office/drawing/2014/main" id="{6557068F-99DF-43F8-837B-480BAD905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2838450"/>
            <a:ext cx="8001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4800" b="1">
                <a:solidFill>
                  <a:srgbClr val="F0B34A"/>
                </a:solidFill>
              </a:defRPr>
            </a:pPr>
            <a:r>
              <a:rPr sz="4800" b="1">
                <a:solidFill>
                  <a:srgbClr val="F0B34A"/>
                </a:solidFill>
              </a:rPr>
              <a:t>→</a:t>
            </a:r>
          </a:p>
        </p:txBody>
      </p:sp>
      <p:sp>
        <p:nvSpPr>
          <p:cNvPr id="10" name="after-label">
            <a:extLst xmlns:a="http://schemas.openxmlformats.org/drawingml/2006/main">
              <a:ext uri="{FF2B5EF4-FFF2-40B4-BE49-F238E27FC236}">
                <a16:creationId xmlns:a16="http://schemas.microsoft.com/office/drawing/2014/main" id="{E0A9672D-36D7-4983-B100-7C3E720A0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933950"/>
            <a:ext cx="4667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53D8E5"/>
                </a:solidFill>
              </a:defRPr>
            </a:pPr>
            <a:r>
              <a:rPr sz="1800" b="1">
                <a:solidFill>
                  <a:srgbClr val="53D8E5"/>
                </a:solidFill>
              </a:rPr>
              <a:t>新顺序：牵引 → 推击 → 移动</a:t>
            </a:r>
          </a:p>
        </p:txBody>
      </p:sp>
      <p:sp>
        <p:nvSpPr>
          <p:cNvPr id="11" name="after-desc">
            <a:extLst xmlns:a="http://schemas.openxmlformats.org/drawingml/2006/main">
              <a:ext uri="{FF2B5EF4-FFF2-40B4-BE49-F238E27FC236}">
                <a16:creationId xmlns:a16="http://schemas.microsoft.com/office/drawing/2014/main" id="{951852C6-8393-49AE-BE1B-BCEB98B8E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5314950"/>
            <a:ext cx="4667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9BA8AA"/>
                </a:solidFill>
              </a:defRPr>
            </a:pPr>
            <a:r>
              <a:rPr sz="1500" b="0">
                <a:solidFill>
                  <a:srgbClr val="9BA8AA"/>
                </a:solidFill>
              </a:rPr>
              <a:t>敌人在行动前死亡，意图自动取消</a:t>
            </a:r>
          </a:p>
        </p:txBody>
      </p:sp>
      <p:sp>
        <p:nvSpPr>
          <p:cNvPr id="12" name="innovation-band">
            <a:extLst xmlns:a="http://schemas.openxmlformats.org/drawingml/2006/main">
              <a:ext uri="{FF2B5EF4-FFF2-40B4-BE49-F238E27FC236}">
                <a16:creationId xmlns:a16="http://schemas.microsoft.com/office/drawing/2014/main" id="{EAADEDAD-6CB2-47C7-9FBA-C1CFACD29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924550"/>
            <a:ext cx="1112520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121A1F"/>
          </a:solidFill>
          <a:ln xmlns:a="http://schemas.openxmlformats.org/drawingml/2006/main" w="9525">
            <a:solidFill>
              <a:srgbClr val="34444B"/>
            </a:solidFill>
            <a:prstDash val="solid"/>
          </a:ln>
        </p:spPr>
      </p:sp>
      <p:sp>
        <p:nvSpPr>
          <p:cNvPr id="13" name="innovation-band-text">
            <a:extLst xmlns:a="http://schemas.openxmlformats.org/drawingml/2006/main">
              <a:ext uri="{FF2B5EF4-FFF2-40B4-BE49-F238E27FC236}">
                <a16:creationId xmlns:a16="http://schemas.microsoft.com/office/drawing/2014/main" id="{33BB78C2-5E86-42A5-979D-88E164F5A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038850"/>
            <a:ext cx="10629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0B34A"/>
                </a:solidFill>
              </a:defRPr>
            </a:pPr>
            <a:r>
              <a:rPr sz="1650" b="1">
                <a:solidFill>
                  <a:srgbClr val="F0B34A"/>
                </a:solidFill>
              </a:rPr>
              <a:t>Preview 不是录制动画：状态副本与真实 Execute 调用同一个 simulate_turn</a:t>
            </a:r>
          </a:p>
        </p:txBody>
      </p:sp>
    </p:spTree>
    <p:extLst>
      <p:ext uri="{BB962C8B-B14F-4D97-AF65-F5344CB8AC3E}">
        <p14:creationId xmlns:p14="http://schemas.microsoft.com/office/powerpoint/2010/main" val="121923312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80D1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section-4">
            <a:extLst xmlns:a="http://schemas.openxmlformats.org/drawingml/2006/main">
              <a:ext uri="{FF2B5EF4-FFF2-40B4-BE49-F238E27FC236}">
                <a16:creationId xmlns:a16="http://schemas.microsoft.com/office/drawing/2014/main" id="{243A3452-5E20-4FFB-977B-1822B9D08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0B34A"/>
                </a:solidFill>
              </a:defRPr>
            </a:pPr>
            <a:r>
              <a:rPr sz="1200" b="1">
                <a:solidFill>
                  <a:srgbClr val="F0B34A"/>
                </a:solidFill>
              </a:rPr>
              <a:t>03 / 两关差异与构筑深度</a:t>
            </a:r>
          </a:p>
        </p:txBody>
      </p:sp>
      <p:sp>
        <p:nvSpPr>
          <p:cNvPr id="2" name="title-4">
            <a:extLst xmlns:a="http://schemas.openxmlformats.org/drawingml/2006/main">
              <a:ext uri="{FF2B5EF4-FFF2-40B4-BE49-F238E27FC236}">
                <a16:creationId xmlns:a16="http://schemas.microsoft.com/office/drawing/2014/main" id="{3DBB0D13-DABC-4F1C-8219-55D392404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09600"/>
            <a:ext cx="111252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F5F2EA"/>
                </a:solidFill>
              </a:defRPr>
            </a:pPr>
            <a:r>
              <a:rPr sz="3600" b="1">
                <a:solidFill>
                  <a:srgbClr val="F5F2EA"/>
                </a:solidFill>
              </a:rPr>
              <a:t>第二关不加一套系统，而是反转玩家已学会的规则</a:t>
            </a:r>
          </a:p>
        </p:txBody>
      </p:sp>
      <p:sp>
        <p:nvSpPr>
          <p:cNvPr id="3" name="rule-4">
            <a:extLst xmlns:a="http://schemas.openxmlformats.org/drawingml/2006/main">
              <a:ext uri="{FF2B5EF4-FFF2-40B4-BE49-F238E27FC236}">
                <a16:creationId xmlns:a16="http://schemas.microsoft.com/office/drawing/2014/main" id="{B102EA82-1466-4F38-B4AA-550496C6A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23975"/>
            <a:ext cx="11125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44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age-4">
            <a:extLst xmlns:a="http://schemas.openxmlformats.org/drawingml/2006/main">
              <a:ext uri="{FF2B5EF4-FFF2-40B4-BE49-F238E27FC236}">
                <a16:creationId xmlns:a16="http://schemas.microsoft.com/office/drawing/2014/main" id="{1ACF3A96-C667-4AB5-858E-C9A342F20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96050"/>
            <a:ext cx="57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9BA8AA"/>
                </a:solidFill>
              </a:defRPr>
            </a:pPr>
            <a:r>
              <a:rPr sz="1200" b="0">
                <a:solidFill>
                  <a:srgbClr val="9BA8AA"/>
                </a:solidFill>
              </a:rPr>
              <a:t>04</a:t>
            </a:r>
          </a:p>
        </p:txBody>
      </p:sp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9a0f640df0f4387"/>
          <a:srcRect xmlns:a="http://schemas.openxmlformats.org/drawingml/2006/main" l="0" t="527" r="0" b="5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33400" y="1638300"/>
            <a:ext cx="5219700" cy="2905125"/>
          </a:xfrm>
          <a:prstGeom xmlns:a="http://schemas.openxmlformats.org/drawingml/2006/main" prst="roundRect">
            <a:avLst>
              <a:gd name="adj" fmla="val 2623"/>
            </a:avLst>
          </a:prstGeom>
        </p:spPr>
      </p:pic>
      <p:pic>
        <p:nvPicPr>
          <p:cNvPr id="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1d3d497a03a4e55"/>
          <a:srcRect xmlns:a="http://schemas.openxmlformats.org/drawingml/2006/main" l="0" t="527" r="0" b="5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438900" y="1638300"/>
            <a:ext cx="5219700" cy="2905125"/>
          </a:xfrm>
          <a:prstGeom xmlns:a="http://schemas.openxmlformats.org/drawingml/2006/main" prst="roundRect">
            <a:avLst>
              <a:gd name="adj" fmla="val 2623"/>
            </a:avLst>
          </a:prstGeom>
        </p:spPr>
      </p:pic>
      <p:sp>
        <p:nvSpPr>
          <p:cNvPr id="7" name="level1-title">
            <a:extLst xmlns:a="http://schemas.openxmlformats.org/drawingml/2006/main">
              <a:ext uri="{FF2B5EF4-FFF2-40B4-BE49-F238E27FC236}">
                <a16:creationId xmlns:a16="http://schemas.microsoft.com/office/drawing/2014/main" id="{0D4284A9-92FF-47D4-B4E3-7C9B0119A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86300"/>
            <a:ext cx="495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53D8E5"/>
                </a:solidFill>
              </a:defRPr>
            </a:pPr>
            <a:r>
              <a:rPr sz="1800" b="1">
                <a:solidFill>
                  <a:srgbClr val="53D8E5"/>
                </a:solidFill>
              </a:rPr>
              <a:t>Level 1｜校准舱：稳定 1→2→3</a:t>
            </a:r>
          </a:p>
        </p:txBody>
      </p:sp>
      <p:sp>
        <p:nvSpPr>
          <p:cNvPr id="8" name="level1-body">
            <a:extLst xmlns:a="http://schemas.openxmlformats.org/drawingml/2006/main">
              <a:ext uri="{FF2B5EF4-FFF2-40B4-BE49-F238E27FC236}">
                <a16:creationId xmlns:a16="http://schemas.microsoft.com/office/drawing/2014/main" id="{84FD66C9-2C6A-4CA0-94BE-D33D67911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67300"/>
            <a:ext cx="495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9BA8AA"/>
                </a:solidFill>
              </a:defRPr>
            </a:pPr>
            <a:r>
              <a:rPr sz="1500" b="0">
                <a:solidFill>
                  <a:srgbClr val="9BA8AA"/>
                </a:solidFill>
              </a:rPr>
              <a:t>教学换序、首次协议、三遭遇闭环</a:t>
            </a:r>
          </a:p>
        </p:txBody>
      </p:sp>
      <p:sp>
        <p:nvSpPr>
          <p:cNvPr id="9" name="level2-title">
            <a:extLst xmlns:a="http://schemas.openxmlformats.org/drawingml/2006/main">
              <a:ext uri="{FF2B5EF4-FFF2-40B4-BE49-F238E27FC236}">
                <a16:creationId xmlns:a16="http://schemas.microsoft.com/office/drawing/2014/main" id="{73A2A046-F025-4D95-8EE9-3AEFC46A2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4686300"/>
            <a:ext cx="495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A67CFF"/>
                </a:solidFill>
              </a:defRPr>
            </a:pPr>
            <a:r>
              <a:rPr sz="1800" b="1">
                <a:solidFill>
                  <a:srgbClr val="A67CFF"/>
                </a:solidFill>
              </a:rPr>
              <a:t>Level 2｜逆相反应堆：3→2→1</a:t>
            </a:r>
          </a:p>
        </p:txBody>
      </p:sp>
      <p:sp>
        <p:nvSpPr>
          <p:cNvPr id="10" name="level2-body">
            <a:extLst xmlns:a="http://schemas.openxmlformats.org/drawingml/2006/main">
              <a:ext uri="{FF2B5EF4-FFF2-40B4-BE49-F238E27FC236}">
                <a16:creationId xmlns:a16="http://schemas.microsoft.com/office/drawing/2014/main" id="{94745EB3-47E9-40DB-B6FF-2D7FD7B6D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5067300"/>
            <a:ext cx="495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9BA8AA"/>
                </a:solidFill>
              </a:defRPr>
            </a:pPr>
            <a:r>
              <a:rPr sz="1500" b="0">
                <a:solidFill>
                  <a:srgbClr val="9BA8AA"/>
                </a:solidFill>
              </a:rPr>
              <a:t>相位锚锁相、多格 Intent、守卫终局</a:t>
            </a:r>
          </a:p>
        </p:txBody>
      </p:sp>
      <p:sp>
        <p:nvSpPr>
          <p:cNvPr id="11" name="build-回声编排">
            <a:extLst xmlns:a="http://schemas.openxmlformats.org/drawingml/2006/main">
              <a:ext uri="{FF2B5EF4-FFF2-40B4-BE49-F238E27FC236}">
                <a16:creationId xmlns:a16="http://schemas.microsoft.com/office/drawing/2014/main" id="{5BEB763E-2E5E-4ED8-BAC5-2B01892B1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734050"/>
            <a:ext cx="34099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121A1F"/>
          </a:solidFill>
          <a:ln xmlns:a="http://schemas.openxmlformats.org/drawingml/2006/main" w="19050">
            <a:solidFill>
              <a:srgbClr val="53D8E5"/>
            </a:solidFill>
            <a:prstDash val="solid"/>
          </a:ln>
        </p:spPr>
      </p:sp>
      <p:sp>
        <p:nvSpPr>
          <p:cNvPr id="12" name="build-title-回声编排">
            <a:extLst xmlns:a="http://schemas.openxmlformats.org/drawingml/2006/main">
              <a:ext uri="{FF2B5EF4-FFF2-40B4-BE49-F238E27FC236}">
                <a16:creationId xmlns:a16="http://schemas.microsoft.com/office/drawing/2014/main" id="{2A93DD45-BD87-4BE7-B4DC-846A89431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82930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53D8E5"/>
                </a:solidFill>
              </a:defRPr>
            </a:pPr>
            <a:r>
              <a:rPr sz="1575" b="1">
                <a:solidFill>
                  <a:srgbClr val="53D8E5"/>
                </a:solidFill>
              </a:rPr>
              <a:t>回声编排</a:t>
            </a:r>
          </a:p>
        </p:txBody>
      </p:sp>
      <p:sp>
        <p:nvSpPr>
          <p:cNvPr id="13" name="build-body-回声编排">
            <a:extLst xmlns:a="http://schemas.openxmlformats.org/drawingml/2006/main">
              <a:ext uri="{FF2B5EF4-FFF2-40B4-BE49-F238E27FC236}">
                <a16:creationId xmlns:a16="http://schemas.microsoft.com/office/drawing/2014/main" id="{66F6E9A7-9F7D-4B54-8D2A-B24D47237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5819775"/>
            <a:ext cx="18669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F5F2EA"/>
                </a:solidFill>
              </a:defRPr>
            </a:pPr>
            <a:r>
              <a:rPr sz="1275" b="0">
                <a:solidFill>
                  <a:srgbClr val="F5F2EA"/>
                </a:solidFill>
              </a:rPr>
              <a:t>奖励空拍：首拍在第三拍重放</a:t>
            </a:r>
          </a:p>
        </p:txBody>
      </p:sp>
      <p:sp>
        <p:nvSpPr>
          <p:cNvPr id="14" name="build-动能破阵">
            <a:extLst xmlns:a="http://schemas.openxmlformats.org/drawingml/2006/main">
              <a:ext uri="{FF2B5EF4-FFF2-40B4-BE49-F238E27FC236}">
                <a16:creationId xmlns:a16="http://schemas.microsoft.com/office/drawing/2014/main" id="{8205A634-B792-494F-94E0-D516139A5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1025" y="5734050"/>
            <a:ext cx="34099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121A1F"/>
          </a:solidFill>
          <a:ln xmlns:a="http://schemas.openxmlformats.org/drawingml/2006/main" w="19050">
            <a:solidFill>
              <a:srgbClr val="F0B34A"/>
            </a:solidFill>
            <a:prstDash val="solid"/>
          </a:ln>
        </p:spPr>
      </p:sp>
      <p:sp>
        <p:nvSpPr>
          <p:cNvPr id="15" name="build-title-动能破阵">
            <a:extLst xmlns:a="http://schemas.openxmlformats.org/drawingml/2006/main">
              <a:ext uri="{FF2B5EF4-FFF2-40B4-BE49-F238E27FC236}">
                <a16:creationId xmlns:a16="http://schemas.microsoft.com/office/drawing/2014/main" id="{714AC600-CDE9-4E44-A991-3DBD88966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2475" y="582930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0B34A"/>
                </a:solidFill>
              </a:defRPr>
            </a:pPr>
            <a:r>
              <a:rPr sz="1575" b="1">
                <a:solidFill>
                  <a:srgbClr val="F0B34A"/>
                </a:solidFill>
              </a:rPr>
              <a:t>动能破阵</a:t>
            </a:r>
          </a:p>
        </p:txBody>
      </p:sp>
      <p:sp>
        <p:nvSpPr>
          <p:cNvPr id="16" name="build-body-动能破阵">
            <a:extLst xmlns:a="http://schemas.openxmlformats.org/drawingml/2006/main">
              <a:ext uri="{FF2B5EF4-FFF2-40B4-BE49-F238E27FC236}">
                <a16:creationId xmlns:a16="http://schemas.microsoft.com/office/drawing/2014/main" id="{6F5ADEAE-A408-4642-8CB1-4F29708C8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3575" y="5819775"/>
            <a:ext cx="18669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F5F2EA"/>
                </a:solidFill>
              </a:defRPr>
            </a:pPr>
            <a:r>
              <a:rPr sz="1275" b="0">
                <a:solidFill>
                  <a:srgbClr val="F5F2EA"/>
                </a:solidFill>
              </a:rPr>
              <a:t>奖励墙面：推击 + 碰撞过载</a:t>
            </a:r>
          </a:p>
        </p:txBody>
      </p:sp>
      <p:sp>
        <p:nvSpPr>
          <p:cNvPr id="17" name="build-屏障反推">
            <a:extLst xmlns:a="http://schemas.openxmlformats.org/drawingml/2006/main">
              <a:ext uri="{FF2B5EF4-FFF2-40B4-BE49-F238E27FC236}">
                <a16:creationId xmlns:a16="http://schemas.microsoft.com/office/drawing/2014/main" id="{289E5664-7645-404D-8794-F53CD17C4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5734050"/>
            <a:ext cx="34099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121A1F"/>
          </a:solidFill>
          <a:ln xmlns:a="http://schemas.openxmlformats.org/drawingml/2006/main" w="19050">
            <a:solidFill>
              <a:srgbClr val="74D99F"/>
            </a:solidFill>
            <a:prstDash val="solid"/>
          </a:ln>
        </p:spPr>
      </p:sp>
      <p:sp>
        <p:nvSpPr>
          <p:cNvPr id="18" name="build-title-屏障反推">
            <a:extLst xmlns:a="http://schemas.openxmlformats.org/drawingml/2006/main">
              <a:ext uri="{FF2B5EF4-FFF2-40B4-BE49-F238E27FC236}">
                <a16:creationId xmlns:a16="http://schemas.microsoft.com/office/drawing/2014/main" id="{AFFB0F4F-3AC5-4003-BA4F-F2A2055CC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582930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74D99F"/>
                </a:solidFill>
              </a:defRPr>
            </a:pPr>
            <a:r>
              <a:rPr sz="1575" b="1">
                <a:solidFill>
                  <a:srgbClr val="74D99F"/>
                </a:solidFill>
              </a:rPr>
              <a:t>屏障反推</a:t>
            </a:r>
          </a:p>
        </p:txBody>
      </p:sp>
      <p:sp>
        <p:nvSpPr>
          <p:cNvPr id="19" name="build-body-屏障反推">
            <a:extLst xmlns:a="http://schemas.openxmlformats.org/drawingml/2006/main">
              <a:ext uri="{FF2B5EF4-FFF2-40B4-BE49-F238E27FC236}">
                <a16:creationId xmlns:a16="http://schemas.microsoft.com/office/drawing/2014/main" id="{88053DD2-0D45-44D3-B7A1-6C6950E23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5819775"/>
            <a:ext cx="18669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F5F2EA"/>
                </a:solidFill>
              </a:defRPr>
            </a:pPr>
            <a:r>
              <a:rPr sz="1275" b="0">
                <a:solidFill>
                  <a:srgbClr val="F5F2EA"/>
                </a:solidFill>
              </a:rPr>
              <a:t>奖励顺序：先盾后推才增伤</a:t>
            </a:r>
          </a:p>
        </p:txBody>
      </p:sp>
    </p:spTree>
    <p:extLst>
      <p:ext uri="{BB962C8B-B14F-4D97-AF65-F5344CB8AC3E}">
        <p14:creationId xmlns:p14="http://schemas.microsoft.com/office/powerpoint/2010/main" val="87108275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80D1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section-5">
            <a:extLst xmlns:a="http://schemas.openxmlformats.org/drawingml/2006/main">
              <a:ext uri="{FF2B5EF4-FFF2-40B4-BE49-F238E27FC236}">
                <a16:creationId xmlns:a16="http://schemas.microsoft.com/office/drawing/2014/main" id="{D3BACFFB-387B-4686-892B-13AB4CC0A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0B34A"/>
                </a:solidFill>
              </a:defRPr>
            </a:pPr>
            <a:r>
              <a:rPr sz="1200" b="1">
                <a:solidFill>
                  <a:srgbClr val="F0B34A"/>
                </a:solidFill>
              </a:rPr>
              <a:t>04 / 技术实现</a:t>
            </a:r>
          </a:p>
        </p:txBody>
      </p:sp>
      <p:sp>
        <p:nvSpPr>
          <p:cNvPr id="2" name="title-5">
            <a:extLst xmlns:a="http://schemas.openxmlformats.org/drawingml/2006/main">
              <a:ext uri="{FF2B5EF4-FFF2-40B4-BE49-F238E27FC236}">
                <a16:creationId xmlns:a16="http://schemas.microsoft.com/office/drawing/2014/main" id="{E2C073B8-F57F-479F-86F5-E6E780B1C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09600"/>
            <a:ext cx="111252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F5F2EA"/>
                </a:solidFill>
              </a:defRPr>
            </a:pPr>
            <a:r>
              <a:rPr sz="3600" b="1">
                <a:solidFill>
                  <a:srgbClr val="F5F2EA"/>
                </a:solidFill>
              </a:rPr>
              <a:t>三条技术线共同保证：可解释、可复现、不穿帮</a:t>
            </a:r>
          </a:p>
        </p:txBody>
      </p:sp>
      <p:sp>
        <p:nvSpPr>
          <p:cNvPr id="3" name="rule-5">
            <a:extLst xmlns:a="http://schemas.openxmlformats.org/drawingml/2006/main">
              <a:ext uri="{FF2B5EF4-FFF2-40B4-BE49-F238E27FC236}">
                <a16:creationId xmlns:a16="http://schemas.microsoft.com/office/drawing/2014/main" id="{F9A7C4F6-BDF5-4FEB-8D60-D34CEC30F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23975"/>
            <a:ext cx="11125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44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age-5">
            <a:extLst xmlns:a="http://schemas.openxmlformats.org/drawingml/2006/main">
              <a:ext uri="{FF2B5EF4-FFF2-40B4-BE49-F238E27FC236}">
                <a16:creationId xmlns:a16="http://schemas.microsoft.com/office/drawing/2014/main" id="{384BF3FA-B03B-4A92-8464-9C0A31666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96050"/>
            <a:ext cx="57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9BA8AA"/>
                </a:solidFill>
              </a:defRPr>
            </a:pPr>
            <a:r>
              <a:rPr sz="1200" b="0">
                <a:solidFill>
                  <a:srgbClr val="9BA8AA"/>
                </a:solidFill>
              </a:rPr>
              <a:t>05</a:t>
            </a:r>
          </a:p>
        </p:txBody>
      </p:sp>
      <p:pic>
        <p:nvPicPr>
          <p:cNvPr id="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5b8633660334b20"/>
          <a:srcRect xmlns:a="http://schemas.openxmlformats.org/drawingml/2006/main" l="9615" t="0" r="9615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58000" y="1657350"/>
            <a:ext cx="4800600" cy="3714750"/>
          </a:xfrm>
          <a:prstGeom xmlns:a="http://schemas.openxmlformats.org/drawingml/2006/main" prst="roundRect">
            <a:avLst>
              <a:gd name="adj" fmla="val 2051"/>
            </a:avLst>
          </a:prstGeom>
        </p:spPr>
      </p:pic>
      <p:sp>
        <p:nvSpPr>
          <p:cNvPr id="6" name="tech-node-确定性模拟">
            <a:extLst xmlns:a="http://schemas.openxmlformats.org/drawingml/2006/main">
              <a:ext uri="{FF2B5EF4-FFF2-40B4-BE49-F238E27FC236}">
                <a16:creationId xmlns:a16="http://schemas.microsoft.com/office/drawing/2014/main" id="{4B0F2062-034A-49BE-9857-6B6A74412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752600"/>
            <a:ext cx="5829300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121A1F"/>
          </a:solidFill>
          <a:ln xmlns:a="http://schemas.openxmlformats.org/drawingml/2006/main" w="19050">
            <a:solidFill>
              <a:srgbClr val="53D8E5"/>
            </a:solidFill>
            <a:prstDash val="solid"/>
          </a:ln>
        </p:spPr>
      </p:sp>
      <p:sp>
        <p:nvSpPr>
          <p:cNvPr id="7" name="tech-title-确定性模拟">
            <a:extLst xmlns:a="http://schemas.openxmlformats.org/drawingml/2006/main">
              <a:ext uri="{FF2B5EF4-FFF2-40B4-BE49-F238E27FC236}">
                <a16:creationId xmlns:a16="http://schemas.microsoft.com/office/drawing/2014/main" id="{B61538BF-20CF-4DA6-8772-4035F6642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905000"/>
            <a:ext cx="15621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53D8E5"/>
                </a:solidFill>
              </a:defRPr>
            </a:pPr>
            <a:r>
              <a:rPr sz="1800" b="1">
                <a:solidFill>
                  <a:srgbClr val="53D8E5"/>
                </a:solidFill>
              </a:rPr>
              <a:t>确定性模拟</a:t>
            </a:r>
          </a:p>
        </p:txBody>
      </p:sp>
      <p:sp>
        <p:nvSpPr>
          <p:cNvPr id="8" name="tech-flow-确定性模拟">
            <a:extLst xmlns:a="http://schemas.openxmlformats.org/drawingml/2006/main">
              <a:ext uri="{FF2B5EF4-FFF2-40B4-BE49-F238E27FC236}">
                <a16:creationId xmlns:a16="http://schemas.microsoft.com/office/drawing/2014/main" id="{70CBEB11-8536-486E-8D35-0A7CE3400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1885950"/>
            <a:ext cx="3790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5F2EA"/>
                </a:solidFill>
              </a:defRPr>
            </a:pPr>
            <a:r>
              <a:rPr sz="1500" b="1">
                <a:solidFill>
                  <a:srgbClr val="F5F2EA"/>
                </a:solidFill>
              </a:rPr>
              <a:t>clone(state) → simulate_turn → fingerprint</a:t>
            </a:r>
          </a:p>
        </p:txBody>
      </p:sp>
      <p:sp>
        <p:nvSpPr>
          <p:cNvPr id="9" name="tech-outcome-确定性模拟">
            <a:extLst xmlns:a="http://schemas.openxmlformats.org/drawingml/2006/main">
              <a:ext uri="{FF2B5EF4-FFF2-40B4-BE49-F238E27FC236}">
                <a16:creationId xmlns:a16="http://schemas.microsoft.com/office/drawing/2014/main" id="{3CDC0A61-2947-4E53-846C-D38945745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2333625"/>
            <a:ext cx="37909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9BA8AA"/>
                </a:solidFill>
              </a:defRPr>
            </a:pPr>
            <a:r>
              <a:rPr sz="1350" b="0">
                <a:solidFill>
                  <a:srgbClr val="9BA8AA"/>
                </a:solidFill>
              </a:rPr>
              <a:t>Preview = Execute 终态</a:t>
            </a:r>
          </a:p>
        </p:txBody>
      </p:sp>
      <p:sp>
        <p:nvSpPr>
          <p:cNvPr id="10" name="tech-node-程序地图">
            <a:extLst xmlns:a="http://schemas.openxmlformats.org/drawingml/2006/main">
              <a:ext uri="{FF2B5EF4-FFF2-40B4-BE49-F238E27FC236}">
                <a16:creationId xmlns:a16="http://schemas.microsoft.com/office/drawing/2014/main" id="{339A6384-23C6-417C-8375-197F17EAD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048000"/>
            <a:ext cx="5829300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121A1F"/>
          </a:solidFill>
          <a:ln xmlns:a="http://schemas.openxmlformats.org/drawingml/2006/main" w="19050">
            <a:solidFill>
              <a:srgbClr val="74D99F"/>
            </a:solidFill>
            <a:prstDash val="solid"/>
          </a:ln>
        </p:spPr>
      </p:sp>
      <p:sp>
        <p:nvSpPr>
          <p:cNvPr id="11" name="tech-title-程序地图">
            <a:extLst xmlns:a="http://schemas.openxmlformats.org/drawingml/2006/main">
              <a:ext uri="{FF2B5EF4-FFF2-40B4-BE49-F238E27FC236}">
                <a16:creationId xmlns:a16="http://schemas.microsoft.com/office/drawing/2014/main" id="{0BDD485C-D930-4259-9DC7-109065203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200400"/>
            <a:ext cx="15621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74D99F"/>
                </a:solidFill>
              </a:defRPr>
            </a:pPr>
            <a:r>
              <a:rPr sz="1800" b="1">
                <a:solidFill>
                  <a:srgbClr val="74D99F"/>
                </a:solidFill>
              </a:rPr>
              <a:t>程序地图</a:t>
            </a:r>
          </a:p>
        </p:txBody>
      </p:sp>
      <p:sp>
        <p:nvSpPr>
          <p:cNvPr id="12" name="tech-flow-程序地图">
            <a:extLst xmlns:a="http://schemas.openxmlformats.org/drawingml/2006/main">
              <a:ext uri="{FF2B5EF4-FFF2-40B4-BE49-F238E27FC236}">
                <a16:creationId xmlns:a16="http://schemas.microsoft.com/office/drawing/2014/main" id="{01873503-CD1B-49DC-B246-7D10D4F30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3181350"/>
            <a:ext cx="3790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5F2EA"/>
                </a:solidFill>
              </a:defRPr>
            </a:pPr>
            <a:r>
              <a:rPr sz="1500" b="1">
                <a:solidFill>
                  <a:srgbClr val="F5F2EA"/>
                </a:solidFill>
              </a:rPr>
              <a:t>Seed → 房间/走廊 → BFS → 距离校验</a:t>
            </a:r>
          </a:p>
        </p:txBody>
      </p:sp>
      <p:sp>
        <p:nvSpPr>
          <p:cNvPr id="13" name="tech-outcome-程序地图">
            <a:extLst xmlns:a="http://schemas.openxmlformats.org/drawingml/2006/main">
              <a:ext uri="{FF2B5EF4-FFF2-40B4-BE49-F238E27FC236}">
                <a16:creationId xmlns:a16="http://schemas.microsoft.com/office/drawing/2014/main" id="{9F1F6FC2-52E3-4E6D-B72A-58BEA0A3B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3629025"/>
            <a:ext cx="37909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9BA8AA"/>
                </a:solidFill>
              </a:defRPr>
            </a:pPr>
            <a:r>
              <a:rPr sz="1350" b="0">
                <a:solidFill>
                  <a:srgbClr val="9BA8AA"/>
                </a:solidFill>
              </a:rPr>
              <a:t>同 Seed 复现，非法则重试</a:t>
            </a:r>
          </a:p>
        </p:txBody>
      </p:sp>
      <p:sp>
        <p:nvSpPr>
          <p:cNvPr id="14" name="tech-node-行为树 AI">
            <a:extLst xmlns:a="http://schemas.openxmlformats.org/drawingml/2006/main">
              <a:ext uri="{FF2B5EF4-FFF2-40B4-BE49-F238E27FC236}">
                <a16:creationId xmlns:a16="http://schemas.microsoft.com/office/drawing/2014/main" id="{E2557695-64FE-4507-B05A-F4923C96A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343400"/>
            <a:ext cx="5829300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121A1F"/>
          </a:solidFill>
          <a:ln xmlns:a="http://schemas.openxmlformats.org/drawingml/2006/main" w="19050">
            <a:solidFill>
              <a:srgbClr val="F0B34A"/>
            </a:solidFill>
            <a:prstDash val="solid"/>
          </a:ln>
        </p:spPr>
      </p:sp>
      <p:sp>
        <p:nvSpPr>
          <p:cNvPr id="15" name="tech-title-行为树 AI">
            <a:extLst xmlns:a="http://schemas.openxmlformats.org/drawingml/2006/main">
              <a:ext uri="{FF2B5EF4-FFF2-40B4-BE49-F238E27FC236}">
                <a16:creationId xmlns:a16="http://schemas.microsoft.com/office/drawing/2014/main" id="{7C609E58-1B79-4C13-9B2F-1DC53FB89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495800"/>
            <a:ext cx="15621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0B34A"/>
                </a:solidFill>
              </a:defRPr>
            </a:pPr>
            <a:r>
              <a:rPr sz="1800" b="1">
                <a:solidFill>
                  <a:srgbClr val="F0B34A"/>
                </a:solidFill>
              </a:rPr>
              <a:t>行为树 AI</a:t>
            </a:r>
          </a:p>
        </p:txBody>
      </p:sp>
      <p:sp>
        <p:nvSpPr>
          <p:cNvPr id="16" name="tech-flow-行为树 AI">
            <a:extLst xmlns:a="http://schemas.openxmlformats.org/drawingml/2006/main">
              <a:ext uri="{FF2B5EF4-FFF2-40B4-BE49-F238E27FC236}">
                <a16:creationId xmlns:a16="http://schemas.microsoft.com/office/drawing/2014/main" id="{164A0F73-8F46-4C9B-AEBF-904471BA3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4476750"/>
            <a:ext cx="3790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5F2EA"/>
                </a:solidFill>
              </a:defRPr>
            </a:pPr>
            <a:r>
              <a:rPr sz="1500" b="1">
                <a:solidFill>
                  <a:srgbClr val="F5F2EA"/>
                </a:solidFill>
              </a:rPr>
              <a:t>Selector / Sequence → PreparedAction</a:t>
            </a:r>
          </a:p>
        </p:txBody>
      </p:sp>
      <p:sp>
        <p:nvSpPr>
          <p:cNvPr id="17" name="tech-outcome-行为树 AI">
            <a:extLst xmlns:a="http://schemas.openxmlformats.org/drawingml/2006/main">
              <a:ext uri="{FF2B5EF4-FFF2-40B4-BE49-F238E27FC236}">
                <a16:creationId xmlns:a16="http://schemas.microsoft.com/office/drawing/2014/main" id="{5F458459-8446-46C6-BA38-FBB071CE2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4924425"/>
            <a:ext cx="37909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9BA8AA"/>
                </a:solidFill>
              </a:defRPr>
            </a:pPr>
            <a:r>
              <a:rPr sz="1350" b="0">
                <a:solidFill>
                  <a:srgbClr val="9BA8AA"/>
                </a:solidFill>
              </a:rPr>
              <a:t>同一 Action 驱动 Intent 与执行</a:t>
            </a:r>
          </a:p>
        </p:txBody>
      </p:sp>
      <p:sp>
        <p:nvSpPr>
          <p:cNvPr id="18" name="tech-boundary">
            <a:extLst xmlns:a="http://schemas.openxmlformats.org/drawingml/2006/main">
              <a:ext uri="{FF2B5EF4-FFF2-40B4-BE49-F238E27FC236}">
                <a16:creationId xmlns:a16="http://schemas.microsoft.com/office/drawing/2014/main" id="{11081055-DDC6-4831-9B8A-C30627C95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943600"/>
            <a:ext cx="111252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243138"/>
          </a:solidFill>
          <a:ln xmlns:a="http://schemas.openxmlformats.org/drawingml/2006/main" w="9525">
            <a:solidFill>
              <a:srgbClr val="34444B"/>
            </a:solidFill>
            <a:prstDash val="solid"/>
          </a:ln>
        </p:spPr>
      </p:sp>
      <p:sp>
        <p:nvSpPr>
          <p:cNvPr id="19" name="tech-boundary-text">
            <a:extLst xmlns:a="http://schemas.openxmlformats.org/drawingml/2006/main">
              <a:ext uri="{FF2B5EF4-FFF2-40B4-BE49-F238E27FC236}">
                <a16:creationId xmlns:a16="http://schemas.microsoft.com/office/drawing/2014/main" id="{B177D896-55E4-4FB3-A6B4-D7C55A9E5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048375"/>
            <a:ext cx="10744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5F2EA"/>
                </a:solidFill>
              </a:defRPr>
            </a:pPr>
            <a:r>
              <a:rPr sz="1500" b="1">
                <a:solidFill>
                  <a:srgbClr val="F5F2EA"/>
                </a:solidFill>
              </a:rPr>
              <a:t>领域层不导入 pygame；动画与音效只消费 LogicEvent，不改变伤害、位置或胜负</a:t>
            </a:r>
          </a:p>
        </p:txBody>
      </p:sp>
      <p:sp>
        <p:nvSpPr>
          <p:cNvPr id="20" name="debug-caption">
            <a:extLst xmlns:a="http://schemas.openxmlformats.org/drawingml/2006/main">
              <a:ext uri="{FF2B5EF4-FFF2-40B4-BE49-F238E27FC236}">
                <a16:creationId xmlns:a16="http://schemas.microsoft.com/office/drawing/2014/main" id="{6F4E880D-AE9F-4807-9E1E-84CA82BCD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5524500"/>
            <a:ext cx="4800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9BA8AA"/>
                </a:solidFill>
              </a:defRPr>
            </a:pPr>
            <a:r>
              <a:rPr sz="1350" b="0">
                <a:solidFill>
                  <a:srgbClr val="9BA8AA"/>
                </a:solidFill>
              </a:rPr>
              <a:t>F3 面板只在答辩展示；正式 HUD 隐藏内部实现</a:t>
            </a:r>
          </a:p>
        </p:txBody>
      </p:sp>
    </p:spTree>
    <p:extLst>
      <p:ext uri="{BB962C8B-B14F-4D97-AF65-F5344CB8AC3E}">
        <p14:creationId xmlns:p14="http://schemas.microsoft.com/office/powerpoint/2010/main" val="137818529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80D1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section-6">
            <a:extLst xmlns:a="http://schemas.openxmlformats.org/drawingml/2006/main">
              <a:ext uri="{FF2B5EF4-FFF2-40B4-BE49-F238E27FC236}">
                <a16:creationId xmlns:a16="http://schemas.microsoft.com/office/drawing/2014/main" id="{4EC8021C-6DF4-406D-9753-6261B998B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0B34A"/>
                </a:solidFill>
              </a:defRPr>
            </a:pPr>
            <a:r>
              <a:rPr sz="1200" b="1">
                <a:solidFill>
                  <a:srgbClr val="F0B34A"/>
                </a:solidFill>
              </a:rPr>
              <a:t>05 / AI 协作（独立评分项）</a:t>
            </a:r>
          </a:p>
        </p:txBody>
      </p:sp>
      <p:sp>
        <p:nvSpPr>
          <p:cNvPr id="2" name="title-6">
            <a:extLst xmlns:a="http://schemas.openxmlformats.org/drawingml/2006/main">
              <a:ext uri="{FF2B5EF4-FFF2-40B4-BE49-F238E27FC236}">
                <a16:creationId xmlns:a16="http://schemas.microsoft.com/office/drawing/2014/main" id="{72BEE2CD-7D9E-4CBF-A67A-18F0C30C3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09600"/>
            <a:ext cx="111252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F5F2EA"/>
                </a:solidFill>
              </a:defRPr>
            </a:pPr>
            <a:r>
              <a:rPr sz="3600" b="1">
                <a:solidFill>
                  <a:srgbClr val="F5F2EA"/>
                </a:solidFill>
              </a:rPr>
              <a:t>AI 提高迭代速度，人负责证据、边界与最终判断</a:t>
            </a:r>
          </a:p>
        </p:txBody>
      </p:sp>
      <p:sp>
        <p:nvSpPr>
          <p:cNvPr id="3" name="rule-6">
            <a:extLst xmlns:a="http://schemas.openxmlformats.org/drawingml/2006/main">
              <a:ext uri="{FF2B5EF4-FFF2-40B4-BE49-F238E27FC236}">
                <a16:creationId xmlns:a16="http://schemas.microsoft.com/office/drawing/2014/main" id="{0C27D24E-3B88-45AD-8C3A-509CB9E5C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23975"/>
            <a:ext cx="11125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44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age-6">
            <a:extLst xmlns:a="http://schemas.openxmlformats.org/drawingml/2006/main">
              <a:ext uri="{FF2B5EF4-FFF2-40B4-BE49-F238E27FC236}">
                <a16:creationId xmlns:a16="http://schemas.microsoft.com/office/drawing/2014/main" id="{617900C1-A6B0-41CC-A8F5-75025D852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96050"/>
            <a:ext cx="57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9BA8AA"/>
                </a:solidFill>
              </a:defRPr>
            </a:pPr>
            <a:r>
              <a:rPr sz="1200" b="0">
                <a:solidFill>
                  <a:srgbClr val="9BA8AA"/>
                </a:solidFill>
              </a:rPr>
              <a:t>06</a:t>
            </a:r>
          </a:p>
        </p:txBody>
      </p:sp>
      <p:sp>
        <p:nvSpPr>
          <p:cNvPr id="5" name="ai-step-0">
            <a:extLst xmlns:a="http://schemas.openxmlformats.org/drawingml/2006/main">
              <a:ext uri="{FF2B5EF4-FFF2-40B4-BE49-F238E27FC236}">
                <a16:creationId xmlns:a16="http://schemas.microsoft.com/office/drawing/2014/main" id="{5969F14F-8ABA-41DB-99B3-56AC6CB98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19250"/>
            <a:ext cx="18669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121A1F"/>
          </a:solidFill>
          <a:ln xmlns:a="http://schemas.openxmlformats.org/drawingml/2006/main" w="19050">
            <a:solidFill>
              <a:srgbClr val="34444B"/>
            </a:solidFill>
            <a:prstDash val="solid"/>
          </a:ln>
        </p:spPr>
      </p:sp>
      <p:sp>
        <p:nvSpPr>
          <p:cNvPr id="6" name="ai-step-text-0">
            <a:extLst xmlns:a="http://schemas.openxmlformats.org/drawingml/2006/main">
              <a:ext uri="{FF2B5EF4-FFF2-40B4-BE49-F238E27FC236}">
                <a16:creationId xmlns:a16="http://schemas.microsoft.com/office/drawing/2014/main" id="{204811B7-A257-471A-805B-D410A7257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752600"/>
            <a:ext cx="1676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5F2EA"/>
                </a:solidFill>
              </a:defRPr>
            </a:pPr>
            <a:r>
              <a:rPr sz="1500" b="1">
                <a:solidFill>
                  <a:srgbClr val="F5F2EA"/>
                </a:solidFill>
              </a:rPr>
              <a:t>冻结需求</a:t>
            </a:r>
          </a:p>
        </p:txBody>
      </p:sp>
      <p:sp>
        <p:nvSpPr>
          <p:cNvPr id="7" name="ai-arrow-0">
            <a:extLst xmlns:a="http://schemas.openxmlformats.org/drawingml/2006/main">
              <a:ext uri="{FF2B5EF4-FFF2-40B4-BE49-F238E27FC236}">
                <a16:creationId xmlns:a16="http://schemas.microsoft.com/office/drawing/2014/main" id="{2DEDF6C6-8621-4383-96A8-178C099ED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1743075"/>
            <a:ext cx="323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9BA8AA"/>
                </a:solidFill>
              </a:defRPr>
            </a:pPr>
            <a:r>
              <a:rPr sz="1800" b="1">
                <a:solidFill>
                  <a:srgbClr val="9BA8AA"/>
                </a:solidFill>
              </a:rPr>
              <a:t>→</a:t>
            </a:r>
          </a:p>
        </p:txBody>
      </p:sp>
      <p:sp>
        <p:nvSpPr>
          <p:cNvPr id="8" name="ai-step-1">
            <a:extLst xmlns:a="http://schemas.openxmlformats.org/drawingml/2006/main">
              <a:ext uri="{FF2B5EF4-FFF2-40B4-BE49-F238E27FC236}">
                <a16:creationId xmlns:a16="http://schemas.microsoft.com/office/drawing/2014/main" id="{886ADD96-A36C-470D-B74E-55B233594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71775" y="1619250"/>
            <a:ext cx="18669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121A1F"/>
          </a:solidFill>
          <a:ln xmlns:a="http://schemas.openxmlformats.org/drawingml/2006/main" w="19050">
            <a:solidFill>
              <a:srgbClr val="34444B"/>
            </a:solidFill>
            <a:prstDash val="solid"/>
          </a:ln>
        </p:spPr>
      </p:sp>
      <p:sp>
        <p:nvSpPr>
          <p:cNvPr id="9" name="ai-step-text-1">
            <a:extLst xmlns:a="http://schemas.openxmlformats.org/drawingml/2006/main">
              <a:ext uri="{FF2B5EF4-FFF2-40B4-BE49-F238E27FC236}">
                <a16:creationId xmlns:a16="http://schemas.microsoft.com/office/drawing/2014/main" id="{FA8F772A-0247-4D23-825C-8263A3B3B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67025" y="1752600"/>
            <a:ext cx="1676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5F2EA"/>
                </a:solidFill>
              </a:defRPr>
            </a:pPr>
            <a:r>
              <a:rPr sz="1500" b="1">
                <a:solidFill>
                  <a:srgbClr val="F5F2EA"/>
                </a:solidFill>
              </a:rPr>
              <a:t>AI 方案/代码/测试</a:t>
            </a:r>
          </a:p>
        </p:txBody>
      </p:sp>
      <p:sp>
        <p:nvSpPr>
          <p:cNvPr id="10" name="ai-arrow-1">
            <a:extLst xmlns:a="http://schemas.openxmlformats.org/drawingml/2006/main">
              <a:ext uri="{FF2B5EF4-FFF2-40B4-BE49-F238E27FC236}">
                <a16:creationId xmlns:a16="http://schemas.microsoft.com/office/drawing/2014/main" id="{F4E2C0E0-CE29-4D4A-B7B8-39E15BE9D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1743075"/>
            <a:ext cx="323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9BA8AA"/>
                </a:solidFill>
              </a:defRPr>
            </a:pPr>
            <a:r>
              <a:rPr sz="1800" b="1">
                <a:solidFill>
                  <a:srgbClr val="9BA8AA"/>
                </a:solidFill>
              </a:rPr>
              <a:t>→</a:t>
            </a:r>
          </a:p>
        </p:txBody>
      </p:sp>
      <p:sp>
        <p:nvSpPr>
          <p:cNvPr id="11" name="ai-step-2">
            <a:extLst xmlns:a="http://schemas.openxmlformats.org/drawingml/2006/main">
              <a:ext uri="{FF2B5EF4-FFF2-40B4-BE49-F238E27FC236}">
                <a16:creationId xmlns:a16="http://schemas.microsoft.com/office/drawing/2014/main" id="{DC9F7CE5-D61B-42CE-B934-5D4FC3ACA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1619250"/>
            <a:ext cx="18669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121A1F"/>
          </a:solidFill>
          <a:ln xmlns:a="http://schemas.openxmlformats.org/drawingml/2006/main" w="19050">
            <a:solidFill>
              <a:srgbClr val="34444B"/>
            </a:solidFill>
            <a:prstDash val="solid"/>
          </a:ln>
        </p:spPr>
      </p:sp>
      <p:sp>
        <p:nvSpPr>
          <p:cNvPr id="12" name="ai-step-text-2">
            <a:extLst xmlns:a="http://schemas.openxmlformats.org/drawingml/2006/main">
              <a:ext uri="{FF2B5EF4-FFF2-40B4-BE49-F238E27FC236}">
                <a16:creationId xmlns:a16="http://schemas.microsoft.com/office/drawing/2014/main" id="{DFF8B43F-5713-4671-B520-81250087F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1752600"/>
            <a:ext cx="1676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5F2EA"/>
                </a:solidFill>
              </a:defRPr>
            </a:pPr>
            <a:r>
              <a:rPr sz="1500" b="1">
                <a:solidFill>
                  <a:srgbClr val="F5F2EA"/>
                </a:solidFill>
              </a:rPr>
              <a:t>真人运行审图</a:t>
            </a:r>
          </a:p>
        </p:txBody>
      </p:sp>
      <p:sp>
        <p:nvSpPr>
          <p:cNvPr id="13" name="ai-arrow-2">
            <a:extLst xmlns:a="http://schemas.openxmlformats.org/drawingml/2006/main">
              <a:ext uri="{FF2B5EF4-FFF2-40B4-BE49-F238E27FC236}">
                <a16:creationId xmlns:a16="http://schemas.microsoft.com/office/drawing/2014/main" id="{C2B2E8F7-4BB0-4509-AF82-028113E79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1743075"/>
            <a:ext cx="323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9BA8AA"/>
                </a:solidFill>
              </a:defRPr>
            </a:pPr>
            <a:r>
              <a:rPr sz="1800" b="1">
                <a:solidFill>
                  <a:srgbClr val="9BA8AA"/>
                </a:solidFill>
              </a:rPr>
              <a:t>→</a:t>
            </a:r>
          </a:p>
        </p:txBody>
      </p:sp>
      <p:sp>
        <p:nvSpPr>
          <p:cNvPr id="14" name="ai-step-3">
            <a:extLst xmlns:a="http://schemas.openxmlformats.org/drawingml/2006/main">
              <a:ext uri="{FF2B5EF4-FFF2-40B4-BE49-F238E27FC236}">
                <a16:creationId xmlns:a16="http://schemas.microsoft.com/office/drawing/2014/main" id="{F14BFDA1-08FF-444D-9B14-0C1C22AB3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1619250"/>
            <a:ext cx="18669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243138"/>
          </a:solidFill>
          <a:ln xmlns:a="http://schemas.openxmlformats.org/drawingml/2006/main" w="19050">
            <a:solidFill>
              <a:srgbClr val="F0B34A"/>
            </a:solidFill>
            <a:prstDash val="solid"/>
          </a:ln>
        </p:spPr>
      </p:sp>
      <p:sp>
        <p:nvSpPr>
          <p:cNvPr id="15" name="ai-step-text-3">
            <a:extLst xmlns:a="http://schemas.openxmlformats.org/drawingml/2006/main">
              <a:ext uri="{FF2B5EF4-FFF2-40B4-BE49-F238E27FC236}">
                <a16:creationId xmlns:a16="http://schemas.microsoft.com/office/drawing/2014/main" id="{5AD26BB3-B207-433C-B87D-E053EBD77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3775" y="1752600"/>
            <a:ext cx="1676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0B34A"/>
                </a:solidFill>
              </a:defRPr>
            </a:pPr>
            <a:r>
              <a:rPr sz="1500" b="1">
                <a:solidFill>
                  <a:srgbClr val="F0B34A"/>
                </a:solidFill>
              </a:rPr>
              <a:t>反证与取舍</a:t>
            </a:r>
          </a:p>
        </p:txBody>
      </p:sp>
      <p:sp>
        <p:nvSpPr>
          <p:cNvPr id="16" name="ai-arrow-3">
            <a:extLst xmlns:a="http://schemas.openxmlformats.org/drawingml/2006/main">
              <a:ext uri="{FF2B5EF4-FFF2-40B4-BE49-F238E27FC236}">
                <a16:creationId xmlns:a16="http://schemas.microsoft.com/office/drawing/2014/main" id="{CA8BCD3D-C4B1-40D7-AD0B-B952AFB84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1743075"/>
            <a:ext cx="323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9BA8AA"/>
                </a:solidFill>
              </a:defRPr>
            </a:pPr>
            <a:r>
              <a:rPr sz="1800" b="1">
                <a:solidFill>
                  <a:srgbClr val="9BA8AA"/>
                </a:solidFill>
              </a:rPr>
              <a:t>→</a:t>
            </a:r>
          </a:p>
        </p:txBody>
      </p:sp>
      <p:sp>
        <p:nvSpPr>
          <p:cNvPr id="17" name="ai-step-4">
            <a:extLst xmlns:a="http://schemas.openxmlformats.org/drawingml/2006/main">
              <a:ext uri="{FF2B5EF4-FFF2-40B4-BE49-F238E27FC236}">
                <a16:creationId xmlns:a16="http://schemas.microsoft.com/office/drawing/2014/main" id="{F8A2285B-B70B-4160-B75C-1AB3E5473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1619250"/>
            <a:ext cx="18669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121A1F"/>
          </a:solidFill>
          <a:ln xmlns:a="http://schemas.openxmlformats.org/drawingml/2006/main" w="19050">
            <a:solidFill>
              <a:srgbClr val="34444B"/>
            </a:solidFill>
            <a:prstDash val="solid"/>
          </a:ln>
        </p:spPr>
      </p:sp>
      <p:sp>
        <p:nvSpPr>
          <p:cNvPr id="18" name="ai-step-text-4">
            <a:extLst xmlns:a="http://schemas.openxmlformats.org/drawingml/2006/main">
              <a:ext uri="{FF2B5EF4-FFF2-40B4-BE49-F238E27FC236}">
                <a16:creationId xmlns:a16="http://schemas.microsoft.com/office/drawing/2014/main" id="{5BCFD520-0ECD-4A75-8F23-FB23723B9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1752600"/>
            <a:ext cx="1676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5F2EA"/>
                </a:solidFill>
              </a:defRPr>
            </a:pPr>
            <a:r>
              <a:rPr sz="1500" b="1">
                <a:solidFill>
                  <a:srgbClr val="F5F2EA"/>
                </a:solidFill>
              </a:rPr>
              <a:t>回归并归档</a:t>
            </a:r>
          </a:p>
        </p:txBody>
      </p:sp>
      <p:pic>
        <p:nvPicPr>
          <p:cNvPr id="5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39b7e37eef8468b"/>
          <a:srcRect xmlns:a="http://schemas.openxmlformats.org/drawingml/2006/main" l="0" t="112" r="0" b="11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33400" y="2533650"/>
            <a:ext cx="3390900" cy="2114550"/>
          </a:xfrm>
          <a:prstGeom xmlns:a="http://schemas.openxmlformats.org/drawingml/2006/main" prst="roundRect">
            <a:avLst>
              <a:gd name="adj" fmla="val 3604"/>
            </a:avLst>
          </a:prstGeom>
        </p:spPr>
      </p:pic>
      <p:pic>
        <p:nvPicPr>
          <p:cNvPr id="5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c47ba00795d4a07"/>
          <a:srcRect xmlns:a="http://schemas.openxmlformats.org/drawingml/2006/main" l="0" t="112" r="0" b="11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171950" y="2533650"/>
            <a:ext cx="3390900" cy="2114550"/>
          </a:xfrm>
          <a:prstGeom xmlns:a="http://schemas.openxmlformats.org/drawingml/2006/main" prst="roundRect">
            <a:avLst>
              <a:gd name="adj" fmla="val 3604"/>
            </a:avLst>
          </a:prstGeom>
        </p:spPr>
      </p:pic>
      <p:sp>
        <p:nvSpPr>
          <p:cNvPr id="21" name="ai-before-label">
            <a:extLst xmlns:a="http://schemas.openxmlformats.org/drawingml/2006/main">
              <a:ext uri="{FF2B5EF4-FFF2-40B4-BE49-F238E27FC236}">
                <a16:creationId xmlns:a16="http://schemas.microsoft.com/office/drawing/2014/main" id="{8E6715EF-FD78-404E-8349-DA1375662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0"/>
            <a:ext cx="323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F06464"/>
                </a:solidFill>
              </a:defRPr>
            </a:pPr>
            <a:r>
              <a:rPr sz="1350" b="0">
                <a:solidFill>
                  <a:srgbClr val="F06464"/>
                </a:solidFill>
              </a:rPr>
              <a:t>首轮：扫描过强 / 构筑区偏空</a:t>
            </a:r>
          </a:p>
        </p:txBody>
      </p:sp>
      <p:sp>
        <p:nvSpPr>
          <p:cNvPr id="22" name="ai-after-label">
            <a:extLst xmlns:a="http://schemas.openxmlformats.org/drawingml/2006/main">
              <a:ext uri="{FF2B5EF4-FFF2-40B4-BE49-F238E27FC236}">
                <a16:creationId xmlns:a16="http://schemas.microsoft.com/office/drawing/2014/main" id="{D0B15752-FDE4-4F9C-A409-B3E6B5B85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4762500"/>
            <a:ext cx="323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74D99F"/>
                </a:solidFill>
              </a:defRPr>
            </a:pPr>
            <a:r>
              <a:rPr sz="1350" b="0">
                <a:solidFill>
                  <a:srgbClr val="74D99F"/>
                </a:solidFill>
              </a:rPr>
              <a:t>回修：单扫描线 / 增长信息补齐</a:t>
            </a:r>
          </a:p>
        </p:txBody>
      </p:sp>
      <p:sp>
        <p:nvSpPr>
          <p:cNvPr id="23" name="ai-critical-title">
            <a:extLst xmlns:a="http://schemas.openxmlformats.org/drawingml/2006/main">
              <a:ext uri="{FF2B5EF4-FFF2-40B4-BE49-F238E27FC236}">
                <a16:creationId xmlns:a16="http://schemas.microsoft.com/office/drawing/2014/main" id="{41C513DF-870E-4B60-90B6-A23C32458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533650"/>
            <a:ext cx="3638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F0B34A"/>
                </a:solidFill>
              </a:defRPr>
            </a:pPr>
            <a:r>
              <a:rPr sz="1950" b="1">
                <a:solidFill>
                  <a:srgbClr val="F0B34A"/>
                </a:solidFill>
              </a:rPr>
              <a:t>三个关键的人类判断</a:t>
            </a:r>
          </a:p>
        </p:txBody>
      </p:sp>
      <p:sp>
        <p:nvSpPr>
          <p:cNvPr id="24" name="decision-mark-0">
            <a:extLst xmlns:a="http://schemas.openxmlformats.org/drawingml/2006/main">
              <a:ext uri="{FF2B5EF4-FFF2-40B4-BE49-F238E27FC236}">
                <a16:creationId xmlns:a16="http://schemas.microsoft.com/office/drawing/2014/main" id="{2788AA85-0180-4DD5-AECD-4A31C22C0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076575"/>
            <a:ext cx="762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3D8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decision-0">
            <a:extLst xmlns:a="http://schemas.openxmlformats.org/drawingml/2006/main">
              <a:ext uri="{FF2B5EF4-FFF2-40B4-BE49-F238E27FC236}">
                <a16:creationId xmlns:a16="http://schemas.microsoft.com/office/drawing/2014/main" id="{71190C49-96CC-4FBA-937D-804AC1432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028950"/>
            <a:ext cx="3333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F5F2EA"/>
                </a:solidFill>
              </a:defRPr>
            </a:pPr>
            <a:r>
              <a:rPr sz="1425" b="0">
                <a:solidFill>
                  <a:srgbClr val="F5F2EA"/>
                </a:solidFill>
              </a:rPr>
              <a:t>否决“另写预演规则”</a:t>
            </a:r>
          </a:p>
          <a:p xmlns:a="http://schemas.openxmlformats.org/drawingml/2006/main">
            <a:pPr algn="l">
              <a:defRPr sz="1425" b="0">
                <a:solidFill>
                  <a:srgbClr val="F5F2EA"/>
                </a:solidFill>
              </a:defRPr>
            </a:pPr>
            <a:r>
              <a:rPr sz="1425" b="0">
                <a:solidFill>
                  <a:srgbClr val="F5F2EA"/>
                </a:solidFill>
              </a:rPr>
              <a:t>→ Preview / Execute 统一 simulate_turn</a:t>
            </a:r>
          </a:p>
        </p:txBody>
      </p:sp>
      <p:sp>
        <p:nvSpPr>
          <p:cNvPr id="26" name="decision-mark-1">
            <a:extLst xmlns:a="http://schemas.openxmlformats.org/drawingml/2006/main">
              <a:ext uri="{FF2B5EF4-FFF2-40B4-BE49-F238E27FC236}">
                <a16:creationId xmlns:a16="http://schemas.microsoft.com/office/drawing/2014/main" id="{0FFFF284-B76F-4DF2-9531-FA6210DBC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952875"/>
            <a:ext cx="762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67C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decision-1">
            <a:extLst xmlns:a="http://schemas.openxmlformats.org/drawingml/2006/main">
              <a:ext uri="{FF2B5EF4-FFF2-40B4-BE49-F238E27FC236}">
                <a16:creationId xmlns:a16="http://schemas.microsoft.com/office/drawing/2014/main" id="{84FEA91A-47D5-4627-8486-249646413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905250"/>
            <a:ext cx="3333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F5F2EA"/>
                </a:solidFill>
              </a:defRPr>
            </a:pPr>
            <a:r>
              <a:rPr sz="1425" b="0">
                <a:solidFill>
                  <a:srgbClr val="F5F2EA"/>
                </a:solidFill>
              </a:rPr>
              <a:t>不相信“代码改完即完成”</a:t>
            </a:r>
          </a:p>
          <a:p xmlns:a="http://schemas.openxmlformats.org/drawingml/2006/main">
            <a:pPr algn="l">
              <a:defRPr sz="1425" b="0">
                <a:solidFill>
                  <a:srgbClr val="F5F2EA"/>
                </a:solidFill>
              </a:defRPr>
            </a:pPr>
            <a:r>
              <a:rPr sz="1425" b="0">
                <a:solidFill>
                  <a:srgbClr val="F5F2EA"/>
                </a:solidFill>
              </a:rPr>
              <a:t>→ 六状态截图审查后再 Smoke</a:t>
            </a:r>
          </a:p>
        </p:txBody>
      </p:sp>
      <p:sp>
        <p:nvSpPr>
          <p:cNvPr id="28" name="decision-mark-2">
            <a:extLst xmlns:a="http://schemas.openxmlformats.org/drawingml/2006/main">
              <a:ext uri="{FF2B5EF4-FFF2-40B4-BE49-F238E27FC236}">
                <a16:creationId xmlns:a16="http://schemas.microsoft.com/office/drawing/2014/main" id="{1A34BF1F-67C0-47B8-9892-8024432F4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4829175"/>
            <a:ext cx="762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4D99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decision-2">
            <a:extLst xmlns:a="http://schemas.openxmlformats.org/drawingml/2006/main">
              <a:ext uri="{FF2B5EF4-FFF2-40B4-BE49-F238E27FC236}">
                <a16:creationId xmlns:a16="http://schemas.microsoft.com/office/drawing/2014/main" id="{B38D1479-24A4-47A9-BBC3-E1B177EAF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4781550"/>
            <a:ext cx="3333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F5F2EA"/>
                </a:solidFill>
              </a:defRPr>
            </a:pPr>
            <a:r>
              <a:rPr sz="1425" b="0">
                <a:solidFill>
                  <a:srgbClr val="F5F2EA"/>
                </a:solidFill>
              </a:rPr>
              <a:t>盲测数值意见相互矛盾</a:t>
            </a:r>
          </a:p>
          <a:p xmlns:a="http://schemas.openxmlformats.org/drawingml/2006/main">
            <a:pPr algn="l">
              <a:defRPr sz="1425" b="0">
                <a:solidFill>
                  <a:srgbClr val="F5F2EA"/>
                </a:solidFill>
              </a:defRPr>
            </a:pPr>
            <a:r>
              <a:rPr sz="1425" b="0">
                <a:solidFill>
                  <a:srgbClr val="F5F2EA"/>
                </a:solidFill>
              </a:rPr>
              <a:t>→ 不冒险改平衡，只修共性可读性</a:t>
            </a:r>
          </a:p>
        </p:txBody>
      </p:sp>
      <p:sp>
        <p:nvSpPr>
          <p:cNvPr id="30" name="ai-roles">
            <a:extLst xmlns:a="http://schemas.openxmlformats.org/drawingml/2006/main">
              <a:ext uri="{FF2B5EF4-FFF2-40B4-BE49-F238E27FC236}">
                <a16:creationId xmlns:a16="http://schemas.microsoft.com/office/drawing/2014/main" id="{F7547E4C-6BB9-4B30-B8EB-798BB7FB3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429250"/>
            <a:ext cx="1112520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121A1F"/>
          </a:solidFill>
          <a:ln xmlns:a="http://schemas.openxmlformats.org/drawingml/2006/main" w="9525">
            <a:solidFill>
              <a:srgbClr val="34444B"/>
            </a:solidFill>
            <a:prstDash val="solid"/>
          </a:ln>
        </p:spPr>
      </p:sp>
      <p:sp>
        <p:nvSpPr>
          <p:cNvPr id="31" name="ai-role-ai">
            <a:extLst xmlns:a="http://schemas.openxmlformats.org/drawingml/2006/main">
              <a:ext uri="{FF2B5EF4-FFF2-40B4-BE49-F238E27FC236}">
                <a16:creationId xmlns:a16="http://schemas.microsoft.com/office/drawing/2014/main" id="{0813B49C-CBEA-4436-94D9-32C3774CE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581650"/>
            <a:ext cx="5048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3D8E5"/>
                </a:solidFill>
              </a:defRPr>
            </a:pPr>
            <a:r>
              <a:rPr sz="1500" b="0">
                <a:solidFill>
                  <a:srgbClr val="53D8E5"/>
                </a:solidFill>
              </a:rPr>
              <a:t>AI：方案比较、代码辅助、测试生成、视觉审查、文档整理</a:t>
            </a:r>
          </a:p>
        </p:txBody>
      </p:sp>
      <p:sp>
        <p:nvSpPr>
          <p:cNvPr id="32" name="ai-role-human">
            <a:extLst xmlns:a="http://schemas.openxmlformats.org/drawingml/2006/main">
              <a:ext uri="{FF2B5EF4-FFF2-40B4-BE49-F238E27FC236}">
                <a16:creationId xmlns:a16="http://schemas.microsoft.com/office/drawing/2014/main" id="{F5574998-3B15-40BC-9382-B9864FF1F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5581650"/>
            <a:ext cx="5334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F0B34A"/>
                </a:solidFill>
              </a:defRPr>
            </a:pPr>
            <a:r>
              <a:rPr sz="1500" b="0">
                <a:solidFill>
                  <a:srgbClr val="F0B34A"/>
                </a:solidFill>
              </a:rPr>
              <a:t>人：冻结方向、运行验证、版权/风险把关、否决错误、现场验收</a:t>
            </a:r>
          </a:p>
        </p:txBody>
      </p:sp>
    </p:spTree>
    <p:extLst>
      <p:ext uri="{BB962C8B-B14F-4D97-AF65-F5344CB8AC3E}">
        <p14:creationId xmlns:p14="http://schemas.microsoft.com/office/powerpoint/2010/main" val="157344447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80D1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section-7">
            <a:extLst xmlns:a="http://schemas.openxmlformats.org/drawingml/2006/main">
              <a:ext uri="{FF2B5EF4-FFF2-40B4-BE49-F238E27FC236}">
                <a16:creationId xmlns:a16="http://schemas.microsoft.com/office/drawing/2014/main" id="{1B6991DB-8BED-47E8-BAE0-267477408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0B34A"/>
                </a:solidFill>
              </a:defRPr>
            </a:pPr>
            <a:r>
              <a:rPr sz="1200" b="1">
                <a:solidFill>
                  <a:srgbClr val="F0B34A"/>
                </a:solidFill>
              </a:rPr>
              <a:t>06 / 验收证据</a:t>
            </a:r>
          </a:p>
        </p:txBody>
      </p:sp>
      <p:sp>
        <p:nvSpPr>
          <p:cNvPr id="2" name="title-7">
            <a:extLst xmlns:a="http://schemas.openxmlformats.org/drawingml/2006/main">
              <a:ext uri="{FF2B5EF4-FFF2-40B4-BE49-F238E27FC236}">
                <a16:creationId xmlns:a16="http://schemas.microsoft.com/office/drawing/2014/main" id="{54771C78-BE23-4D89-B5D4-4FB659D3D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09600"/>
            <a:ext cx="111252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F5F2EA"/>
                </a:solidFill>
              </a:defRPr>
            </a:pPr>
            <a:r>
              <a:rPr sz="3600" b="1">
                <a:solidFill>
                  <a:srgbClr val="F5F2EA"/>
                </a:solidFill>
              </a:rPr>
              <a:t>终验结论：创新可见、流程跑通、交付可复现</a:t>
            </a:r>
          </a:p>
        </p:txBody>
      </p:sp>
      <p:sp>
        <p:nvSpPr>
          <p:cNvPr id="3" name="rule-7">
            <a:extLst xmlns:a="http://schemas.openxmlformats.org/drawingml/2006/main">
              <a:ext uri="{FF2B5EF4-FFF2-40B4-BE49-F238E27FC236}">
                <a16:creationId xmlns:a16="http://schemas.microsoft.com/office/drawing/2014/main" id="{1E09CA66-0443-4E0D-AF2D-CAFFF035C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23975"/>
            <a:ext cx="11125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44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age-7">
            <a:extLst xmlns:a="http://schemas.openxmlformats.org/drawingml/2006/main">
              <a:ext uri="{FF2B5EF4-FFF2-40B4-BE49-F238E27FC236}">
                <a16:creationId xmlns:a16="http://schemas.microsoft.com/office/drawing/2014/main" id="{3F1F5D49-6503-4DB9-BCEB-3FF97716B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96050"/>
            <a:ext cx="57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9BA8AA"/>
                </a:solidFill>
              </a:defRPr>
            </a:pPr>
            <a:r>
              <a:rPr sz="1200" b="0">
                <a:solidFill>
                  <a:srgbClr val="9BA8AA"/>
                </a:solidFill>
              </a:rPr>
              <a:t>07</a:t>
            </a:r>
          </a:p>
        </p:txBody>
      </p:sp>
      <p:sp>
        <p:nvSpPr>
          <p:cNvPr id="5" name="evidence-lead">
            <a:extLst xmlns:a="http://schemas.openxmlformats.org/drawingml/2006/main">
              <a:ext uri="{FF2B5EF4-FFF2-40B4-BE49-F238E27FC236}">
                <a16:creationId xmlns:a16="http://schemas.microsoft.com/office/drawing/2014/main" id="{D6CE4EA2-AD2C-418A-A20E-10CB22FC3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81150"/>
            <a:ext cx="11125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F5F2EA"/>
                </a:solidFill>
              </a:defRPr>
            </a:pPr>
            <a:r>
              <a:rPr sz="1875" b="0">
                <a:solidFill>
                  <a:srgbClr val="F5F2EA"/>
                </a:solidFill>
              </a:rPr>
              <a:t>项目证据覆盖自动化、完整路径、真人盲测与发布包，而不是只展示代码截图。</a:t>
            </a:r>
          </a:p>
        </p:txBody>
      </p:sp>
      <p:sp>
        <p:nvSpPr>
          <p:cNvPr id="6" name="metric-bg-56">
            <a:extLst xmlns:a="http://schemas.openxmlformats.org/drawingml/2006/main">
              <a:ext uri="{FF2B5EF4-FFF2-40B4-BE49-F238E27FC236}">
                <a16:creationId xmlns:a16="http://schemas.microsoft.com/office/drawing/2014/main" id="{EE136545-2575-4D82-A60C-4E196A09E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048000"/>
            <a:ext cx="3276600" cy="247650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121A1F"/>
          </a:solidFill>
          <a:ln xmlns:a="http://schemas.openxmlformats.org/drawingml/2006/main" w="19050">
            <a:solidFill>
              <a:srgbClr val="34444B"/>
            </a:solidFill>
            <a:prstDash val="solid"/>
          </a:ln>
        </p:spPr>
      </p:sp>
      <p:sp>
        <p:nvSpPr>
          <p:cNvPr id="7" name="metric-accent-56">
            <a:extLst xmlns:a="http://schemas.openxmlformats.org/drawingml/2006/main">
              <a:ext uri="{FF2B5EF4-FFF2-40B4-BE49-F238E27FC236}">
                <a16:creationId xmlns:a16="http://schemas.microsoft.com/office/drawing/2014/main" id="{6C69354D-973B-4D9B-9952-CD154F75F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048000"/>
            <a:ext cx="7620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3D8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metric-value-56">
            <a:extLst xmlns:a="http://schemas.openxmlformats.org/drawingml/2006/main">
              <a:ext uri="{FF2B5EF4-FFF2-40B4-BE49-F238E27FC236}">
                <a16:creationId xmlns:a16="http://schemas.microsoft.com/office/drawing/2014/main" id="{9432CF67-1200-4008-AD3B-997D328FA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333750"/>
            <a:ext cx="27622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5400" b="1">
                <a:solidFill>
                  <a:srgbClr val="53D8E5"/>
                </a:solidFill>
              </a:defRPr>
            </a:pPr>
            <a:r>
              <a:rPr sz="5400" b="1">
                <a:solidFill>
                  <a:srgbClr val="53D8E5"/>
                </a:solidFill>
              </a:rPr>
              <a:t>131</a:t>
            </a:r>
          </a:p>
        </p:txBody>
      </p:sp>
      <p:sp>
        <p:nvSpPr>
          <p:cNvPr id="9" name="metric-label-56">
            <a:extLst xmlns:a="http://schemas.openxmlformats.org/drawingml/2006/main">
              <a:ext uri="{FF2B5EF4-FFF2-40B4-BE49-F238E27FC236}">
                <a16:creationId xmlns:a16="http://schemas.microsoft.com/office/drawing/2014/main" id="{B98BDCE0-8FDA-4BA0-A174-B156DCB06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524375"/>
            <a:ext cx="2762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F5F2EA"/>
                </a:solidFill>
              </a:defRPr>
            </a:pPr>
            <a:r>
              <a:rPr sz="1725" b="0">
                <a:solidFill>
                  <a:srgbClr val="F5F2EA"/>
                </a:solidFill>
              </a:rPr>
              <a:t>项自动化测试全部通过</a:t>
            </a:r>
          </a:p>
          <a:p xmlns:a="http://schemas.openxmlformats.org/drawingml/2006/main">
            <a:pPr algn="l">
              <a:defRPr sz="1725" b="0">
                <a:solidFill>
                  <a:srgbClr val="F5F2EA"/>
                </a:solidFill>
              </a:defRPr>
            </a:pPr>
            <a:r>
              <a:rPr sz="1725" b="0">
                <a:solidFill>
                  <a:srgbClr val="F5F2EA"/>
                </a:solidFill>
              </a:rPr>
              <a:t>覆盖模拟、AI、地图、UI 与双关</a:t>
            </a:r>
          </a:p>
        </p:txBody>
      </p:sp>
      <p:sp>
        <p:nvSpPr>
          <p:cNvPr id="10" name="metric-bg-468">
            <a:extLst xmlns:a="http://schemas.openxmlformats.org/drawingml/2006/main">
              <a:ext uri="{FF2B5EF4-FFF2-40B4-BE49-F238E27FC236}">
                <a16:creationId xmlns:a16="http://schemas.microsoft.com/office/drawing/2014/main" id="{30B748D5-4C06-4C84-9454-D78829A4A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3048000"/>
            <a:ext cx="3276600" cy="247650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121A1F"/>
          </a:solidFill>
          <a:ln xmlns:a="http://schemas.openxmlformats.org/drawingml/2006/main" w="19050">
            <a:solidFill>
              <a:srgbClr val="34444B"/>
            </a:solidFill>
            <a:prstDash val="solid"/>
          </a:ln>
        </p:spPr>
      </p:sp>
      <p:sp>
        <p:nvSpPr>
          <p:cNvPr id="11" name="metric-accent-468">
            <a:extLst xmlns:a="http://schemas.openxmlformats.org/drawingml/2006/main">
              <a:ext uri="{FF2B5EF4-FFF2-40B4-BE49-F238E27FC236}">
                <a16:creationId xmlns:a16="http://schemas.microsoft.com/office/drawing/2014/main" id="{F35E34F0-EBA4-4ACC-B82F-97590F13E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3048000"/>
            <a:ext cx="7620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4D99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metric-value-468">
            <a:extLst xmlns:a="http://schemas.openxmlformats.org/drawingml/2006/main">
              <a:ext uri="{FF2B5EF4-FFF2-40B4-BE49-F238E27FC236}">
                <a16:creationId xmlns:a16="http://schemas.microsoft.com/office/drawing/2014/main" id="{1A3E05AC-C4A1-499A-A3A9-1344BD4B8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3333750"/>
            <a:ext cx="27622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5400" b="1">
                <a:solidFill>
                  <a:srgbClr val="74D99F"/>
                </a:solidFill>
              </a:defRPr>
            </a:pPr>
            <a:r>
              <a:rPr sz="5400" b="1">
                <a:solidFill>
                  <a:srgbClr val="74D99F"/>
                </a:solidFill>
              </a:rPr>
              <a:t>100%</a:t>
            </a:r>
          </a:p>
        </p:txBody>
      </p:sp>
      <p:sp>
        <p:nvSpPr>
          <p:cNvPr id="13" name="metric-label-468">
            <a:extLst xmlns:a="http://schemas.openxmlformats.org/drawingml/2006/main">
              <a:ext uri="{FF2B5EF4-FFF2-40B4-BE49-F238E27FC236}">
                <a16:creationId xmlns:a16="http://schemas.microsoft.com/office/drawing/2014/main" id="{10CA2CE8-03C1-4E6C-B5DC-41F3028DA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4524375"/>
            <a:ext cx="2762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F5F2EA"/>
                </a:solidFill>
              </a:defRPr>
            </a:pPr>
            <a:r>
              <a:rPr sz="1725" b="0">
                <a:solidFill>
                  <a:srgbClr val="F5F2EA"/>
                </a:solidFill>
              </a:rPr>
              <a:t>3/3 新玩家理解 Preview 与 Reverse</a:t>
            </a:r>
          </a:p>
        </p:txBody>
      </p:sp>
      <p:sp>
        <p:nvSpPr>
          <p:cNvPr id="14" name="metric-bg-880">
            <a:extLst xmlns:a="http://schemas.openxmlformats.org/drawingml/2006/main">
              <a:ext uri="{FF2B5EF4-FFF2-40B4-BE49-F238E27FC236}">
                <a16:creationId xmlns:a16="http://schemas.microsoft.com/office/drawing/2014/main" id="{5C0EA669-7D00-4451-92DD-A0B2035BF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048000"/>
            <a:ext cx="3276600" cy="247650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121A1F"/>
          </a:solidFill>
          <a:ln xmlns:a="http://schemas.openxmlformats.org/drawingml/2006/main" w="19050">
            <a:solidFill>
              <a:srgbClr val="34444B"/>
            </a:solidFill>
            <a:prstDash val="solid"/>
          </a:ln>
        </p:spPr>
      </p:sp>
      <p:sp>
        <p:nvSpPr>
          <p:cNvPr id="15" name="metric-accent-880">
            <a:extLst xmlns:a="http://schemas.openxmlformats.org/drawingml/2006/main">
              <a:ext uri="{FF2B5EF4-FFF2-40B4-BE49-F238E27FC236}">
                <a16:creationId xmlns:a16="http://schemas.microsoft.com/office/drawing/2014/main" id="{7729BEF4-7BB0-4ABF-B60E-EB961B6B8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048000"/>
            <a:ext cx="7620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B3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metric-value-880">
            <a:extLst xmlns:a="http://schemas.openxmlformats.org/drawingml/2006/main">
              <a:ext uri="{FF2B5EF4-FFF2-40B4-BE49-F238E27FC236}">
                <a16:creationId xmlns:a16="http://schemas.microsoft.com/office/drawing/2014/main" id="{7309DEDA-0CF0-4D29-AB46-F1CB36F6B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3333750"/>
            <a:ext cx="27622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5400" b="1">
                <a:solidFill>
                  <a:srgbClr val="F0B34A"/>
                </a:solidFill>
              </a:defRPr>
            </a:pPr>
            <a:r>
              <a:rPr sz="5400" b="1">
                <a:solidFill>
                  <a:srgbClr val="F0B34A"/>
                </a:solidFill>
              </a:rPr>
              <a:t>2/3</a:t>
            </a:r>
          </a:p>
        </p:txBody>
      </p:sp>
      <p:sp>
        <p:nvSpPr>
          <p:cNvPr id="17" name="metric-label-880">
            <a:extLst xmlns:a="http://schemas.openxmlformats.org/drawingml/2006/main">
              <a:ext uri="{FF2B5EF4-FFF2-40B4-BE49-F238E27FC236}">
                <a16:creationId xmlns:a16="http://schemas.microsoft.com/office/drawing/2014/main" id="{FF756E65-69F2-4AB4-93B7-289C2A7B8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4524375"/>
            <a:ext cx="2762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F5F2EA"/>
                </a:solidFill>
              </a:defRPr>
            </a:pPr>
            <a:r>
              <a:rPr sz="1725" b="0">
                <a:solidFill>
                  <a:srgbClr val="F5F2EA"/>
                </a:solidFill>
              </a:rPr>
              <a:t>新玩家无指导通关</a:t>
            </a:r>
          </a:p>
          <a:p xmlns:a="http://schemas.openxmlformats.org/drawingml/2006/main">
            <a:pPr algn="l">
              <a:defRPr sz="1725" b="0">
                <a:solidFill>
                  <a:srgbClr val="F5F2EA"/>
                </a:solidFill>
              </a:defRPr>
            </a:pPr>
            <a:r>
              <a:rPr sz="1725" b="0">
                <a:solidFill>
                  <a:srgbClr val="F5F2EA"/>
                </a:solidFill>
              </a:rPr>
              <a:t>观察者介入 0/3、无阻断问题</a:t>
            </a:r>
          </a:p>
        </p:txBody>
      </p:sp>
      <p:sp>
        <p:nvSpPr>
          <p:cNvPr id="18" name="delivery-strip">
            <a:extLst xmlns:a="http://schemas.openxmlformats.org/drawingml/2006/main">
              <a:ext uri="{FF2B5EF4-FFF2-40B4-BE49-F238E27FC236}">
                <a16:creationId xmlns:a16="http://schemas.microsoft.com/office/drawing/2014/main" id="{E5C00DAA-8F38-4821-A808-7E19688C7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810250"/>
            <a:ext cx="111252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243138"/>
          </a:solidFill>
          <a:ln xmlns:a="http://schemas.openxmlformats.org/drawingml/2006/main" w="9525">
            <a:solidFill>
              <a:srgbClr val="34444B"/>
            </a:solidFill>
            <a:prstDash val="solid"/>
          </a:ln>
        </p:spPr>
      </p:sp>
      <p:sp>
        <p:nvSpPr>
          <p:cNvPr id="19" name="delivery-text">
            <a:extLst xmlns:a="http://schemas.openxmlformats.org/drawingml/2006/main">
              <a:ext uri="{FF2B5EF4-FFF2-40B4-BE49-F238E27FC236}">
                <a16:creationId xmlns:a16="http://schemas.microsoft.com/office/drawing/2014/main" id="{5DD1CFD3-F593-42DD-889A-BFEFF8FC8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972175"/>
            <a:ext cx="10744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5F2EA"/>
                </a:solidFill>
              </a:defRPr>
            </a:pPr>
            <a:r>
              <a:rPr sz="1575" b="1">
                <a:solidFill>
                  <a:srgbClr val="F5F2EA"/>
                </a:solidFill>
              </a:rPr>
              <a:t>PyInstaller onedir 已交付 · Action / Showcase 两条发布版 Smoke 退出码 0 · 固定 Seed 可复现演示</a:t>
            </a:r>
          </a:p>
        </p:txBody>
      </p:sp>
      <p:sp>
        <p:nvSpPr>
          <p:cNvPr id="20" name="close-line">
            <a:extLst xmlns:a="http://schemas.openxmlformats.org/drawingml/2006/main">
              <a:ext uri="{FF2B5EF4-FFF2-40B4-BE49-F238E27FC236}">
                <a16:creationId xmlns:a16="http://schemas.microsoft.com/office/drawing/2014/main" id="{E26DF85D-5518-4CD0-A36F-14D35DC52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419350"/>
            <a:ext cx="11125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A67CFF"/>
                </a:solidFill>
              </a:defRPr>
            </a:pPr>
            <a:r>
              <a:rPr sz="2325" b="1">
                <a:solidFill>
                  <a:srgbClr val="A67CFF"/>
                </a:solidFill>
              </a:rPr>
              <a:t>现在请看现场演示：同样三招，顺序如何改写结局。</a:t>
            </a:r>
          </a:p>
        </p:txBody>
      </p:sp>
    </p:spTree>
    <p:extLst>
      <p:ext uri="{BB962C8B-B14F-4D97-AF65-F5344CB8AC3E}">
        <p14:creationId xmlns:p14="http://schemas.microsoft.com/office/powerpoint/2010/main" val="29783404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2026-09-02T08:44:51.2370000Z</dcterms:created>
  <dcterms:modified xsi:type="dcterms:W3CDTF">2026-09-02T08:44:51.2370000Z</dcterms:modified>
</coreProperties>
</file>