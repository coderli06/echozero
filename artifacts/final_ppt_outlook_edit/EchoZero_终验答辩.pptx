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727594acf04df6" /><Relationship Type="http://schemas.openxmlformats.org/officeDocument/2006/relationships/extended-properties" Target="/docProps/app.xml" Id="R3daafdf3edfc4440" /><Relationship Type="http://schemas.openxmlformats.org/officeDocument/2006/relationships/officeDocument" Target="/ppt/presentation.xml" Id="R23bf76989cf94f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5f1104c7354215"/>
  </p:sldMasterIdLst>
  <p:notesMasterIdLst>
    <p:notesMasterId xmlns:r="http://schemas.openxmlformats.org/officeDocument/2006/relationships" r:id="R36e2a9a217f047e1"/>
  </p:notesMasterIdLst>
  <p:sldIdLst>
    <p:sldId xmlns:r="http://schemas.openxmlformats.org/officeDocument/2006/relationships" id="256" r:id="R40c51e6f9d574a01"/>
    <p:sldId xmlns:r="http://schemas.openxmlformats.org/officeDocument/2006/relationships" id="257" r:id="Re7d5b336f26c4113"/>
    <p:sldId xmlns:r="http://schemas.openxmlformats.org/officeDocument/2006/relationships" id="258" r:id="R6574ab8233b9420a"/>
    <p:sldId xmlns:r="http://schemas.openxmlformats.org/officeDocument/2006/relationships" id="259" r:id="R1039e5a031f847a8"/>
    <p:sldId xmlns:r="http://schemas.openxmlformats.org/officeDocument/2006/relationships" id="260" r:id="R8843612cfdc0419a"/>
    <p:sldId xmlns:r="http://schemas.openxmlformats.org/officeDocument/2006/relationships" id="261" r:id="R0026072949e04c97"/>
    <p:sldId xmlns:r="http://schemas.openxmlformats.org/officeDocument/2006/relationships" id="262" r:id="R8e337904077148fe"/>
    <p:sldId xmlns:r="http://schemas.openxmlformats.org/officeDocument/2006/relationships" id="263" r:id="R738db481f0a1446a"/>
    <p:sldId xmlns:r="http://schemas.openxmlformats.org/officeDocument/2006/relationships" id="264" r:id="R5aed8a544fc24329"/>
    <p:sldId xmlns:r="http://schemas.openxmlformats.org/officeDocument/2006/relationships" id="265" r:id="Rdc37c10fe8c64d72"/>
    <p:sldId xmlns:r="http://schemas.openxmlformats.org/officeDocument/2006/relationships" id="266" r:id="R488b6177b1fc4b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6bcf5a43c4444" /><Relationship Type="http://schemas.openxmlformats.org/officeDocument/2006/relationships/slideMaster" Target="/ppt/slideMasters/slideMaster1.xml" Id="R595f1104c7354215" /><Relationship Type="http://schemas.openxmlformats.org/officeDocument/2006/relationships/notesMaster" Target="/ppt/notesMasters/notesMaster1.xml" Id="R36e2a9a217f047e1" /><Relationship Type="http://schemas.openxmlformats.org/officeDocument/2006/relationships/presProps" Target="/ppt/presProps.xml" Id="R8f1427609c38436c" /><Relationship Type="http://schemas.openxmlformats.org/officeDocument/2006/relationships/viewProps" Target="/ppt/viewProps.xml" Id="Rb831a0ed80114869" /><Relationship Type="http://schemas.openxmlformats.org/officeDocument/2006/relationships/tableStyles" Target="/ppt/tableStyles.xml" Id="R4d23d70504f24ed2" /><Relationship Type="http://schemas.openxmlformats.org/officeDocument/2006/relationships/slide" Target="/ppt/slides/slide1.xml" Id="R40c51e6f9d574a01" /><Relationship Type="http://schemas.openxmlformats.org/officeDocument/2006/relationships/slide" Target="/ppt/slides/slide2.xml" Id="Re7d5b336f26c4113" /><Relationship Type="http://schemas.openxmlformats.org/officeDocument/2006/relationships/slide" Target="/ppt/slides/slide3.xml" Id="R6574ab8233b9420a" /><Relationship Type="http://schemas.openxmlformats.org/officeDocument/2006/relationships/slide" Target="/ppt/slides/slide4.xml" Id="R1039e5a031f847a8" /><Relationship Type="http://schemas.openxmlformats.org/officeDocument/2006/relationships/slide" Target="/ppt/slides/slide5.xml" Id="R8843612cfdc0419a" /><Relationship Type="http://schemas.openxmlformats.org/officeDocument/2006/relationships/slide" Target="/ppt/slides/slide6.xml" Id="R0026072949e04c97" /><Relationship Type="http://schemas.openxmlformats.org/officeDocument/2006/relationships/slide" Target="/ppt/slides/slide7.xml" Id="R8e337904077148fe" /><Relationship Type="http://schemas.openxmlformats.org/officeDocument/2006/relationships/slide" Target="/ppt/slides/slide8.xml" Id="R738db481f0a1446a" /><Relationship Type="http://schemas.openxmlformats.org/officeDocument/2006/relationships/slide" Target="/ppt/slides/slide9.xml" Id="R5aed8a544fc24329" /><Relationship Type="http://schemas.openxmlformats.org/officeDocument/2006/relationships/slide" Target="/ppt/slides/slide10.xml" Id="Rdc37c10fe8c64d72" /><Relationship Type="http://schemas.openxmlformats.org/officeDocument/2006/relationships/slide" Target="/ppt/slides/slide11.xml" Id="R488b6177b1fc4b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f352a9762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f3e872283c4623" /><Relationship Type="http://schemas.openxmlformats.org/officeDocument/2006/relationships/notesMaster" Target="/ppt/notesMasters/notesMaster1.xml" Id="R67e0f7bef25148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94ec3942ad47c4" /><Relationship Type="http://schemas.openxmlformats.org/officeDocument/2006/relationships/notesMaster" Target="/ppt/notesMasters/notesMaster1.xml" Id="R16d2d8ac0e014a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34949ce5494310" /><Relationship Type="http://schemas.openxmlformats.org/officeDocument/2006/relationships/notesMaster" Target="/ppt/notesMasters/notesMaster1.xml" Id="R7f040d146d674c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a7d959bed4275" /><Relationship Type="http://schemas.openxmlformats.org/officeDocument/2006/relationships/notesMaster" Target="/ppt/notesMasters/notesMaster1.xml" Id="R248a4b619cfe41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ddae00e7664211" /><Relationship Type="http://schemas.openxmlformats.org/officeDocument/2006/relationships/notesMaster" Target="/ppt/notesMasters/notesMaster1.xml" Id="Rd6dab1ab7d0a49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d0dcb7f043420f" /><Relationship Type="http://schemas.openxmlformats.org/officeDocument/2006/relationships/notesMaster" Target="/ppt/notesMasters/notesMaster1.xml" Id="Ra0f34ba36138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73e495055547d2" /><Relationship Type="http://schemas.openxmlformats.org/officeDocument/2006/relationships/notesMaster" Target="/ppt/notesMasters/notesMaster1.xml" Id="Rdaa9ee51c5b640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bd5e1b9fc4156" /><Relationship Type="http://schemas.openxmlformats.org/officeDocument/2006/relationships/notesMaster" Target="/ppt/notesMasters/notesMaster1.xml" Id="R66855843911a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7d694236634925" /><Relationship Type="http://schemas.openxmlformats.org/officeDocument/2006/relationships/notesMaster" Target="/ppt/notesMasters/notesMaster1.xml" Id="Rd9e4adfbab1444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08820ed31844aa" /><Relationship Type="http://schemas.openxmlformats.org/officeDocument/2006/relationships/notesMaster" Target="/ppt/notesMasters/notesMaster1.xml" Id="R1c6aff373ddd4b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85671008c14525" /><Relationship Type="http://schemas.openxmlformats.org/officeDocument/2006/relationships/notesMaster" Target="/ppt/notesMasters/notesMaster1.xml" Id="Ra7099ea85bfa46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秒。开场只讲一句：EchoZero 是实时动作 Roguelike，但在危险瞬间可以冻结战局，用三拍顺序改写结果。随后说明今天证明：它可玩、创新清楚、技术可信。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D:/daerxia/程序设计实训/project/artifacts/meowa_ui_qa/06_boss_1280x800.png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秒。按左侧四步讲完整循环，画面只指三个信息：敌人意图、冷却与构筑。强调正式入口不是单场演示：有程序地图、奖励、三场遭遇和 Boss 终局。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D:/daerxia/程序设计实训/project/README.md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D:/daerxia/程序设计实训/project/artifacts/meowa_ui_qa/02_action_1280x800.png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秒。这一页是答辩的核心。先讲敌人意图固定，再读左右两种顺序。重点落在：画面预测和真实执行共用同一个模拟器，所以玩家看到的因果就是之后发生的结果。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D:/daerxia/程序设计实训/project/artifacts/meowa_ui_qa/03_tactical_1280x800.png</a:t>
            </a:r>
          </a:p>
          <a:p xmlns:a="http://schemas.openxmlformats.org/drawingml/2006/main">
            <a:r>
              <a:t>- D:/daerxia/程序设计实训/project/logs/visual_polish/11_causality_rewritten.png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本页适合边讲边演示。先按 Q，看系统给出 7 条候选；把攻击移入前三拍，指出 E3 的血量变化；再把它移出去，战损行立刻消失。最后按 Enter，说明预演数字与真实结果一致。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D:/daerxia/程序设计实训/project/artifacts/tactical_preview_damage/01_enemy_hit.png</a:t>
            </a:r>
          </a:p>
          <a:p xmlns:a="http://schemas.openxmlformats.org/drawingml/2006/main">
            <a:r>
              <a:t>- D:/daerxia/程序设计实训/project/artifacts/tactical_preview_damage/02_no_enemy_hit.png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秒。第一关教稳定顺序，第二关把同一时间轴改为逆序，并用相位锚把空间位置和时间规则绑定。最后用三条 Build 说明成长不是三档攻击力，而是分别奖励空拍、墙面和先后顺序。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D:/daerxia/程序设计实训/project/DEMO_PLAN.md</a:t>
            </a:r>
          </a:p>
          <a:p xmlns:a="http://schemas.openxmlformats.org/drawingml/2006/main">
            <a:r>
              <a:t>- D:/daerxia/程序设计实训/project/logs/visual_polish/12_level1_1920x1080.png</a:t>
            </a:r>
          </a:p>
          <a:p xmlns:a="http://schemas.openxmlformats.org/drawingml/2006/main">
            <a:r>
              <a:t>- D:/daerxia/程序设计实训/project/logs/visual_polish/09_level2_reverse.png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界面部分不用讲设计术语。只说四件事：黄色工业风统一；危险区既有颜色也有编号和斜纹；中文 HUD 直接说明操作；三种分辨率和减弱动态都做过检查。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D:/daerxia/程序设计实训/project/docs/FIGMA_ASEPRITE_UPGRADE.md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D:/daerxia/程序设计实训/project/artifacts/meowa_ui_qa/01_menu_1280x800.png</a:t>
            </a:r>
          </a:p>
          <a:p xmlns:a="http://schemas.openxmlformats.org/drawingml/2006/main">
            <a:r>
              <a:t>- D:/daerxia/程序设计实训/project/artifacts/meowa_ui_qa/06_boss_1280x800.png</a:t>
            </a:r>
          </a:p>
          <a:p xmlns:a="http://schemas.openxmlformats.org/drawingml/2006/main">
            <a:r>
              <a:t>- D:/daerxia/程序设计实训/project/artifacts/meowa_ui_qa/04_reward_1280x800.png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秒。本页必须独立讲。先说协作闭环，再用前后截图证明不是一次生成即交付。三个例子依次对应：架构边界、运行画面验证、面对冲突证据时不盲改。最后明确人机分工。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D:/daerxia/程序设计实训/project/AGENTS.md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D:/daerxia/程序设计实训/project/artifacts/ui_polish_pass1/03_tactical_1280x800.png</a:t>
            </a:r>
          </a:p>
          <a:p xmlns:a="http://schemas.openxmlformats.org/drawingml/2006/main">
            <a:r>
              <a:t>- D:/daerxia/程序设计实训/project/artifacts/meowa_ui_qa/03_tactical_1280x800.png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这一页专门回答评分标准中的批判性思考。不要讲抽象方法，直接讲三个真实例子：拒绝双规则、审图后回修、用输入日志推翻错误猜测。结尾明确 AI 的能力边界。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D:/daerxia/程序设计实训/project/ARCHITECTURE.md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D:/daerxia/程序设计实训/project/docs/FIGMA_MOTION_AUDIT.md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秒。用三个数字收口：146 项测试、预演/逆相理解 100%、2/3 通关且无人介入。补一句发布包和两条启动检查已通过，然后不要说谢谢，直接转入现场演示。可根据现场时间只讲需要的部分。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D:/daerxia/程序设计实训/project/功能测试与初验报告.md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D:/daerxia/程序设计实训/project/答辩预评分报告.md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这一页如实说明项目中的难点。AI 在写代码、补测试和排查问题上很快，但不能代替真实游戏体验。玩法与数值由开发者试玩和真人盲测决定；界面则借助 ui-ux-pro-max、Meowa 与 Figma 多轮升级。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D:/daerxia/程序设计实训/project/TASKS.md</a:t>
            </a:r>
          </a:p>
          <a:p xmlns:a="http://schemas.openxmlformats.org/drawingml/2006/main">
            <a:r>
              <a:t>- D:/daerxia/程序设计实训/project/每日工作日志.md</a:t>
            </a:r>
          </a:p>
          <a:p xmlns:a="http://schemas.openxmlformats.org/drawingml/2006/main">
            <a:r>
              <a:t>- D:/daerxia/程序设计实训/project/docs/blind-tests/盲测汇总.md</a:t>
            </a:r>
          </a:p>
          <a:p xmlns:a="http://schemas.openxmlformats.org/drawingml/2006/main">
            <a:r>
              <a:t>- D:/daerxia/程序设计实训/project/docs/FIGMA_ASEPRITE_UPGRADE.md</a:t>
            </a:r>
          </a:p>
          <a:p xmlns:a="http://schemas.openxmlformats.org/drawingml/2006/main">
            <a:r>
              <a:t>- D:/daerxia/程序设计实训/project/docs/FIGMA_MOTION_AUDIT.md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总结时先肯定当前结果：完整循环、两关、主创新和稳定演示都已经完成。展望只讲两个重点：继续丰富核心玩法，并通过更多真人盲测调整难度与数值平衡。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D:/daerxia/程序设计实训/project/项目配置.md</a:t>
            </a:r>
          </a:p>
          <a:p xmlns:a="http://schemas.openxmlformats.org/drawingml/2006/main">
            <a:r>
              <a:t>- D:/daerxia/程序设计实训/project/ROADMAP.md</a:t>
            </a:r>
          </a:p>
          <a:p xmlns:a="http://schemas.openxmlformats.org/drawingml/2006/main">
            <a:r>
              <a:t>- D:/daerxia/程序设计实训/project/INNOVATION.md</a:t>
            </a:r>
          </a:p>
          <a:p xmlns:a="http://schemas.openxmlformats.org/drawingml/2006/main">
            <a:r>
              <a:t>- 用户本轮提供的展望方向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e960023ec46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3460738b8b4fc5" /><Relationship Type="http://schemas.openxmlformats.org/officeDocument/2006/relationships/slideLayout" Target="/ppt/slideLayouts/slideLayout1.xml" Id="R5284fd28cc364d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4fd28cc364d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43af58d74baf" /><Relationship Type="http://schemas.openxmlformats.org/officeDocument/2006/relationships/image" Target="/ppt/media/image.png" Id="R5e78665cd0864431" /><Relationship Type="http://schemas.openxmlformats.org/officeDocument/2006/relationships/notesSlide" Target="/ppt/notesSlides/notesSlide1.xml" Id="Rf598adf39378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6c8d36fa04f66" /><Relationship Type="http://schemas.openxmlformats.org/officeDocument/2006/relationships/image" Target="/ppt/media/image2.png" Id="R41492b6be8b2423d" /><Relationship Type="http://schemas.openxmlformats.org/officeDocument/2006/relationships/notesSlide" Target="/ppt/notesSlides/notesSlide2.xml" Id="R710c1cd7f20d46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a97b0d5c04148" /><Relationship Type="http://schemas.openxmlformats.org/officeDocument/2006/relationships/image" Target="/ppt/media/image3.png" Id="Rbb6d9509a3eb43d2" /><Relationship Type="http://schemas.openxmlformats.org/officeDocument/2006/relationships/image" Target="/ppt/media/image4.png" Id="R1664e76def624998" /><Relationship Type="http://schemas.openxmlformats.org/officeDocument/2006/relationships/notesSlide" Target="/ppt/notesSlides/notesSlide3.xml" Id="R2bf17588a2ad4d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8a793cb4144b2" /><Relationship Type="http://schemas.openxmlformats.org/officeDocument/2006/relationships/image" Target="/ppt/media/image5.png" Id="R242e35442b3f4e09" /><Relationship Type="http://schemas.openxmlformats.org/officeDocument/2006/relationships/notesSlide" Target="/ppt/notesSlides/notesSlide4.xml" Id="Ra82812c77c9145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132e952df47ae" /><Relationship Type="http://schemas.openxmlformats.org/officeDocument/2006/relationships/image" Target="/ppt/media/image6.png" Id="Rf10e8fb1bc1d484b" /><Relationship Type="http://schemas.openxmlformats.org/officeDocument/2006/relationships/image" Target="/ppt/media/image7.png" Id="Rf9ebe48b712646c5" /><Relationship Type="http://schemas.openxmlformats.org/officeDocument/2006/relationships/notesSlide" Target="/ppt/notesSlides/notesSlide5.xml" Id="Rd616e8883b3c44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1aaaf5c404448" /><Relationship Type="http://schemas.openxmlformats.org/officeDocument/2006/relationships/image" Target="/ppt/media/image8.png" Id="Rddd5a772df0b4ac9" /><Relationship Type="http://schemas.openxmlformats.org/officeDocument/2006/relationships/image" Target="/ppt/media/image.png" Id="R50e12be4b19d4231" /><Relationship Type="http://schemas.openxmlformats.org/officeDocument/2006/relationships/image" Target="/ppt/media/image9.png" Id="R9e935ff284f448e4" /><Relationship Type="http://schemas.openxmlformats.org/officeDocument/2006/relationships/notesSlide" Target="/ppt/notesSlides/notesSlide6.xml" Id="Rf61fa89c84e9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9296f2cde415a" /><Relationship Type="http://schemas.openxmlformats.org/officeDocument/2006/relationships/image" Target="/ppt/media/image10.png" Id="R3e29eb6340bd4aca" /><Relationship Type="http://schemas.openxmlformats.org/officeDocument/2006/relationships/image" Target="/ppt/media/image3.png" Id="Rae9dc9c0679d43ed" /><Relationship Type="http://schemas.openxmlformats.org/officeDocument/2006/relationships/notesSlide" Target="/ppt/notesSlides/notesSlide7.xml" Id="R585b19cfb76b48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33bb3de244dc7" /><Relationship Type="http://schemas.openxmlformats.org/officeDocument/2006/relationships/notesSlide" Target="/ppt/notesSlides/notesSlide8.xml" Id="Ra954b4f90f7340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ce62b115a4f36" /><Relationship Type="http://schemas.openxmlformats.org/officeDocument/2006/relationships/notesSlide" Target="/ppt/notesSlides/notesSlide9.xml" Id="Rd491c8feefde46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8930dac084f9a" /><Relationship Type="http://schemas.openxmlformats.org/officeDocument/2006/relationships/notesSlide" Target="/ppt/notesSlides/notesSlide10.xml" Id="R9180c288a6e343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c85422bc74ee4" /><Relationship Type="http://schemas.openxmlformats.org/officeDocument/2006/relationships/notesSlide" Target="/ppt/notesSlides/notesSlide11.xml" Id="Rfbe7259973f241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8665cd0864431"/>
          <a:srcRect xmlns:a="http://schemas.openxmlformats.org/drawingml/2006/main" l="20920" t="0" r="209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image-divider">
            <a:extLst xmlns:a="http://schemas.openxmlformats.org/drawingml/2006/main">
              <a:ext uri="{FF2B5EF4-FFF2-40B4-BE49-F238E27FC236}">
                <a16:creationId xmlns:a16="http://schemas.microsoft.com/office/drawing/2014/main" id="{B03A1CC3-B691-438C-A4D1-E5D5EC57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left-field">
            <a:extLst xmlns:a="http://schemas.openxmlformats.org/drawingml/2006/main">
              <a:ext uri="{FF2B5EF4-FFF2-40B4-BE49-F238E27FC236}">
                <a16:creationId xmlns:a16="http://schemas.microsoft.com/office/drawing/2014/main" id="{41477441-8CCB-47F2-8ED7-842CD79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6EC4D62-508C-4BAD-B400-666C69E7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B34A"/>
                </a:solidFill>
              </a:defRPr>
            </a:pPr>
            <a:r>
              <a:rPr sz="1350" b="1">
                <a:solidFill>
                  <a:srgbClr val="F0B34A"/>
                </a:solidFill>
              </a:rPr>
              <a:t>PYTHON · PYGAME-CE · 8 DAYS</a:t>
            </a:r>
            <a:endParaRPr sz="1350" b="1">
              <a:solidFill>
                <a:srgbClr val="F0B34A"/>
              </a:solidFill>
            </a:endParaRP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A7619482-5377-433B-AC17-3CE4D23B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4E7C2"/>
                </a:solidFill>
              </a:defRPr>
            </a:pPr>
            <a:r>
              <a:rPr sz="5400" b="1">
                <a:solidFill>
                  <a:srgbClr val="F4E7C2"/>
                </a:solidFill>
              </a:rPr>
              <a:t>ECHO // ZERO</a:t>
            </a:r>
            <a:endParaRPr sz="5400" b="1">
              <a:solidFill>
                <a:srgbClr val="F4E7C2"/>
              </a:solidFill>
            </a:endParaRPr>
          </a:p>
        </p:txBody>
      </p:sp>
      <p:sp>
        <p:nvSpPr>
          <p:cNvPr id="6" name="cover-title-cn">
            <a:extLst xmlns:a="http://schemas.openxmlformats.org/drawingml/2006/main">
              <a:ext uri="{FF2B5EF4-FFF2-40B4-BE49-F238E27FC236}">
                <a16:creationId xmlns:a16="http://schemas.microsoft.com/office/drawing/2014/main" id="{39926615-6D90-4AE6-9690-BC28D239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D9A93D"/>
                </a:solidFill>
              </a:defRPr>
            </a:pPr>
            <a:r>
              <a:rPr sz="3300" b="1">
                <a:solidFill>
                  <a:srgbClr val="D9A93D"/>
                </a:solidFill>
              </a:rPr>
              <a:t>冻结战局，改写因果</a:t>
            </a:r>
            <a:endParaRPr sz="3300" b="1">
              <a:solidFill>
                <a:srgbClr val="D9A93D"/>
              </a:solidFill>
            </a:endParaRPr>
          </a:p>
        </p:txBody>
      </p:sp>
      <p:sp>
        <p:nvSpPr>
          <p:cNvPr id="7" name="cover-sub">
            <a:extLst xmlns:a="http://schemas.openxmlformats.org/drawingml/2006/main">
              <a:ext uri="{FF2B5EF4-FFF2-40B4-BE49-F238E27FC236}">
                <a16:creationId xmlns:a16="http://schemas.microsoft.com/office/drawing/2014/main" id="{65137A21-8F8A-453B-B578-801EF7BA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533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E7C2"/>
                </a:solidFill>
              </a:defRPr>
            </a:pPr>
            <a:r>
              <a:rPr sz="2025" b="0">
                <a:solidFill>
                  <a:srgbClr val="F4E7C2"/>
                </a:solidFill>
              </a:rPr>
              <a:t>动作 Roguelike × 三拍战术因果编排</a:t>
            </a:r>
            <a:endParaRPr sz="20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F4E7C2"/>
                </a:solidFill>
              </a:defRPr>
            </a:pPr>
            <a:r>
              <a:rPr sz="2025" b="0">
                <a:solidFill>
                  <a:srgbClr val="F4E7C2"/>
                </a:solidFill>
              </a:rPr>
              <a:t>两个完整关卡 · 可解释 AI · 可复现验证</a:t>
            </a:r>
            <a:endParaRPr sz="2025" b="0">
              <a:solidFill>
                <a:srgbClr val="F4E7C2"/>
              </a:solidFill>
            </a:endParaRPr>
          </a:p>
        </p:txBody>
      </p:sp>
      <p:sp>
        <p:nvSpPr>
          <p:cNvPr id="8" name="cover-proof-rule">
            <a:extLst xmlns:a="http://schemas.openxmlformats.org/drawingml/2006/main">
              <a:ext uri="{FF2B5EF4-FFF2-40B4-BE49-F238E27FC236}">
                <a16:creationId xmlns:a16="http://schemas.microsoft.com/office/drawing/2014/main" id="{ED40C30F-FE5E-4C3B-88B5-22C47D4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roof">
            <a:extLst xmlns:a="http://schemas.openxmlformats.org/drawingml/2006/main">
              <a:ext uri="{FF2B5EF4-FFF2-40B4-BE49-F238E27FC236}">
                <a16:creationId xmlns:a16="http://schemas.microsoft.com/office/drawing/2014/main" id="{6B6D3968-7545-4E31-8B16-E81EFE1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终验答辩｜核心创新可见、技术可解释、现场可演示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7AD9F6D8-26EA-442C-886C-93FACCE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2026.09</a:t>
            </a:r>
            <a:endParaRPr sz="1200" b="0">
              <a:solidFill>
                <a:srgbClr val="B1A9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67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45A46FB3-417A-4469-AC91-CA1FFB5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01 / 功能完整度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AED9331-E0CC-48FA-A9D6-633F0E12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一局完整的动作 Roguelike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297FCD1-96C6-4EC4-8B62-3209EC7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2263CE4-8BF9-4ED3-A259-2505173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03</a:t>
            </a:r>
            <a:endParaRPr sz="1200" b="0">
              <a:solidFill>
                <a:srgbClr val="B1A98F"/>
              </a:solidFill>
            </a:endParaRPr>
          </a:p>
        </p:txBody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92b6be8b2423d"/>
          <a:srcRect xmlns:a="http://schemas.openxmlformats.org/drawingml/2006/main" l="0" t="4986" r="0" b="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57350"/>
            <a:ext cx="6838950" cy="3848100"/>
          </a:xfrm>
          <a:prstGeom xmlns:a="http://schemas.openxmlformats.org/drawingml/2006/main" prst="roundRect">
            <a:avLst>
              <a:gd name="adj" fmla="val 1980"/>
            </a:avLst>
          </a:prstGeom>
        </p:spPr>
      </p:pic>
      <p:sp>
        <p:nvSpPr>
          <p:cNvPr id="6" name="loop-num-01">
            <a:extLst xmlns:a="http://schemas.openxmlformats.org/drawingml/2006/main">
              <a:ext uri="{FF2B5EF4-FFF2-40B4-BE49-F238E27FC236}">
                <a16:creationId xmlns:a16="http://schemas.microsoft.com/office/drawing/2014/main" id="{010F3234-CA0B-42ED-82A2-0D3D3D5E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01</a:t>
            </a:r>
            <a:endParaRPr sz="1650" b="1">
              <a:solidFill>
                <a:srgbClr val="F0B34A"/>
              </a:solidFill>
            </a:endParaRPr>
          </a:p>
        </p:txBody>
      </p:sp>
      <p:sp>
        <p:nvSpPr>
          <p:cNvPr id="7" name="loop-title-01">
            <a:extLst xmlns:a="http://schemas.openxmlformats.org/drawingml/2006/main">
              <a:ext uri="{FF2B5EF4-FFF2-40B4-BE49-F238E27FC236}">
                <a16:creationId xmlns:a16="http://schemas.microsoft.com/office/drawing/2014/main" id="{88A74B08-3FA8-44AF-BCDC-64A8CE4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实时交锋</a:t>
            </a:r>
            <a:endParaRPr sz="2025" b="1">
              <a:solidFill>
                <a:srgbClr val="F4E7C2"/>
              </a:solidFill>
            </a:endParaRPr>
          </a:p>
        </p:txBody>
      </p:sp>
      <p:sp>
        <p:nvSpPr>
          <p:cNvPr id="8" name="loop-body-01">
            <a:extLst xmlns:a="http://schemas.openxmlformats.org/drawingml/2006/main">
              <a:ext uri="{FF2B5EF4-FFF2-40B4-BE49-F238E27FC236}">
                <a16:creationId xmlns:a16="http://schemas.microsoft.com/office/drawing/2014/main" id="{804834CD-BE44-42DE-9BF0-6F28B884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WASD、近/远程、闪避、牵引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9" name="loop-rule-01">
            <a:extLst xmlns:a="http://schemas.openxmlformats.org/drawingml/2006/main">
              <a:ext uri="{FF2B5EF4-FFF2-40B4-BE49-F238E27FC236}">
                <a16:creationId xmlns:a16="http://schemas.microsoft.com/office/drawing/2014/main" id="{F73FE73C-2C27-4359-88E3-566E435D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um-02">
            <a:extLst xmlns:a="http://schemas.openxmlformats.org/drawingml/2006/main">
              <a:ext uri="{FF2B5EF4-FFF2-40B4-BE49-F238E27FC236}">
                <a16:creationId xmlns:a16="http://schemas.microsoft.com/office/drawing/2014/main" id="{8F3EAEA4-0FC7-4926-9191-02EBB11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A93D"/>
                </a:solidFill>
              </a:defRPr>
            </a:pPr>
            <a:r>
              <a:rPr sz="1650" b="1">
                <a:solidFill>
                  <a:srgbClr val="D9A93D"/>
                </a:solidFill>
              </a:rPr>
              <a:t>02</a:t>
            </a:r>
            <a:endParaRPr sz="1650" b="1">
              <a:solidFill>
                <a:srgbClr val="D9A93D"/>
              </a:solidFill>
            </a:endParaRPr>
          </a:p>
        </p:txBody>
      </p:sp>
      <p:sp>
        <p:nvSpPr>
          <p:cNvPr id="11" name="loop-title-02">
            <a:extLst xmlns:a="http://schemas.openxmlformats.org/drawingml/2006/main">
              <a:ext uri="{FF2B5EF4-FFF2-40B4-BE49-F238E27FC236}">
                <a16:creationId xmlns:a16="http://schemas.microsoft.com/office/drawing/2014/main" id="{BEA77D28-D2B0-45CB-9AAA-D6A0980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冻结危险瞬间</a:t>
            </a:r>
            <a:endParaRPr sz="2025" b="1">
              <a:solidFill>
                <a:srgbClr val="F4E7C2"/>
              </a:solidFill>
            </a:endParaRPr>
          </a:p>
        </p:txBody>
      </p:sp>
      <p:sp>
        <p:nvSpPr>
          <p:cNvPr id="12" name="loop-body-02">
            <a:extLst xmlns:a="http://schemas.openxmlformats.org/drawingml/2006/main">
              <a:ext uri="{FF2B5EF4-FFF2-40B4-BE49-F238E27FC236}">
                <a16:creationId xmlns:a16="http://schemas.microsoft.com/office/drawing/2014/main" id="{A115CB51-127F-4ACF-AE32-54F9F707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读取 敌方意图，进入三拍</a:t>
            </a:r>
            <a:r>
              <a:rPr sz="1500" b="0">
                <a:solidFill>
                  <a:srgbClr val="B1A98F"/>
                </a:solidFill>
              </a:rPr>
              <a:t>战斗模式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13" name="loop-rule-02">
            <a:extLst xmlns:a="http://schemas.openxmlformats.org/drawingml/2006/main">
              <a:ext uri="{FF2B5EF4-FFF2-40B4-BE49-F238E27FC236}">
                <a16:creationId xmlns:a16="http://schemas.microsoft.com/office/drawing/2014/main" id="{ECE436EA-9C00-49F4-BDEC-09C2C77E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num-03">
            <a:extLst xmlns:a="http://schemas.openxmlformats.org/drawingml/2006/main">
              <a:ext uri="{FF2B5EF4-FFF2-40B4-BE49-F238E27FC236}">
                <a16:creationId xmlns:a16="http://schemas.microsoft.com/office/drawing/2014/main" id="{7C5788D0-D4D3-457D-95B4-324740EE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8A32"/>
                </a:solidFill>
              </a:defRPr>
            </a:pPr>
            <a:r>
              <a:rPr sz="1650" b="1">
                <a:solidFill>
                  <a:srgbClr val="C58A32"/>
                </a:solidFill>
              </a:rPr>
              <a:t>03</a:t>
            </a:r>
            <a:endParaRPr sz="1650" b="1">
              <a:solidFill>
                <a:srgbClr val="C58A32"/>
              </a:solidFill>
            </a:endParaRPr>
          </a:p>
        </p:txBody>
      </p:sp>
      <p:sp>
        <p:nvSpPr>
          <p:cNvPr id="15" name="loop-title-03">
            <a:extLst xmlns:a="http://schemas.openxmlformats.org/drawingml/2006/main">
              <a:ext uri="{FF2B5EF4-FFF2-40B4-BE49-F238E27FC236}">
                <a16:creationId xmlns:a16="http://schemas.microsoft.com/office/drawing/2014/main" id="{A84052E9-575C-4F0E-A4E5-BD97BD15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三选一成长</a:t>
            </a:r>
            <a:endParaRPr sz="2025" b="1">
              <a:solidFill>
                <a:srgbClr val="F4E7C2"/>
              </a:solidFill>
            </a:endParaRPr>
          </a:p>
        </p:txBody>
      </p:sp>
      <p:sp>
        <p:nvSpPr>
          <p:cNvPr id="16" name="loop-body-03">
            <a:extLst xmlns:a="http://schemas.openxmlformats.org/drawingml/2006/main">
              <a:ext uri="{FF2B5EF4-FFF2-40B4-BE49-F238E27FC236}">
                <a16:creationId xmlns:a16="http://schemas.microsoft.com/office/drawing/2014/main" id="{DA36F0FF-8F58-4779-AA33-ABADEB76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协议 / 技能 / 属性改变后续战斗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17" name="loop-rule-03">
            <a:extLst xmlns:a="http://schemas.openxmlformats.org/drawingml/2006/main">
              <a:ext uri="{FF2B5EF4-FFF2-40B4-BE49-F238E27FC236}">
                <a16:creationId xmlns:a16="http://schemas.microsoft.com/office/drawing/2014/main" id="{17E65E91-959E-47E8-8A44-F58BC0A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num-04">
            <a:extLst xmlns:a="http://schemas.openxmlformats.org/drawingml/2006/main">
              <a:ext uri="{FF2B5EF4-FFF2-40B4-BE49-F238E27FC236}">
                <a16:creationId xmlns:a16="http://schemas.microsoft.com/office/drawing/2014/main" id="{BE2AA174-5D2D-4F1F-ABFF-1705AB6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AAE5A"/>
                </a:solidFill>
              </a:defRPr>
            </a:pPr>
            <a:r>
              <a:rPr sz="1650" b="1">
                <a:solidFill>
                  <a:srgbClr val="9AAE5A"/>
                </a:solidFill>
              </a:rPr>
              <a:t>04</a:t>
            </a:r>
            <a:endParaRPr sz="1650" b="1">
              <a:solidFill>
                <a:srgbClr val="9AAE5A"/>
              </a:solidFill>
            </a:endParaRPr>
          </a:p>
        </p:txBody>
      </p:sp>
      <p:sp>
        <p:nvSpPr>
          <p:cNvPr id="19" name="loop-title-04">
            <a:extLst xmlns:a="http://schemas.openxmlformats.org/drawingml/2006/main">
              <a:ext uri="{FF2B5EF4-FFF2-40B4-BE49-F238E27FC236}">
                <a16:creationId xmlns:a16="http://schemas.microsoft.com/office/drawing/2014/main" id="{E5B770F3-227D-46A5-9769-F5D39C7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E7C2"/>
                </a:solidFill>
              </a:defRPr>
            </a:pPr>
            <a:r>
              <a:rPr sz="2025" b="1">
                <a:solidFill>
                  <a:srgbClr val="F4E7C2"/>
                </a:solidFill>
              </a:rPr>
              <a:t>完整 Run</a:t>
            </a:r>
            <a:endParaRPr sz="2025" b="1">
              <a:solidFill>
                <a:srgbClr val="F4E7C2"/>
              </a:solidFill>
            </a:endParaRPr>
          </a:p>
        </p:txBody>
      </p:sp>
      <p:sp>
        <p:nvSpPr>
          <p:cNvPr id="20" name="loop-body-04">
            <a:extLst xmlns:a="http://schemas.openxmlformats.org/drawingml/2006/main">
              <a:ext uri="{FF2B5EF4-FFF2-40B4-BE49-F238E27FC236}">
                <a16:creationId xmlns:a16="http://schemas.microsoft.com/office/drawing/2014/main" id="{1A848973-627D-4543-A0D1-AB041E0B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程序地图 → 3 个遭遇 → 12 HP Boss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21" name="loop-rule-04">
            <a:extLst xmlns:a="http://schemas.openxmlformats.org/drawingml/2006/main">
              <a:ext uri="{FF2B5EF4-FFF2-40B4-BE49-F238E27FC236}">
                <a16:creationId xmlns:a16="http://schemas.microsoft.com/office/drawing/2014/main" id="{078F39A7-DA74-440C-A171-CCE24D95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ui-caption">
            <a:extLst xmlns:a="http://schemas.openxmlformats.org/drawingml/2006/main">
              <a:ext uri="{FF2B5EF4-FFF2-40B4-BE49-F238E27FC236}">
                <a16:creationId xmlns:a16="http://schemas.microsoft.com/office/drawing/2014/main" id="{7560D7BD-1B26-41DD-8A6D-A335F40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5785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实机：中文 HUD、敌我编号、Intent 倒计时、构筑常驻显示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23" name="loop-summary">
            <a:extLst xmlns:a="http://schemas.openxmlformats.org/drawingml/2006/main">
              <a:ext uri="{FF2B5EF4-FFF2-40B4-BE49-F238E27FC236}">
                <a16:creationId xmlns:a16="http://schemas.microsoft.com/office/drawing/2014/main" id="{07883BA8-DF1F-4195-9D40-2DA0289E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60% 动作 · 25% 策略 · 15% </a:t>
            </a:r>
            <a:r>
              <a:rPr sz="1950" b="1">
                <a:solidFill>
                  <a:srgbClr val="F0B34A"/>
                </a:solidFill>
              </a:rPr>
              <a:t>成长</a:t>
            </a:r>
            <a:endParaRPr sz="1950" b="1">
              <a:solidFill>
                <a:srgbClr val="F0B3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94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4">
            <a:extLst xmlns:a="http://schemas.openxmlformats.org/drawingml/2006/main">
              <a:ext uri="{FF2B5EF4-FFF2-40B4-BE49-F238E27FC236}">
                <a16:creationId xmlns:a16="http://schemas.microsoft.com/office/drawing/2014/main" id="{31B9D866-294B-46DB-B66A-71ECB4BB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02 / 主创新：三拍命令链 + 因果预演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A49E594-8BD8-4165-A9DC-46240A9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同样三招，只换顺序，失败就变成击杀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5514A3B5-01F4-4334-8B41-22489EB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DCD49B1-4CC0-4DD5-8A81-59427C7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04</a:t>
            </a:r>
            <a:endParaRPr sz="1200" b="0">
              <a:solidFill>
                <a:srgbClr val="B1A98F"/>
              </a:solidFill>
            </a:endParaRPr>
          </a:p>
        </p:txBody>
      </p:sp>
      <p:pic>
        <p:nvPicPr>
          <p:cNvPr id="2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d9509a3eb43d2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pic>
        <p:nvPicPr>
          <p:cNvPr id="22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4e76def624998"/>
          <a:srcRect xmlns:a="http://schemas.openxmlformats.org/drawingml/2006/main" l="4965" t="0" r="4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676400"/>
            <a:ext cx="49720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F08E70AC-2057-423E-9B1F-F27EBFC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64"/>
                </a:solidFill>
              </a:defRPr>
            </a:pPr>
            <a:r>
              <a:rPr sz="1800" b="1">
                <a:solidFill>
                  <a:srgbClr val="F06464"/>
                </a:solidFill>
              </a:rPr>
              <a:t>原顺序：推击 → 移动 → 牵引</a:t>
            </a:r>
            <a:endParaRPr sz="1800" b="1">
              <a:solidFill>
                <a:srgbClr val="F06464"/>
              </a:solidFill>
            </a:endParaRPr>
          </a:p>
        </p:txBody>
      </p:sp>
      <p:sp>
        <p:nvSpPr>
          <p:cNvPr id="8" name="before-desc">
            <a:extLst xmlns:a="http://schemas.openxmlformats.org/drawingml/2006/main">
              <a:ext uri="{FF2B5EF4-FFF2-40B4-BE49-F238E27FC236}">
                <a16:creationId xmlns:a16="http://schemas.microsoft.com/office/drawing/2014/main" id="{819CA305-9796-437A-9E30-BC2CB78C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敌人存活，锁定意图继续结算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25840C77-C5C8-495C-9AF3-091E12D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0B34A"/>
                </a:solidFill>
              </a:defRPr>
            </a:pPr>
            <a:r>
              <a:rPr sz="4800" b="1">
                <a:solidFill>
                  <a:srgbClr val="F0B34A"/>
                </a:solidFill>
              </a:rPr>
              <a:t>→</a:t>
            </a:r>
            <a:endParaRPr sz="4800" b="1">
              <a:solidFill>
                <a:srgbClr val="F0B34A"/>
              </a:solidFill>
            </a:endParaRPr>
          </a:p>
        </p:txBody>
      </p:sp>
      <p:sp>
        <p:nvSpPr>
          <p:cNvPr id="1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A80E0977-5B32-4B8E-A68A-6947FE2B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新顺序：牵引 → 推击 → 移动</a:t>
            </a:r>
            <a:endParaRPr sz="1800" b="1">
              <a:solidFill>
                <a:srgbClr val="D9A93D"/>
              </a:solidFill>
            </a:endParaRPr>
          </a:p>
        </p:txBody>
      </p:sp>
      <p:sp>
        <p:nvSpPr>
          <p:cNvPr id="11" name="after-desc">
            <a:extLst xmlns:a="http://schemas.openxmlformats.org/drawingml/2006/main">
              <a:ext uri="{FF2B5EF4-FFF2-40B4-BE49-F238E27FC236}">
                <a16:creationId xmlns:a16="http://schemas.microsoft.com/office/drawing/2014/main" id="{EB03E6B6-4BBA-40C4-BB40-082AEF6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敌人在行动前死亡，意图自动取消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12" name="innovation-band">
            <a:extLst xmlns:a="http://schemas.openxmlformats.org/drawingml/2006/main">
              <a:ext uri="{FF2B5EF4-FFF2-40B4-BE49-F238E27FC236}">
                <a16:creationId xmlns:a16="http://schemas.microsoft.com/office/drawing/2014/main" id="{62975F37-04C0-405F-B2D3-1D9169B8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125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3" name="innovation-band-text">
            <a:extLst xmlns:a="http://schemas.openxmlformats.org/drawingml/2006/main">
              <a:ext uri="{FF2B5EF4-FFF2-40B4-BE49-F238E27FC236}">
                <a16:creationId xmlns:a16="http://schemas.microsoft.com/office/drawing/2014/main" id="{C7CA8E2D-3CC1-47AC-8033-25BD1793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预演与真实执行共用同一套战斗规则，所以结果能自动对照</a:t>
            </a:r>
            <a:endParaRPr sz="1650" b="1">
              <a:solidFill>
                <a:srgbClr val="F0B3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7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5">
            <a:extLst xmlns:a="http://schemas.openxmlformats.org/drawingml/2006/main">
              <a:ext uri="{FF2B5EF4-FFF2-40B4-BE49-F238E27FC236}">
                <a16:creationId xmlns:a16="http://schemas.microsoft.com/office/drawing/2014/main" id="{3C6CDC38-AA1C-4315-A99D-5B9322C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02 / 主创新：结果可读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E07452E-62B0-4593-A33F-041EED1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预演不是“差不多”，而是直接告诉玩家会掉多少血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92298553-1A9A-4047-8AA0-A6203580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AC406405-9F1A-4730-9370-B726C539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05</a:t>
            </a:r>
            <a:endParaRPr sz="1200" b="0">
              <a:solidFill>
                <a:srgbClr val="B1A98F"/>
              </a:solidFill>
            </a:endParaRPr>
          </a:p>
        </p:txBody>
      </p:sp>
      <p:pic>
        <p:nvPicPr>
          <p:cNvPr id="31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e35442b3f4e09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6286500" cy="3924300"/>
          </a:xfrm>
          <a:prstGeom xmlns:a="http://schemas.openxmlformats.org/drawingml/2006/main" prst="roundRect">
            <a:avLst>
              <a:gd name="adj" fmla="val 1942"/>
            </a:avLst>
          </a:prstGeom>
        </p:spPr>
      </p:pic>
      <p:sp>
        <p:nvSpPr>
          <p:cNvPr id="6" name="damage-caption">
            <a:extLst xmlns:a="http://schemas.openxmlformats.org/drawingml/2006/main">
              <a:ext uri="{FF2B5EF4-FFF2-40B4-BE49-F238E27FC236}">
                <a16:creationId xmlns:a16="http://schemas.microsoft.com/office/drawing/2014/main" id="{B5EBC5CD-1D77-4444-92AB-B78A6442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B1A98F"/>
                </a:solidFill>
              </a:defRPr>
            </a:pPr>
            <a:r>
              <a:rPr sz="1350" b="0">
                <a:solidFill>
                  <a:srgbClr val="B1A98F"/>
                </a:solidFill>
              </a:rPr>
              <a:t>实机：前三拍包含有效攻击时，显示玩家与受伤敌人的 HP 前后值</a:t>
            </a:r>
            <a:endParaRPr sz="1350" b="0">
              <a:solidFill>
                <a:srgbClr val="B1A98F"/>
              </a:solidFill>
            </a:endParaRPr>
          </a:p>
        </p:txBody>
      </p:sp>
      <p:sp>
        <p:nvSpPr>
          <p:cNvPr id="7" name="damage-point-7 条动作候选">
            <a:extLst xmlns:a="http://schemas.openxmlformats.org/drawingml/2006/main">
              <a:ext uri="{FF2B5EF4-FFF2-40B4-BE49-F238E27FC236}">
                <a16:creationId xmlns:a16="http://schemas.microsoft.com/office/drawing/2014/main" id="{E41762BF-EA75-4415-B306-EB73D594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8" name="damage-bar-7 条动作候选">
            <a:extLst xmlns:a="http://schemas.openxmlformats.org/drawingml/2006/main">
              <a:ext uri="{FF2B5EF4-FFF2-40B4-BE49-F238E27FC236}">
                <a16:creationId xmlns:a16="http://schemas.microsoft.com/office/drawing/2014/main" id="{1BF008C6-CB14-4F48-A8D5-396AA518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573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mage-title-7 条动作候选">
            <a:extLst xmlns:a="http://schemas.openxmlformats.org/drawingml/2006/main">
              <a:ext uri="{FF2B5EF4-FFF2-40B4-BE49-F238E27FC236}">
                <a16:creationId xmlns:a16="http://schemas.microsoft.com/office/drawing/2014/main" id="{4DB775C6-C2D5-48FD-A20A-ECF6EF92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0B34A"/>
                </a:solidFill>
              </a:defRPr>
            </a:pPr>
            <a:r>
              <a:rPr sz="1725" b="1">
                <a:solidFill>
                  <a:srgbClr val="F0B34A"/>
                </a:solidFill>
              </a:rPr>
              <a:t>7 条动作候选</a:t>
            </a:r>
            <a:endParaRPr sz="1725" b="1">
              <a:solidFill>
                <a:srgbClr val="F0B34A"/>
              </a:solidFill>
            </a:endParaRPr>
          </a:p>
        </p:txBody>
      </p:sp>
      <p:sp>
        <p:nvSpPr>
          <p:cNvPr id="10" name="damage-body-7 条动作候选">
            <a:extLst xmlns:a="http://schemas.openxmlformats.org/drawingml/2006/main">
              <a:ext uri="{FF2B5EF4-FFF2-40B4-BE49-F238E27FC236}">
                <a16:creationId xmlns:a16="http://schemas.microsoft.com/office/drawing/2014/main" id="{8E91CCF6-0F46-4A68-9BB7-40929BB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进入战术模式后先给出攻、防、移动等选择。</a:t>
            </a:r>
            <a:endParaRPr sz="1350" b="0">
              <a:solidFill>
                <a:srgbClr val="F4E7C2"/>
              </a:solidFill>
            </a:endParaRPr>
          </a:p>
        </p:txBody>
      </p:sp>
      <p:sp>
        <p:nvSpPr>
          <p:cNvPr id="11" name="damage-point-只执行前三拍">
            <a:extLst xmlns:a="http://schemas.openxmlformats.org/drawingml/2006/main">
              <a:ext uri="{FF2B5EF4-FFF2-40B4-BE49-F238E27FC236}">
                <a16:creationId xmlns:a16="http://schemas.microsoft.com/office/drawing/2014/main" id="{B9078193-3DE5-4143-AAEE-38A7DED7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2" name="damage-bar-只执行前三拍">
            <a:extLst xmlns:a="http://schemas.openxmlformats.org/drawingml/2006/main">
              <a:ext uri="{FF2B5EF4-FFF2-40B4-BE49-F238E27FC236}">
                <a16:creationId xmlns:a16="http://schemas.microsoft.com/office/drawing/2014/main" id="{2E4AB8E8-8BAB-49B4-A672-221B7440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mage-title-只执行前三拍">
            <a:extLst xmlns:a="http://schemas.openxmlformats.org/drawingml/2006/main">
              <a:ext uri="{FF2B5EF4-FFF2-40B4-BE49-F238E27FC236}">
                <a16:creationId xmlns:a16="http://schemas.microsoft.com/office/drawing/2014/main" id="{50596847-5495-4FE6-BE72-25754764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A93D"/>
                </a:solidFill>
              </a:defRPr>
            </a:pPr>
            <a:r>
              <a:rPr sz="1725" b="1">
                <a:solidFill>
                  <a:srgbClr val="D9A93D"/>
                </a:solidFill>
              </a:rPr>
              <a:t>只执行前三拍</a:t>
            </a:r>
            <a:endParaRPr sz="1725" b="1">
              <a:solidFill>
                <a:srgbClr val="D9A93D"/>
              </a:solidFill>
            </a:endParaRPr>
          </a:p>
        </p:txBody>
      </p:sp>
      <p:sp>
        <p:nvSpPr>
          <p:cNvPr id="14" name="damage-body-只执行前三拍">
            <a:extLst xmlns:a="http://schemas.openxmlformats.org/drawingml/2006/main">
              <a:ext uri="{FF2B5EF4-FFF2-40B4-BE49-F238E27FC236}">
                <a16:creationId xmlns:a16="http://schemas.microsoft.com/office/drawing/2014/main" id="{19BB0E5C-0284-401F-9C6C-17B82FF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玩家拖动或用键盘换序，候补不会偷偷执行。</a:t>
            </a:r>
            <a:endParaRPr sz="1350" b="0">
              <a:solidFill>
                <a:srgbClr val="F4E7C2"/>
              </a:solidFill>
            </a:endParaRPr>
          </a:p>
        </p:txBody>
      </p:sp>
      <p:sp>
        <p:nvSpPr>
          <p:cNvPr id="15" name="damage-point-战损立即刷新">
            <a:extLst xmlns:a="http://schemas.openxmlformats.org/drawingml/2006/main">
              <a:ext uri="{FF2B5EF4-FFF2-40B4-BE49-F238E27FC236}">
                <a16:creationId xmlns:a16="http://schemas.microsoft.com/office/drawing/2014/main" id="{6E1990A4-4824-42BA-9FA1-9E9BED6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6" name="damage-bar-战损立即刷新">
            <a:extLst xmlns:a="http://schemas.openxmlformats.org/drawingml/2006/main">
              <a:ext uri="{FF2B5EF4-FFF2-40B4-BE49-F238E27FC236}">
                <a16:creationId xmlns:a16="http://schemas.microsoft.com/office/drawing/2014/main" id="{62CE1AE4-4BD0-4F0D-945F-0343B7AA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mage-title-战损立即刷新">
            <a:extLst xmlns:a="http://schemas.openxmlformats.org/drawingml/2006/main">
              <a:ext uri="{FF2B5EF4-FFF2-40B4-BE49-F238E27FC236}">
                <a16:creationId xmlns:a16="http://schemas.microsoft.com/office/drawing/2014/main" id="{F495BA00-AF59-434B-99B9-EE03BDC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AAE5A"/>
                </a:solidFill>
              </a:defRPr>
            </a:pPr>
            <a:r>
              <a:rPr sz="1725" b="1">
                <a:solidFill>
                  <a:srgbClr val="9AAE5A"/>
                </a:solidFill>
              </a:rPr>
              <a:t>战损立即刷新</a:t>
            </a:r>
            <a:endParaRPr sz="1725" b="1">
              <a:solidFill>
                <a:srgbClr val="9AAE5A"/>
              </a:solidFill>
            </a:endParaRPr>
          </a:p>
        </p:txBody>
      </p:sp>
      <p:sp>
        <p:nvSpPr>
          <p:cNvPr id="18" name="damage-body-战损立即刷新">
            <a:extLst xmlns:a="http://schemas.openxmlformats.org/drawingml/2006/main">
              <a:ext uri="{FF2B5EF4-FFF2-40B4-BE49-F238E27FC236}">
                <a16:creationId xmlns:a16="http://schemas.microsoft.com/office/drawing/2014/main" id="{0DDE2E08-715D-439B-AD59-E20AA891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例如 E3：3→2（-1）；移出前三拍后这一行消失。</a:t>
            </a:r>
            <a:endParaRPr sz="1350" b="0">
              <a:solidFill>
                <a:srgbClr val="F4E7C2"/>
              </a:solidFill>
            </a:endParaRPr>
          </a:p>
        </p:txBody>
      </p:sp>
      <p:sp>
        <p:nvSpPr>
          <p:cNvPr id="19" name="damage-point-编号始终一致">
            <a:extLst xmlns:a="http://schemas.openxmlformats.org/drawingml/2006/main">
              <a:ext uri="{FF2B5EF4-FFF2-40B4-BE49-F238E27FC236}">
                <a16:creationId xmlns:a16="http://schemas.microsoft.com/office/drawing/2014/main" id="{548CBEF3-09A5-4733-8E91-7C6EE178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0" name="damage-bar-编号始终一致">
            <a:extLst xmlns:a="http://schemas.openxmlformats.org/drawingml/2006/main">
              <a:ext uri="{FF2B5EF4-FFF2-40B4-BE49-F238E27FC236}">
                <a16:creationId xmlns:a16="http://schemas.microsoft.com/office/drawing/2014/main" id="{E495DBD2-7873-4B78-A221-F718FC0E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amage-title-编号始终一致">
            <a:extLst xmlns:a="http://schemas.openxmlformats.org/drawingml/2006/main">
              <a:ext uri="{FF2B5EF4-FFF2-40B4-BE49-F238E27FC236}">
                <a16:creationId xmlns:a16="http://schemas.microsoft.com/office/drawing/2014/main" id="{8032E356-F767-4648-8429-E18E74C6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58A32"/>
                </a:solidFill>
              </a:defRPr>
            </a:pPr>
            <a:r>
              <a:rPr sz="1725" b="1">
                <a:solidFill>
                  <a:srgbClr val="C58A32"/>
                </a:solidFill>
              </a:rPr>
              <a:t>编号始终一致</a:t>
            </a:r>
            <a:endParaRPr sz="1725" b="1">
              <a:solidFill>
                <a:srgbClr val="C58A32"/>
              </a:solidFill>
            </a:endParaRPr>
          </a:p>
        </p:txBody>
      </p:sp>
      <p:sp>
        <p:nvSpPr>
          <p:cNvPr id="22" name="damage-body-编号始终一致">
            <a:extLst xmlns:a="http://schemas.openxmlformats.org/drawingml/2006/main">
              <a:ext uri="{FF2B5EF4-FFF2-40B4-BE49-F238E27FC236}">
                <a16:creationId xmlns:a16="http://schemas.microsoft.com/office/drawing/2014/main" id="{EE2DD1D2-605A-48A9-A234-EEA2126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地图、敌方意图和结果区都使用 E1–E5。</a:t>
            </a:r>
            <a:endParaRPr sz="1350" b="0">
              <a:solidFill>
                <a:srgbClr val="F4E7C2"/>
              </a:solidFill>
            </a:endParaRPr>
          </a:p>
        </p:txBody>
      </p:sp>
      <p:sp>
        <p:nvSpPr>
          <p:cNvPr id="23" name="damage-proof">
            <a:extLst xmlns:a="http://schemas.openxmlformats.org/drawingml/2006/main">
              <a:ext uri="{FF2B5EF4-FFF2-40B4-BE49-F238E27FC236}">
                <a16:creationId xmlns:a16="http://schemas.microsoft.com/office/drawing/2014/main" id="{81E10972-01EB-498B-AAA4-EBCAEA8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10250"/>
            <a:ext cx="4476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F0B34A"/>
            </a:solidFill>
            <a:prstDash val="solid"/>
          </a:ln>
        </p:spPr>
      </p:sp>
      <p:sp>
        <p:nvSpPr>
          <p:cNvPr id="24" name="damage-proof-text">
            <a:extLst xmlns:a="http://schemas.openxmlformats.org/drawingml/2006/main">
              <a:ext uri="{FF2B5EF4-FFF2-40B4-BE49-F238E27FC236}">
                <a16:creationId xmlns:a16="http://schemas.microsoft.com/office/drawing/2014/main" id="{6E671B66-C6DD-485A-87AA-644037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53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换序 → 数字更新 → 执行后结果一致</a:t>
            </a:r>
            <a:endParaRPr sz="1650" b="1">
              <a:solidFill>
                <a:srgbClr val="F0B3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03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6">
            <a:extLst xmlns:a="http://schemas.openxmlformats.org/drawingml/2006/main">
              <a:ext uri="{FF2B5EF4-FFF2-40B4-BE49-F238E27FC236}">
                <a16:creationId xmlns:a16="http://schemas.microsoft.com/office/drawing/2014/main" id="{E51822D1-329D-49C5-B44E-0931AF5B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03 / 两关差异与构筑深度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FEBB17A-CA2F-4025-83B0-05E11477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模式二</a:t>
            </a:r>
            <a:r>
              <a:rPr sz="3600" b="1">
                <a:solidFill>
                  <a:srgbClr val="F4E7C2"/>
                </a:solidFill>
              </a:rPr>
              <a:t>不加一套系统，而是反转玩家已学会的规则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1C2D6D99-7944-4D29-8426-09F4D28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1BD4D76-16F8-46D3-90D3-DA765A32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06</a:t>
            </a:r>
            <a:endParaRPr sz="1200" b="0">
              <a:solidFill>
                <a:srgbClr val="B1A98F"/>
              </a:solidFill>
            </a:endParaRPr>
          </a:p>
        </p:txBody>
      </p:sp>
      <p:pic>
        <p:nvPicPr>
          <p:cNvPr id="27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e8fb1bc1d484b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pic>
        <p:nvPicPr>
          <p:cNvPr id="28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be48b712646c5"/>
          <a:srcRect xmlns:a="http://schemas.openxmlformats.org/drawingml/2006/main" l="0" t="527" r="0" b="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21970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7" name="level1-title">
            <a:extLst xmlns:a="http://schemas.openxmlformats.org/drawingml/2006/main">
              <a:ext uri="{FF2B5EF4-FFF2-40B4-BE49-F238E27FC236}">
                <a16:creationId xmlns:a16="http://schemas.microsoft.com/office/drawing/2014/main" id="{1600D858-665A-4FD5-BC25-39366AC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A93D"/>
                </a:solidFill>
              </a:defRPr>
            </a:pPr>
            <a:r>
              <a:rPr sz="1800" b="1">
                <a:solidFill>
                  <a:srgbClr val="D9A93D"/>
                </a:solidFill>
              </a:rPr>
              <a:t>Level 1｜校准舱：稳定 1→2→3</a:t>
            </a:r>
            <a:endParaRPr sz="1800" b="1">
              <a:solidFill>
                <a:srgbClr val="D9A93D"/>
              </a:solidFill>
            </a:endParaRPr>
          </a:p>
        </p:txBody>
      </p:sp>
      <p:sp>
        <p:nvSpPr>
          <p:cNvPr id="8" name="level1-body">
            <a:extLst xmlns:a="http://schemas.openxmlformats.org/drawingml/2006/main">
              <a:ext uri="{FF2B5EF4-FFF2-40B4-BE49-F238E27FC236}">
                <a16:creationId xmlns:a16="http://schemas.microsoft.com/office/drawing/2014/main" id="{D03B24E2-6C25-4D6B-BE7A-926E0ADE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教学换序、首次协议、三遭遇闭环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9" name="level2-title">
            <a:extLst xmlns:a="http://schemas.openxmlformats.org/drawingml/2006/main">
              <a:ext uri="{FF2B5EF4-FFF2-40B4-BE49-F238E27FC236}">
                <a16:creationId xmlns:a16="http://schemas.microsoft.com/office/drawing/2014/main" id="{34329039-9285-4102-B106-C358C7AF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8A32"/>
                </a:solidFill>
              </a:defRPr>
            </a:pPr>
            <a:r>
              <a:rPr sz="1800" b="1">
                <a:solidFill>
                  <a:srgbClr val="C58A32"/>
                </a:solidFill>
              </a:rPr>
              <a:t>Level 2｜逆相反应堆：3→2→1</a:t>
            </a:r>
            <a:endParaRPr sz="1800" b="1">
              <a:solidFill>
                <a:srgbClr val="C58A32"/>
              </a:solidFill>
            </a:endParaRPr>
          </a:p>
        </p:txBody>
      </p:sp>
      <p:sp>
        <p:nvSpPr>
          <p:cNvPr id="10" name="level2-body">
            <a:extLst xmlns:a="http://schemas.openxmlformats.org/drawingml/2006/main">
              <a:ext uri="{FF2B5EF4-FFF2-40B4-BE49-F238E27FC236}">
                <a16:creationId xmlns:a16="http://schemas.microsoft.com/office/drawing/2014/main" id="{381B09CF-1174-481B-AE0C-474ABE2C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1A98F"/>
                </a:solidFill>
              </a:defRPr>
            </a:pPr>
            <a:r>
              <a:rPr sz="1500" b="0">
                <a:solidFill>
                  <a:srgbClr val="B1A98F"/>
                </a:solidFill>
              </a:rPr>
              <a:t>相位锚锁相、多格预警、守卫终局</a:t>
            </a:r>
            <a:endParaRPr sz="1500" b="0">
              <a:solidFill>
                <a:srgbClr val="B1A98F"/>
              </a:solidFill>
            </a:endParaRPr>
          </a:p>
        </p:txBody>
      </p:sp>
      <p:sp>
        <p:nvSpPr>
          <p:cNvPr id="11" name="build-回声编排">
            <a:extLst xmlns:a="http://schemas.openxmlformats.org/drawingml/2006/main">
              <a:ext uri="{FF2B5EF4-FFF2-40B4-BE49-F238E27FC236}">
                <a16:creationId xmlns:a16="http://schemas.microsoft.com/office/drawing/2014/main" id="{9C087C50-D154-460F-879D-66E6B9C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D9A93D"/>
            </a:solidFill>
            <a:prstDash val="solid"/>
          </a:ln>
        </p:spPr>
      </p:sp>
      <p:sp>
        <p:nvSpPr>
          <p:cNvPr id="12" name="build-title-回声编排">
            <a:extLst xmlns:a="http://schemas.openxmlformats.org/drawingml/2006/main">
              <a:ext uri="{FF2B5EF4-FFF2-40B4-BE49-F238E27FC236}">
                <a16:creationId xmlns:a16="http://schemas.microsoft.com/office/drawing/2014/main" id="{BDE421FC-8B03-4572-85B8-01F6FDB9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A93D"/>
                </a:solidFill>
              </a:defRPr>
            </a:pPr>
            <a:r>
              <a:rPr sz="1575" b="1">
                <a:solidFill>
                  <a:srgbClr val="D9A93D"/>
                </a:solidFill>
              </a:rPr>
              <a:t>回声编排</a:t>
            </a:r>
            <a:endParaRPr sz="1575" b="1">
              <a:solidFill>
                <a:srgbClr val="D9A93D"/>
              </a:solidFill>
            </a:endParaRPr>
          </a:p>
        </p:txBody>
      </p:sp>
      <p:sp>
        <p:nvSpPr>
          <p:cNvPr id="13" name="build-body-回声编排">
            <a:extLst xmlns:a="http://schemas.openxmlformats.org/drawingml/2006/main">
              <a:ext uri="{FF2B5EF4-FFF2-40B4-BE49-F238E27FC236}">
                <a16:creationId xmlns:a16="http://schemas.microsoft.com/office/drawing/2014/main" id="{7365852E-F4FA-4F03-862B-62CAFFD2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奖励空拍：首拍在第三拍重放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14" name="build-动能破阵">
            <a:extLst xmlns:a="http://schemas.openxmlformats.org/drawingml/2006/main">
              <a:ext uri="{FF2B5EF4-FFF2-40B4-BE49-F238E27FC236}">
                <a16:creationId xmlns:a16="http://schemas.microsoft.com/office/drawing/2014/main" id="{EF64CFAF-BE4E-4502-B0FA-EB25DEEE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build-title-动能破阵">
            <a:extLst xmlns:a="http://schemas.openxmlformats.org/drawingml/2006/main">
              <a:ext uri="{FF2B5EF4-FFF2-40B4-BE49-F238E27FC236}">
                <a16:creationId xmlns:a16="http://schemas.microsoft.com/office/drawing/2014/main" id="{1ABC0451-12B1-439C-BD81-4DE33678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B34A"/>
                </a:solidFill>
              </a:defRPr>
            </a:pPr>
            <a:r>
              <a:rPr sz="1575" b="1">
                <a:solidFill>
                  <a:srgbClr val="F0B34A"/>
                </a:solidFill>
              </a:rPr>
              <a:t>动能破阵</a:t>
            </a:r>
            <a:endParaRPr sz="1575" b="1">
              <a:solidFill>
                <a:srgbClr val="F0B34A"/>
              </a:solidFill>
            </a:endParaRPr>
          </a:p>
        </p:txBody>
      </p:sp>
      <p:sp>
        <p:nvSpPr>
          <p:cNvPr id="16" name="build-body-动能破阵">
            <a:extLst xmlns:a="http://schemas.openxmlformats.org/drawingml/2006/main">
              <a:ext uri="{FF2B5EF4-FFF2-40B4-BE49-F238E27FC236}">
                <a16:creationId xmlns:a16="http://schemas.microsoft.com/office/drawing/2014/main" id="{CEC6DA2B-CF37-4201-B440-9D7EB618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奖励墙面：推击 + 碰撞过载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17" name="build-屏障反推">
            <a:extLst xmlns:a="http://schemas.openxmlformats.org/drawingml/2006/main">
              <a:ext uri="{FF2B5EF4-FFF2-40B4-BE49-F238E27FC236}">
                <a16:creationId xmlns:a16="http://schemas.microsoft.com/office/drawing/2014/main" id="{D878ADA6-5A45-40E9-A3AC-80BF5D1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34050"/>
            <a:ext cx="3409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9AAE5A"/>
            </a:solidFill>
            <a:prstDash val="solid"/>
          </a:ln>
        </p:spPr>
      </p:sp>
      <p:sp>
        <p:nvSpPr>
          <p:cNvPr id="18" name="build-title-屏障反推">
            <a:extLst xmlns:a="http://schemas.openxmlformats.org/drawingml/2006/main">
              <a:ext uri="{FF2B5EF4-FFF2-40B4-BE49-F238E27FC236}">
                <a16:creationId xmlns:a16="http://schemas.microsoft.com/office/drawing/2014/main" id="{D592EA0B-BB33-42A5-81F2-1A7B574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AAE5A"/>
                </a:solidFill>
              </a:defRPr>
            </a:pPr>
            <a:r>
              <a:rPr sz="1575" b="1">
                <a:solidFill>
                  <a:srgbClr val="9AAE5A"/>
                </a:solidFill>
              </a:rPr>
              <a:t>屏障反推</a:t>
            </a:r>
            <a:endParaRPr sz="1575" b="1">
              <a:solidFill>
                <a:srgbClr val="9AAE5A"/>
              </a:solidFill>
            </a:endParaRPr>
          </a:p>
        </p:txBody>
      </p:sp>
      <p:sp>
        <p:nvSpPr>
          <p:cNvPr id="19" name="build-body-屏障反推">
            <a:extLst xmlns:a="http://schemas.openxmlformats.org/drawingml/2006/main">
              <a:ext uri="{FF2B5EF4-FFF2-40B4-BE49-F238E27FC236}">
                <a16:creationId xmlns:a16="http://schemas.microsoft.com/office/drawing/2014/main" id="{63BA94EB-D30E-4A4D-B898-3C936E2B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19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奖励顺序：先盾后推才增伤</a:t>
            </a:r>
            <a:endParaRPr sz="1275" b="0">
              <a:solidFill>
                <a:srgbClr val="F4E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54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7">
            <a:extLst xmlns:a="http://schemas.openxmlformats.org/drawingml/2006/main">
              <a:ext uri="{FF2B5EF4-FFF2-40B4-BE49-F238E27FC236}">
                <a16:creationId xmlns:a16="http://schemas.microsoft.com/office/drawing/2014/main" id="{CF07E9E6-0B5A-475C-A01D-F0CC0F88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04 / 界面与交互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856F057-E5F8-48A2-86FA-9C7971A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黄色工业终端风，不只是好看，也帮助玩家读懂战场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DF88E24E-6BB7-4331-84BD-D2A1A1C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CC7CDCC-B013-4839-8228-7A4249CA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07</a:t>
            </a:r>
            <a:endParaRPr sz="1200" b="0">
              <a:solidFill>
                <a:srgbClr val="B1A98F"/>
              </a:solidFill>
            </a:endParaRPr>
          </a:p>
        </p:txBody>
      </p:sp>
      <p:pic>
        <p:nvPicPr>
          <p:cNvPr id="31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a772df0b4ac9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6" name="ui-title-菜单与品牌">
            <a:extLst xmlns:a="http://schemas.openxmlformats.org/drawingml/2006/main">
              <a:ext uri="{FF2B5EF4-FFF2-40B4-BE49-F238E27FC236}">
                <a16:creationId xmlns:a16="http://schemas.microsoft.com/office/drawing/2014/main" id="{99B32410-B763-4F2B-A567-49BBCF4F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菜单与品牌</a:t>
            </a:r>
            <a:endParaRPr sz="1800" b="1">
              <a:solidFill>
                <a:srgbClr val="F0B34A"/>
              </a:solidFill>
            </a:endParaRPr>
          </a:p>
        </p:txBody>
      </p:sp>
      <p:sp>
        <p:nvSpPr>
          <p:cNvPr id="7" name="ui-body-菜单与品牌">
            <a:extLst xmlns:a="http://schemas.openxmlformats.org/drawingml/2006/main">
              <a:ext uri="{FF2B5EF4-FFF2-40B4-BE49-F238E27FC236}">
                <a16:creationId xmlns:a16="http://schemas.microsoft.com/office/drawing/2014/main" id="{2A9C8F00-D5A2-46DE-A489-F75B27A6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暗钢底色 + 黄铜边框，一眼进入科幻终端氛围</a:t>
            </a:r>
            <a:endParaRPr sz="1350" b="0">
              <a:solidFill>
                <a:srgbClr val="F4E7C2"/>
              </a:solidFill>
            </a:endParaRPr>
          </a:p>
        </p:txBody>
      </p:sp>
      <p:pic>
        <p:nvPicPr>
          <p:cNvPr id="34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12be4b19d4231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63830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9" name="ui-title-战斗与 Boss">
            <a:extLst xmlns:a="http://schemas.openxmlformats.org/drawingml/2006/main">
              <a:ext uri="{FF2B5EF4-FFF2-40B4-BE49-F238E27FC236}">
                <a16:creationId xmlns:a16="http://schemas.microsoft.com/office/drawing/2014/main" id="{EF0F674E-DA1F-4196-8C6B-2BC8D9EE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05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战斗与 Boss</a:t>
            </a:r>
            <a:endParaRPr sz="1800" b="1">
              <a:solidFill>
                <a:srgbClr val="F0B34A"/>
              </a:solidFill>
            </a:endParaRPr>
          </a:p>
        </p:txBody>
      </p:sp>
      <p:sp>
        <p:nvSpPr>
          <p:cNvPr id="10" name="ui-body-战斗与 Boss">
            <a:extLst xmlns:a="http://schemas.openxmlformats.org/drawingml/2006/main">
              <a:ext uri="{FF2B5EF4-FFF2-40B4-BE49-F238E27FC236}">
                <a16:creationId xmlns:a16="http://schemas.microsoft.com/office/drawing/2014/main" id="{80CA71FF-3F25-467B-84A5-728939BA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05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Boss 血条、十字危险区、敌人编号同时可读</a:t>
            </a:r>
            <a:endParaRPr sz="1350" b="0">
              <a:solidFill>
                <a:srgbClr val="F4E7C2"/>
              </a:solidFill>
            </a:endParaRPr>
          </a:p>
        </p:txBody>
      </p:sp>
      <p:pic>
        <p:nvPicPr>
          <p:cNvPr id="3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35ff284f448e4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163830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12" name="ui-title-奖励与构筑">
            <a:extLst xmlns:a="http://schemas.openxmlformats.org/drawingml/2006/main">
              <a:ext uri="{FF2B5EF4-FFF2-40B4-BE49-F238E27FC236}">
                <a16:creationId xmlns:a16="http://schemas.microsoft.com/office/drawing/2014/main" id="{F4AADD18-A157-4DA2-B18B-9296920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B34A"/>
                </a:solidFill>
              </a:defRPr>
            </a:pPr>
            <a:r>
              <a:rPr sz="1800" b="1">
                <a:solidFill>
                  <a:srgbClr val="F0B34A"/>
                </a:solidFill>
              </a:rPr>
              <a:t>奖励与构筑</a:t>
            </a:r>
            <a:endParaRPr sz="1800" b="1">
              <a:solidFill>
                <a:srgbClr val="F0B34A"/>
              </a:solidFill>
            </a:endParaRPr>
          </a:p>
        </p:txBody>
      </p:sp>
      <p:sp>
        <p:nvSpPr>
          <p:cNvPr id="13" name="ui-body-奖励与构筑">
            <a:extLst xmlns:a="http://schemas.openxmlformats.org/drawingml/2006/main">
              <a:ext uri="{FF2B5EF4-FFF2-40B4-BE49-F238E27FC236}">
                <a16:creationId xmlns:a16="http://schemas.microsoft.com/office/drawing/2014/main" id="{99B3A0F1-5E42-4B0D-B061-DD285B2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4E7C2"/>
                </a:solidFill>
              </a:defRPr>
            </a:pPr>
            <a:r>
              <a:rPr sz="1350" b="0">
                <a:solidFill>
                  <a:srgbClr val="F4E7C2"/>
                </a:solidFill>
              </a:rPr>
              <a:t>协议 / 技能 / 属性用不同颜色和短说明区分</a:t>
            </a:r>
            <a:endParaRPr sz="1350" b="0">
              <a:solidFill>
                <a:srgbClr val="F4E7C2"/>
              </a:solidFill>
            </a:endParaRPr>
          </a:p>
        </p:txBody>
      </p:sp>
      <p:sp>
        <p:nvSpPr>
          <p:cNvPr id="14" name="ui-list-bg">
            <a:extLst xmlns:a="http://schemas.openxmlformats.org/drawingml/2006/main">
              <a:ext uri="{FF2B5EF4-FFF2-40B4-BE49-F238E27FC236}">
                <a16:creationId xmlns:a16="http://schemas.microsoft.com/office/drawing/2014/main" id="{8993609D-71D1-4E86-A98A-C1415363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5" name="ui-item-title-信息不只靠颜色">
            <a:extLst xmlns:a="http://schemas.openxmlformats.org/drawingml/2006/main">
              <a:ext uri="{FF2B5EF4-FFF2-40B4-BE49-F238E27FC236}">
                <a16:creationId xmlns:a16="http://schemas.microsoft.com/office/drawing/2014/main" id="{6B07C4D4-8E15-4A83-8E1B-E4D0BAE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信息不只靠颜色</a:t>
            </a:r>
            <a:endParaRPr sz="1500" b="1">
              <a:solidFill>
                <a:srgbClr val="9AAE5A"/>
              </a:solidFill>
            </a:endParaRPr>
          </a:p>
        </p:txBody>
      </p:sp>
      <p:sp>
        <p:nvSpPr>
          <p:cNvPr id="16" name="ui-item-body-信息不只靠颜色">
            <a:extLst xmlns:a="http://schemas.openxmlformats.org/drawingml/2006/main">
              <a:ext uri="{FF2B5EF4-FFF2-40B4-BE49-F238E27FC236}">
                <a16:creationId xmlns:a16="http://schemas.microsoft.com/office/drawing/2014/main" id="{7BD3F162-A0C0-40E0-A8E8-B98B114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编号、斜纹、文字一起表达危险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17" name="ui-item-title-中文为主">
            <a:extLst xmlns:a="http://schemas.openxmlformats.org/drawingml/2006/main">
              <a:ext uri="{FF2B5EF4-FFF2-40B4-BE49-F238E27FC236}">
                <a16:creationId xmlns:a16="http://schemas.microsoft.com/office/drawing/2014/main" id="{6DB43470-A4D0-46D4-9235-AABE09B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中文为主</a:t>
            </a:r>
            <a:endParaRPr sz="1500" b="1">
              <a:solidFill>
                <a:srgbClr val="9AAE5A"/>
              </a:solidFill>
            </a:endParaRPr>
          </a:p>
        </p:txBody>
      </p:sp>
      <p:sp>
        <p:nvSpPr>
          <p:cNvPr id="18" name="ui-item-body-中文为主">
            <a:extLst xmlns:a="http://schemas.openxmlformats.org/drawingml/2006/main">
              <a:ext uri="{FF2B5EF4-FFF2-40B4-BE49-F238E27FC236}">
                <a16:creationId xmlns:a16="http://schemas.microsoft.com/office/drawing/2014/main" id="{FE340A5E-3AF6-427D-AC6E-0B9EF6E6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操作、冷却、意图、构筑都能直接读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19" name="ui-item-title-三种窗口尺寸">
            <a:extLst xmlns:a="http://schemas.openxmlformats.org/drawingml/2006/main">
              <a:ext uri="{FF2B5EF4-FFF2-40B4-BE49-F238E27FC236}">
                <a16:creationId xmlns:a16="http://schemas.microsoft.com/office/drawing/2014/main" id="{F52E03F1-B1CE-4AAF-A1C7-2D9A5168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三种窗口尺寸</a:t>
            </a:r>
            <a:endParaRPr sz="1500" b="1">
              <a:solidFill>
                <a:srgbClr val="9AAE5A"/>
              </a:solidFill>
            </a:endParaRPr>
          </a:p>
        </p:txBody>
      </p:sp>
      <p:sp>
        <p:nvSpPr>
          <p:cNvPr id="20" name="ui-item-body-三种窗口尺寸">
            <a:extLst xmlns:a="http://schemas.openxmlformats.org/drawingml/2006/main">
              <a:ext uri="{FF2B5EF4-FFF2-40B4-BE49-F238E27FC236}">
                <a16:creationId xmlns:a16="http://schemas.microsoft.com/office/drawing/2014/main" id="{67BAA7A1-6BC4-4988-8916-B5B3225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1280×800 / 1600×900 / 1920×1080 均复核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21" name="ui-item-title-可访问设置">
            <a:extLst xmlns:a="http://schemas.openxmlformats.org/drawingml/2006/main">
              <a:ext uri="{FF2B5EF4-FFF2-40B4-BE49-F238E27FC236}">
                <a16:creationId xmlns:a16="http://schemas.microsoft.com/office/drawing/2014/main" id="{50733E0F-259E-495C-9F22-88F16E4C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14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AE5A"/>
                </a:solidFill>
              </a:defRPr>
            </a:pPr>
            <a:r>
              <a:rPr sz="1500" b="1">
                <a:solidFill>
                  <a:srgbClr val="9AAE5A"/>
                </a:solidFill>
              </a:rPr>
              <a:t>可访问设置</a:t>
            </a:r>
            <a:endParaRPr sz="1500" b="1">
              <a:solidFill>
                <a:srgbClr val="9AAE5A"/>
              </a:solidFill>
            </a:endParaRPr>
          </a:p>
        </p:txBody>
      </p:sp>
      <p:sp>
        <p:nvSpPr>
          <p:cNvPr id="22" name="ui-item-body-可访问设置">
            <a:extLst xmlns:a="http://schemas.openxmlformats.org/drawingml/2006/main">
              <a:ext uri="{FF2B5EF4-FFF2-40B4-BE49-F238E27FC236}">
                <a16:creationId xmlns:a16="http://schemas.microsoft.com/office/drawing/2014/main" id="{C167852B-2280-4152-8344-8A3E96FC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388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减弱动态、静音、音量和失焦保护</a:t>
            </a:r>
            <a:endParaRPr sz="1275" b="0">
              <a:solidFill>
                <a:srgbClr val="B1A9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150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9">
            <a:extLst xmlns:a="http://schemas.openxmlformats.org/drawingml/2006/main">
              <a:ext uri="{FF2B5EF4-FFF2-40B4-BE49-F238E27FC236}">
                <a16:creationId xmlns:a16="http://schemas.microsoft.com/office/drawing/2014/main" id="{B4328F1B-6267-4E04-8734-33ACD575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06 / AI 协作：完整流程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EF6D074-3B36-40DF-92BB-B6C22E97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AI 提高迭代速度，人负责证据、边界与最终判断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CE945274-0BF2-458E-AF2A-986BFB5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553EDFC6-6C7A-4E95-8591-069A837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09</a:t>
            </a:r>
            <a:endParaRPr sz="1200" b="0">
              <a:solidFill>
                <a:srgbClr val="B1A98F"/>
              </a:solidFill>
            </a:endParaRPr>
          </a:p>
        </p:txBody>
      </p:sp>
      <p:sp>
        <p:nvSpPr>
          <p:cNvPr id="5" name="ai-step-0">
            <a:extLst xmlns:a="http://schemas.openxmlformats.org/drawingml/2006/main">
              <a:ext uri="{FF2B5EF4-FFF2-40B4-BE49-F238E27FC236}">
                <a16:creationId xmlns:a16="http://schemas.microsoft.com/office/drawing/2014/main" id="{AD2571B4-DAA6-4E20-B96C-7DB24B4B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6" name="ai-step-text-0">
            <a:extLst xmlns:a="http://schemas.openxmlformats.org/drawingml/2006/main">
              <a:ext uri="{FF2B5EF4-FFF2-40B4-BE49-F238E27FC236}">
                <a16:creationId xmlns:a16="http://schemas.microsoft.com/office/drawing/2014/main" id="{38E571E5-2D59-4CA2-94E4-DC792A4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冻结需求</a:t>
            </a:r>
            <a:endParaRPr sz="1500" b="1">
              <a:solidFill>
                <a:srgbClr val="F4E7C2"/>
              </a:solidFill>
            </a:endParaRPr>
          </a:p>
        </p:txBody>
      </p:sp>
      <p:sp>
        <p:nvSpPr>
          <p:cNvPr id="7" name="ai-arrow-0">
            <a:extLst xmlns:a="http://schemas.openxmlformats.org/drawingml/2006/main">
              <a:ext uri="{FF2B5EF4-FFF2-40B4-BE49-F238E27FC236}">
                <a16:creationId xmlns:a16="http://schemas.microsoft.com/office/drawing/2014/main" id="{B3CED2CA-BF06-4C96-8919-B369B6E5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  <a:endParaRPr sz="1800" b="1">
              <a:solidFill>
                <a:srgbClr val="B1A98F"/>
              </a:solidFill>
            </a:endParaRPr>
          </a:p>
        </p:txBody>
      </p:sp>
      <p:sp>
        <p:nvSpPr>
          <p:cNvPr id="8" name="ai-step-1">
            <a:extLst xmlns:a="http://schemas.openxmlformats.org/drawingml/2006/main">
              <a:ext uri="{FF2B5EF4-FFF2-40B4-BE49-F238E27FC236}">
                <a16:creationId xmlns:a16="http://schemas.microsoft.com/office/drawing/2014/main" id="{CF341725-CAE8-47E1-8E0E-BFC4A5E9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9" name="ai-step-text-1">
            <a:extLst xmlns:a="http://schemas.openxmlformats.org/drawingml/2006/main">
              <a:ext uri="{FF2B5EF4-FFF2-40B4-BE49-F238E27FC236}">
                <a16:creationId xmlns:a16="http://schemas.microsoft.com/office/drawing/2014/main" id="{628C3F6D-FBC8-4E53-9D2D-0F6321EB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AI 方案/代码/测试</a:t>
            </a:r>
            <a:endParaRPr sz="1500" b="1">
              <a:solidFill>
                <a:srgbClr val="F4E7C2"/>
              </a:solidFill>
            </a:endParaRPr>
          </a:p>
        </p:txBody>
      </p:sp>
      <p:sp>
        <p:nvSpPr>
          <p:cNvPr id="10" name="ai-arrow-1">
            <a:extLst xmlns:a="http://schemas.openxmlformats.org/drawingml/2006/main">
              <a:ext uri="{FF2B5EF4-FFF2-40B4-BE49-F238E27FC236}">
                <a16:creationId xmlns:a16="http://schemas.microsoft.com/office/drawing/2014/main" id="{5617721C-077B-4B10-ABE0-E3D3BCC4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  <a:endParaRPr sz="1800" b="1">
              <a:solidFill>
                <a:srgbClr val="B1A98F"/>
              </a:solidFill>
            </a:endParaRPr>
          </a:p>
        </p:txBody>
      </p:sp>
      <p:sp>
        <p:nvSpPr>
          <p:cNvPr id="11" name="ai-step-2">
            <a:extLst xmlns:a="http://schemas.openxmlformats.org/drawingml/2006/main">
              <a:ext uri="{FF2B5EF4-FFF2-40B4-BE49-F238E27FC236}">
                <a16:creationId xmlns:a16="http://schemas.microsoft.com/office/drawing/2014/main" id="{15862792-8B58-49C3-8398-47340998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2" name="ai-step-text-2">
            <a:extLst xmlns:a="http://schemas.openxmlformats.org/drawingml/2006/main">
              <a:ext uri="{FF2B5EF4-FFF2-40B4-BE49-F238E27FC236}">
                <a16:creationId xmlns:a16="http://schemas.microsoft.com/office/drawing/2014/main" id="{0084E0DF-2E59-4022-BC4D-9B388A48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真人运行审图</a:t>
            </a:r>
            <a:endParaRPr sz="1500" b="1">
              <a:solidFill>
                <a:srgbClr val="F4E7C2"/>
              </a:solidFill>
            </a:endParaRPr>
          </a:p>
        </p:txBody>
      </p:sp>
      <p:sp>
        <p:nvSpPr>
          <p:cNvPr id="13" name="ai-arrow-2">
            <a:extLst xmlns:a="http://schemas.openxmlformats.org/drawingml/2006/main">
              <a:ext uri="{FF2B5EF4-FFF2-40B4-BE49-F238E27FC236}">
                <a16:creationId xmlns:a16="http://schemas.microsoft.com/office/drawing/2014/main" id="{CF7E009F-DAAF-48B4-9171-D9CEB3E2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  <a:endParaRPr sz="1800" b="1">
              <a:solidFill>
                <a:srgbClr val="B1A98F"/>
              </a:solidFill>
            </a:endParaRPr>
          </a:p>
        </p:txBody>
      </p:sp>
      <p:sp>
        <p:nvSpPr>
          <p:cNvPr id="14" name="ai-step-3">
            <a:extLst xmlns:a="http://schemas.openxmlformats.org/drawingml/2006/main">
              <a:ext uri="{FF2B5EF4-FFF2-40B4-BE49-F238E27FC236}">
                <a16:creationId xmlns:a16="http://schemas.microsoft.com/office/drawing/2014/main" id="{A7A41318-88FC-46EA-A0B9-2E5CFA7B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19050">
            <a:solidFill>
              <a:srgbClr val="F0B34A"/>
            </a:solidFill>
            <a:prstDash val="solid"/>
          </a:ln>
        </p:spPr>
      </p:sp>
      <p:sp>
        <p:nvSpPr>
          <p:cNvPr id="15" name="ai-step-text-3">
            <a:extLst xmlns:a="http://schemas.openxmlformats.org/drawingml/2006/main">
              <a:ext uri="{FF2B5EF4-FFF2-40B4-BE49-F238E27FC236}">
                <a16:creationId xmlns:a16="http://schemas.microsoft.com/office/drawing/2014/main" id="{466C07FF-8D43-4DF7-8BD7-50EC8BAF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0B34A"/>
                </a:solidFill>
              </a:defRPr>
            </a:pPr>
            <a:r>
              <a:rPr sz="1500" b="1">
                <a:solidFill>
                  <a:srgbClr val="F0B34A"/>
                </a:solidFill>
              </a:rPr>
              <a:t>反证与取舍</a:t>
            </a:r>
            <a:endParaRPr sz="1500" b="1">
              <a:solidFill>
                <a:srgbClr val="F0B34A"/>
              </a:solidFill>
            </a:endParaRPr>
          </a:p>
        </p:txBody>
      </p:sp>
      <p:sp>
        <p:nvSpPr>
          <p:cNvPr id="16" name="ai-arrow-3">
            <a:extLst xmlns:a="http://schemas.openxmlformats.org/drawingml/2006/main">
              <a:ext uri="{FF2B5EF4-FFF2-40B4-BE49-F238E27FC236}">
                <a16:creationId xmlns:a16="http://schemas.microsoft.com/office/drawing/2014/main" id="{413E4009-33E0-4146-9E45-66323F80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43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1A98F"/>
                </a:solidFill>
              </a:defRPr>
            </a:pPr>
            <a:r>
              <a:rPr sz="1800" b="1">
                <a:solidFill>
                  <a:srgbClr val="B1A98F"/>
                </a:solidFill>
              </a:rPr>
              <a:t>→</a:t>
            </a:r>
            <a:endParaRPr sz="1800" b="1">
              <a:solidFill>
                <a:srgbClr val="B1A98F"/>
              </a:solidFill>
            </a:endParaRPr>
          </a:p>
        </p:txBody>
      </p:sp>
      <p:sp>
        <p:nvSpPr>
          <p:cNvPr id="17" name="ai-step-4">
            <a:extLst xmlns:a="http://schemas.openxmlformats.org/drawingml/2006/main">
              <a:ext uri="{FF2B5EF4-FFF2-40B4-BE49-F238E27FC236}">
                <a16:creationId xmlns:a16="http://schemas.microsoft.com/office/drawing/2014/main" id="{C3CC3C4E-9D9D-4D48-BC64-3D48A2FA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8" name="ai-step-text-4">
            <a:extLst xmlns:a="http://schemas.openxmlformats.org/drawingml/2006/main">
              <a:ext uri="{FF2B5EF4-FFF2-40B4-BE49-F238E27FC236}">
                <a16:creationId xmlns:a16="http://schemas.microsoft.com/office/drawing/2014/main" id="{BDCC8F0A-2CE3-439C-B05D-DBA692E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E7C2"/>
                </a:solidFill>
              </a:defRPr>
            </a:pPr>
            <a:r>
              <a:rPr sz="1500" b="1">
                <a:solidFill>
                  <a:srgbClr val="F4E7C2"/>
                </a:solidFill>
              </a:rPr>
              <a:t>回归并归档</a:t>
            </a:r>
            <a:endParaRPr sz="1500" b="1">
              <a:solidFill>
                <a:srgbClr val="F4E7C2"/>
              </a:solidFill>
            </a:endParaRPr>
          </a:p>
        </p:txBody>
      </p:sp>
      <p:pic>
        <p:nvPicPr>
          <p:cNvPr id="54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9eb6340bd4aca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pic>
        <p:nvPicPr>
          <p:cNvPr id="55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c9c0679d43ed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2533650"/>
            <a:ext cx="3390900" cy="211455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21" name="ai-before-label">
            <a:extLst xmlns:a="http://schemas.openxmlformats.org/drawingml/2006/main">
              <a:ext uri="{FF2B5EF4-FFF2-40B4-BE49-F238E27FC236}">
                <a16:creationId xmlns:a16="http://schemas.microsoft.com/office/drawing/2014/main" id="{1575C252-217F-473B-90C1-CCD5D017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06464"/>
                </a:solidFill>
              </a:defRPr>
            </a:pPr>
            <a:r>
              <a:rPr sz="1350" b="0">
                <a:solidFill>
                  <a:srgbClr val="F06464"/>
                </a:solidFill>
              </a:rPr>
              <a:t>首轮：扫描过强 / 构筑区偏空</a:t>
            </a:r>
            <a:endParaRPr sz="1350" b="0">
              <a:solidFill>
                <a:srgbClr val="F06464"/>
              </a:solidFill>
            </a:endParaRPr>
          </a:p>
        </p:txBody>
      </p:sp>
      <p:sp>
        <p:nvSpPr>
          <p:cNvPr id="22" name="ai-after-label">
            <a:extLst xmlns:a="http://schemas.openxmlformats.org/drawingml/2006/main">
              <a:ext uri="{FF2B5EF4-FFF2-40B4-BE49-F238E27FC236}">
                <a16:creationId xmlns:a16="http://schemas.microsoft.com/office/drawing/2014/main" id="{AC6029CA-9B6A-4AB7-9DBE-D14F6570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E5A"/>
                </a:solidFill>
              </a:defRPr>
            </a:pPr>
            <a:r>
              <a:rPr sz="1350" b="0">
                <a:solidFill>
                  <a:srgbClr val="9AAE5A"/>
                </a:solidFill>
              </a:rPr>
              <a:t>回修：单扫描线 / 增长信息补齐</a:t>
            </a:r>
            <a:endParaRPr sz="1350" b="0">
              <a:solidFill>
                <a:srgbClr val="9AAE5A"/>
              </a:solidFill>
            </a:endParaRPr>
          </a:p>
        </p:txBody>
      </p:sp>
      <p:sp>
        <p:nvSpPr>
          <p:cNvPr id="23" name="ai-critical-title">
            <a:extLst xmlns:a="http://schemas.openxmlformats.org/drawingml/2006/main">
              <a:ext uri="{FF2B5EF4-FFF2-40B4-BE49-F238E27FC236}">
                <a16:creationId xmlns:a16="http://schemas.microsoft.com/office/drawing/2014/main" id="{62F9451A-2398-4135-8E48-967D02F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0B34A"/>
                </a:solidFill>
              </a:defRPr>
            </a:pPr>
            <a:r>
              <a:rPr sz="1950" b="1">
                <a:solidFill>
                  <a:srgbClr val="F0B34A"/>
                </a:solidFill>
              </a:rPr>
              <a:t>三个关键的人类判断</a:t>
            </a:r>
            <a:endParaRPr sz="1950" b="1">
              <a:solidFill>
                <a:srgbClr val="F0B34A"/>
              </a:solidFill>
            </a:endParaRPr>
          </a:p>
        </p:txBody>
      </p:sp>
      <p:sp>
        <p:nvSpPr>
          <p:cNvPr id="24" name="decision-mark-0">
            <a:extLst xmlns:a="http://schemas.openxmlformats.org/drawingml/2006/main">
              <a:ext uri="{FF2B5EF4-FFF2-40B4-BE49-F238E27FC236}">
                <a16:creationId xmlns:a16="http://schemas.microsoft.com/office/drawing/2014/main" id="{EF5E7AA5-C434-40FA-BA03-B9BCDCF1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cision-0">
            <a:extLst xmlns:a="http://schemas.openxmlformats.org/drawingml/2006/main">
              <a:ext uri="{FF2B5EF4-FFF2-40B4-BE49-F238E27FC236}">
                <a16:creationId xmlns:a16="http://schemas.microsoft.com/office/drawing/2014/main" id="{21AE3231-150D-43A1-B8CE-8856516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否决“另写预演规则”</a:t>
            </a:r>
            <a:endParaRPr sz="14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预演 / 执行共用同一计算</a:t>
            </a:r>
            <a:endParaRPr sz="1425" b="0">
              <a:solidFill>
                <a:srgbClr val="F4E7C2"/>
              </a:solidFill>
            </a:endParaRPr>
          </a:p>
        </p:txBody>
      </p:sp>
      <p:sp>
        <p:nvSpPr>
          <p:cNvPr id="26" name="decision-mark-1">
            <a:extLst xmlns:a="http://schemas.openxmlformats.org/drawingml/2006/main">
              <a:ext uri="{FF2B5EF4-FFF2-40B4-BE49-F238E27FC236}">
                <a16:creationId xmlns:a16="http://schemas.microsoft.com/office/drawing/2014/main" id="{50FA0DE9-E3F1-45CD-8E01-BEE1CF5B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1">
            <a:extLst xmlns:a="http://schemas.openxmlformats.org/drawingml/2006/main">
              <a:ext uri="{FF2B5EF4-FFF2-40B4-BE49-F238E27FC236}">
                <a16:creationId xmlns:a16="http://schemas.microsoft.com/office/drawing/2014/main" id="{E5912769-8334-4C2E-A112-21E4FFDF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不相信“代码改完即完成”</a:t>
            </a:r>
            <a:endParaRPr sz="14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六种状态逐张审图，再做启动检查</a:t>
            </a:r>
            <a:endParaRPr sz="1425" b="0">
              <a:solidFill>
                <a:srgbClr val="F4E7C2"/>
              </a:solidFill>
            </a:endParaRPr>
          </a:p>
        </p:txBody>
      </p:sp>
      <p:sp>
        <p:nvSpPr>
          <p:cNvPr id="28" name="decision-mark-2">
            <a:extLst xmlns:a="http://schemas.openxmlformats.org/drawingml/2006/main">
              <a:ext uri="{FF2B5EF4-FFF2-40B4-BE49-F238E27FC236}">
                <a16:creationId xmlns:a16="http://schemas.microsoft.com/office/drawing/2014/main" id="{9E75170C-D7D2-4F9E-9BA1-2D1CFB9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cision-2">
            <a:extLst xmlns:a="http://schemas.openxmlformats.org/drawingml/2006/main">
              <a:ext uri="{FF2B5EF4-FFF2-40B4-BE49-F238E27FC236}">
                <a16:creationId xmlns:a16="http://schemas.microsoft.com/office/drawing/2014/main" id="{0553399A-BB90-45CA-989B-E7C3D19D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盲测数值意见相互矛盾</a:t>
            </a:r>
            <a:endParaRPr sz="14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F4E7C2"/>
                </a:solidFill>
              </a:defRPr>
            </a:pPr>
            <a:r>
              <a:rPr sz="1425" b="0">
                <a:solidFill>
                  <a:srgbClr val="F4E7C2"/>
                </a:solidFill>
              </a:rPr>
              <a:t>→ 不冒险改平衡，只修共性可读性</a:t>
            </a:r>
            <a:endParaRPr sz="1425" b="0">
              <a:solidFill>
                <a:srgbClr val="F4E7C2"/>
              </a:solidFill>
            </a:endParaRPr>
          </a:p>
        </p:txBody>
      </p:sp>
      <p:sp>
        <p:nvSpPr>
          <p:cNvPr id="30" name="ai-roles">
            <a:extLst xmlns:a="http://schemas.openxmlformats.org/drawingml/2006/main">
              <a:ext uri="{FF2B5EF4-FFF2-40B4-BE49-F238E27FC236}">
                <a16:creationId xmlns:a16="http://schemas.microsoft.com/office/drawing/2014/main" id="{05600EB1-A847-4E25-B987-29F3209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31" name="ai-role-ai">
            <a:extLst xmlns:a="http://schemas.openxmlformats.org/drawingml/2006/main">
              <a:ext uri="{FF2B5EF4-FFF2-40B4-BE49-F238E27FC236}">
                <a16:creationId xmlns:a16="http://schemas.microsoft.com/office/drawing/2014/main" id="{3BCE6A54-30F1-4B5F-944B-F85098DB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9A93D"/>
                </a:solidFill>
              </a:defRPr>
            </a:pPr>
            <a:r>
              <a:rPr sz="1500" b="0">
                <a:solidFill>
                  <a:srgbClr val="D9A93D"/>
                </a:solidFill>
              </a:rPr>
              <a:t>AI：方案比较、代码辅助、测试生成、文档整理</a:t>
            </a:r>
            <a:endParaRPr sz="1500" b="0">
              <a:solidFill>
                <a:srgbClr val="D9A93D"/>
              </a:solidFill>
            </a:endParaRPr>
          </a:p>
        </p:txBody>
      </p:sp>
      <p:sp>
        <p:nvSpPr>
          <p:cNvPr id="32" name="ai-role-human">
            <a:extLst xmlns:a="http://schemas.openxmlformats.org/drawingml/2006/main">
              <a:ext uri="{FF2B5EF4-FFF2-40B4-BE49-F238E27FC236}">
                <a16:creationId xmlns:a16="http://schemas.microsoft.com/office/drawing/2014/main" id="{FEA4972E-4329-4B79-AD5E-59A90D0B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0B34A"/>
                </a:solidFill>
              </a:defRPr>
            </a:pPr>
            <a:r>
              <a:rPr sz="1500" b="0">
                <a:solidFill>
                  <a:srgbClr val="F0B34A"/>
                </a:solidFill>
              </a:rPr>
              <a:t>人：冻结方向、运行验证、</a:t>
            </a:r>
            <a:r>
              <a:rPr>
                <a:solidFill>
                  <a:srgbClr val="D9A93D"/>
                </a:solidFill>
              </a:rPr>
              <a:t>视觉审查、</a:t>
            </a:r>
            <a:r>
              <a:rPr sz="1500" b="0">
                <a:solidFill>
                  <a:srgbClr val="F0B34A"/>
                </a:solidFill>
              </a:rPr>
              <a:t>版权/风险把关、否决错误、现场验收</a:t>
            </a:r>
            <a:endParaRPr sz="1500" b="0">
              <a:solidFill>
                <a:srgbClr val="F0B3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18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10">
            <a:extLst xmlns:a="http://schemas.openxmlformats.org/drawingml/2006/main">
              <a:ext uri="{FF2B5EF4-FFF2-40B4-BE49-F238E27FC236}">
                <a16:creationId xmlns:a16="http://schemas.microsoft.com/office/drawing/2014/main" id="{2FDB89E5-5782-49C8-97F7-BB32353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07 / AI 协作：批判性思考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6CF46B8-C00F-43AC-A22C-5CD590E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没有照单全收：每次 AI 建议都要经过反证和现场检查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283FBF11-E340-4CE3-9B2D-0F83FF9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0F2C7AB7-22E2-4E01-AA30-64280C9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10</a:t>
            </a:r>
            <a:endParaRPr sz="1200" b="0">
              <a:solidFill>
                <a:srgbClr val="B1A98F"/>
              </a:solidFill>
            </a:endParaRPr>
          </a:p>
        </p:txBody>
      </p:sp>
      <p:sp>
        <p:nvSpPr>
          <p:cNvPr id="5" name="case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3EF692DA-FC1C-451C-9420-72DA177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6" name="case-color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C476FD7A-8CC8-4C82-B231-0DDC9AA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title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60330DA0-42A0-4681-8E6D-6D94BE6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A93D"/>
                </a:solidFill>
              </a:defRPr>
            </a:pPr>
            <a:r>
              <a:rPr sz="1650" b="1">
                <a:solidFill>
                  <a:srgbClr val="D9A93D"/>
                </a:solidFill>
              </a:rPr>
              <a:t>案例 1｜预演会不会“骗玩家”</a:t>
            </a:r>
            <a:endParaRPr sz="1650" b="1">
              <a:solidFill>
                <a:srgbClr val="D9A93D"/>
              </a:solidFill>
            </a:endParaRPr>
          </a:p>
        </p:txBody>
      </p:sp>
      <p:sp>
        <p:nvSpPr>
          <p:cNvPr id="8" name="case-ai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2A91BDAB-0C1D-40AB-9335-0E56804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AI 初稿：预演单独计算，开发快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9" name="case-check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49D22B09-96C0-4759-ABE7-F0C96AA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人的追问：两套规则迟早出现不同结果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10" name="case-decision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AD355D68-3698-4BAE-A790-BC55C149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430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A93D"/>
                </a:solidFill>
              </a:defRPr>
            </a:pPr>
            <a:r>
              <a:rPr sz="1275" b="1">
                <a:solidFill>
                  <a:srgbClr val="D9A93D"/>
                </a:solidFill>
              </a:rPr>
              <a:t>最后决定：预演和执行共用一套模拟；自动逐状态对照</a:t>
            </a:r>
            <a:endParaRPr sz="1275" b="1">
              <a:solidFill>
                <a:srgbClr val="D9A93D"/>
              </a:solidFill>
            </a:endParaRPr>
          </a:p>
        </p:txBody>
      </p:sp>
      <p:sp>
        <p:nvSpPr>
          <p:cNvPr id="11" name="case-labels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67B7E5B4-E01D-4DE8-B01E-AF02554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建议</a:t>
            </a:r>
            <a:endParaRPr sz="1050" b="0">
              <a:solidFill>
                <a:srgbClr val="B1A98F"/>
              </a:solidFill>
            </a:endParaRPr>
          </a:p>
        </p:txBody>
      </p:sp>
      <p:sp>
        <p:nvSpPr>
          <p:cNvPr id="12" name="case-labelh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F0FFDAC4-34AD-4611-814F-36C84A54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人工验证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13" name="case-labeld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75F1E797-4231-4469-8A4F-2045E9F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9A93D"/>
                </a:solidFill>
              </a:defRPr>
            </a:pPr>
            <a:r>
              <a:rPr sz="1050" b="0">
                <a:solidFill>
                  <a:srgbClr val="D9A93D"/>
                </a:solidFill>
              </a:rPr>
              <a:t>最终取舍</a:t>
            </a:r>
            <a:endParaRPr sz="1050" b="0">
              <a:solidFill>
                <a:srgbClr val="D9A93D"/>
              </a:solidFill>
            </a:endParaRPr>
          </a:p>
        </p:txBody>
      </p:sp>
      <p:sp>
        <p:nvSpPr>
          <p:cNvPr id="14" name="case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E421A6DD-FC30-4AC7-900E-CDD48D9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5" name="case-color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A6D7AC0F-BD8D-4EDC-AF85-A4FCCE4A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se-title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ED02A8CB-F770-4F82-AD97-F81110E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案例 2｜画面是否真的清楚</a:t>
            </a:r>
            <a:endParaRPr sz="1650" b="1">
              <a:solidFill>
                <a:srgbClr val="F0B34A"/>
              </a:solidFill>
            </a:endParaRPr>
          </a:p>
        </p:txBody>
      </p:sp>
      <p:sp>
        <p:nvSpPr>
          <p:cNvPr id="17" name="case-ai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30B6B128-63DF-4E7B-B661-37A2AC95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AI 判断：布局已经完整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18" name="case-check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AFDEF570-4206-49FB-93D6-56D973E1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真人审图：扫描线太抢眼、构筑区偏空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19" name="case-decision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E6AB3D54-FEE1-4C1E-B8B0-227D3F01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146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B34A"/>
                </a:solidFill>
              </a:defRPr>
            </a:pPr>
            <a:r>
              <a:rPr sz="1275" b="1">
                <a:solidFill>
                  <a:srgbClr val="F0B34A"/>
                </a:solidFill>
              </a:rPr>
              <a:t>最后决定：降低扫描线、补充构筑增长信息，再次截图复核</a:t>
            </a:r>
            <a:endParaRPr sz="1275" b="1">
              <a:solidFill>
                <a:srgbClr val="F0B34A"/>
              </a:solidFill>
            </a:endParaRPr>
          </a:p>
        </p:txBody>
      </p:sp>
      <p:sp>
        <p:nvSpPr>
          <p:cNvPr id="20" name="case-labels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83912430-BD11-4251-BB47-8CCF14F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建议</a:t>
            </a:r>
            <a:endParaRPr sz="1050" b="0">
              <a:solidFill>
                <a:srgbClr val="B1A98F"/>
              </a:solidFill>
            </a:endParaRPr>
          </a:p>
        </p:txBody>
      </p:sp>
      <p:sp>
        <p:nvSpPr>
          <p:cNvPr id="21" name="case-labelh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06C96583-E98A-41B1-BDBC-FA61FC17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人工验证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22" name="case-labeld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D5B7EDC2-1F17-4798-8EB8-9BC6DA5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最终取舍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23" name="case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6A44441C-3021-4975-B4CC-6EB005C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4" name="case-color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0F5A05DA-77F0-4EE7-857D-E338953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se-title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4A891D9C-6C6F-4AF9-A35F-E92B325C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AAE5A"/>
                </a:solidFill>
              </a:defRPr>
            </a:pPr>
            <a:r>
              <a:rPr sz="1650" b="1">
                <a:solidFill>
                  <a:srgbClr val="9AAE5A"/>
                </a:solidFill>
              </a:rPr>
              <a:t>案例 3｜是不是代码 Bug</a:t>
            </a:r>
            <a:endParaRPr sz="1650" b="1">
              <a:solidFill>
                <a:srgbClr val="9AAE5A"/>
              </a:solidFill>
            </a:endParaRPr>
          </a:p>
        </p:txBody>
      </p:sp>
      <p:sp>
        <p:nvSpPr>
          <p:cNvPr id="26" name="case-ai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4B43F3D6-E1D6-4EA7-AAEF-A6FC9F5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AI 猜测：WASD 映射或焦点有问题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27" name="case-check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F16E5891-DD6A-4955-8192-2F5A814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862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真人日志：英文输入正常，中文输入法没有送出可用按键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28" name="case-decision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57BB7383-C9EC-4584-8648-9CAABAD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AAE5A"/>
                </a:solidFill>
              </a:defRPr>
            </a:pPr>
            <a:r>
              <a:rPr sz="1275" b="1">
                <a:solidFill>
                  <a:srgbClr val="9AAE5A"/>
                </a:solidFill>
              </a:rPr>
              <a:t>最后决定：撤回无效旁路；现场切英文输入法，不改稳定代码</a:t>
            </a:r>
            <a:endParaRPr sz="1275" b="1">
              <a:solidFill>
                <a:srgbClr val="9AAE5A"/>
              </a:solidFill>
            </a:endParaRPr>
          </a:p>
        </p:txBody>
      </p:sp>
      <p:sp>
        <p:nvSpPr>
          <p:cNvPr id="29" name="case-labels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71BD24FD-6E45-4338-8897-A4E2406F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建议</a:t>
            </a:r>
            <a:endParaRPr sz="1050" b="0">
              <a:solidFill>
                <a:srgbClr val="B1A98F"/>
              </a:solidFill>
            </a:endParaRPr>
          </a:p>
        </p:txBody>
      </p:sp>
      <p:sp>
        <p:nvSpPr>
          <p:cNvPr id="30" name="case-labelh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7EC75178-F556-458C-90A8-55C37D87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人工验证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31" name="case-labeld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5EC350C0-1991-478B-A5AB-72C1E8E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E5A"/>
                </a:solidFill>
              </a:defRPr>
            </a:pPr>
            <a:r>
              <a:rPr sz="1050" b="0">
                <a:solidFill>
                  <a:srgbClr val="9AAE5A"/>
                </a:solidFill>
              </a:rPr>
              <a:t>最终取舍</a:t>
            </a:r>
            <a:endParaRPr sz="1050" b="0">
              <a:solidFill>
                <a:srgbClr val="9AAE5A"/>
              </a:solidFill>
            </a:endParaRPr>
          </a:p>
        </p:txBody>
      </p:sp>
      <p:sp>
        <p:nvSpPr>
          <p:cNvPr id="32" name="ai-boundary">
            <a:extLst xmlns:a="http://schemas.openxmlformats.org/drawingml/2006/main">
              <a:ext uri="{FF2B5EF4-FFF2-40B4-BE49-F238E27FC236}">
                <a16:creationId xmlns:a16="http://schemas.microsoft.com/office/drawing/2014/main" id="{5FA5C55D-EC51-48A4-BF93-F17CF58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F06464"/>
            </a:solidFill>
            <a:prstDash val="solid"/>
          </a:ln>
        </p:spPr>
      </p:sp>
      <p:sp>
        <p:nvSpPr>
          <p:cNvPr id="33" name="ai-boundary-text">
            <a:extLst xmlns:a="http://schemas.openxmlformats.org/drawingml/2006/main">
              <a:ext uri="{FF2B5EF4-FFF2-40B4-BE49-F238E27FC236}">
                <a16:creationId xmlns:a16="http://schemas.microsoft.com/office/drawing/2014/main" id="{7AF6088E-0321-432E-B5F8-759BC6C0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能力边界：AI 能加速方案、代码和检查，但不能代替真实运行、盲测、版权判断与负责人确认。</a:t>
            </a:r>
            <a:endParaRPr sz="1575" b="1">
              <a:solidFill>
                <a:srgbClr val="F4E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25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1">
            <a:extLst xmlns:a="http://schemas.openxmlformats.org/drawingml/2006/main">
              <a:ext uri="{FF2B5EF4-FFF2-40B4-BE49-F238E27FC236}">
                <a16:creationId xmlns:a16="http://schemas.microsoft.com/office/drawing/2014/main" id="{EFEB2801-CD3A-4F8C-A635-8135B2BD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08 / 验收证据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5536EFB2-FF70-406E-908B-316F01B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终验结论：创新可见、流程跑通、交付可复现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5E945F19-1312-492B-96B2-FA8B2EE0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9E2B07C-9B47-4D2E-83CC-4295425D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11</a:t>
            </a:r>
            <a:endParaRPr sz="1200" b="0">
              <a:solidFill>
                <a:srgbClr val="B1A98F"/>
              </a:solidFill>
            </a:endParaRPr>
          </a:p>
        </p:txBody>
      </p:sp>
      <p:sp>
        <p:nvSpPr>
          <p:cNvPr id="5" name="evidence-lead">
            <a:extLst xmlns:a="http://schemas.openxmlformats.org/drawingml/2006/main">
              <a:ext uri="{FF2B5EF4-FFF2-40B4-BE49-F238E27FC236}">
                <a16:creationId xmlns:a16="http://schemas.microsoft.com/office/drawing/2014/main" id="{E60B2C10-239A-4F1B-9402-6D294589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E7C2"/>
                </a:solidFill>
              </a:defRPr>
            </a:pPr>
            <a:r>
              <a:rPr sz="1875" b="0">
                <a:solidFill>
                  <a:srgbClr val="F4E7C2"/>
                </a:solidFill>
              </a:rPr>
              <a:t>项目证据覆盖自动化、完整路径、真人盲测与发布包，而不是只展示代码截图。</a:t>
            </a:r>
            <a:endParaRPr sz="1875" b="0">
              <a:solidFill>
                <a:srgbClr val="F4E7C2"/>
              </a:solidFill>
            </a:endParaRPr>
          </a:p>
        </p:txBody>
      </p:sp>
      <p:sp>
        <p:nvSpPr>
          <p:cNvPr id="6" name="metric-bg-56">
            <a:extLst xmlns:a="http://schemas.openxmlformats.org/drawingml/2006/main">
              <a:ext uri="{FF2B5EF4-FFF2-40B4-BE49-F238E27FC236}">
                <a16:creationId xmlns:a16="http://schemas.microsoft.com/office/drawing/2014/main" id="{23556AD5-0D5B-449B-8354-8B589DB5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7" name="metric-accent-56">
            <a:extLst xmlns:a="http://schemas.openxmlformats.org/drawingml/2006/main">
              <a:ext uri="{FF2B5EF4-FFF2-40B4-BE49-F238E27FC236}">
                <a16:creationId xmlns:a16="http://schemas.microsoft.com/office/drawing/2014/main" id="{E32A7BBE-1EE6-4619-97A5-FF1A63D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56">
            <a:extLst xmlns:a="http://schemas.openxmlformats.org/drawingml/2006/main">
              <a:ext uri="{FF2B5EF4-FFF2-40B4-BE49-F238E27FC236}">
                <a16:creationId xmlns:a16="http://schemas.microsoft.com/office/drawing/2014/main" id="{7E88787E-8EC7-4325-8A6A-B055E258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D9A93D"/>
                </a:solidFill>
              </a:defRPr>
            </a:pPr>
            <a:r>
              <a:rPr sz="5400" b="1">
                <a:solidFill>
                  <a:srgbClr val="D9A93D"/>
                </a:solidFill>
              </a:rPr>
              <a:t>146</a:t>
            </a:r>
            <a:endParaRPr sz="5400" b="1">
              <a:solidFill>
                <a:srgbClr val="D9A93D"/>
              </a:solidFill>
            </a:endParaRPr>
          </a:p>
        </p:txBody>
      </p:sp>
      <p:sp>
        <p:nvSpPr>
          <p:cNvPr id="9" name="metric-label-56">
            <a:extLst xmlns:a="http://schemas.openxmlformats.org/drawingml/2006/main">
              <a:ext uri="{FF2B5EF4-FFF2-40B4-BE49-F238E27FC236}">
                <a16:creationId xmlns:a16="http://schemas.microsoft.com/office/drawing/2014/main" id="{1680DDEA-8F88-4D2B-9FE1-AF752BD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项自动化测试全部通过</a:t>
            </a:r>
            <a:endParaRPr sz="17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覆盖模拟、AI、地图、UI 与双关</a:t>
            </a:r>
            <a:endParaRPr sz="1725" b="0">
              <a:solidFill>
                <a:srgbClr val="F4E7C2"/>
              </a:solidFill>
            </a:endParaRPr>
          </a:p>
        </p:txBody>
      </p:sp>
      <p:sp>
        <p:nvSpPr>
          <p:cNvPr id="10" name="metric-bg-468">
            <a:extLst xmlns:a="http://schemas.openxmlformats.org/drawingml/2006/main">
              <a:ext uri="{FF2B5EF4-FFF2-40B4-BE49-F238E27FC236}">
                <a16:creationId xmlns:a16="http://schemas.microsoft.com/office/drawing/2014/main" id="{AE6C6F53-B3A7-4286-982D-42439893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1" name="metric-accent-468">
            <a:extLst xmlns:a="http://schemas.openxmlformats.org/drawingml/2006/main">
              <a:ext uri="{FF2B5EF4-FFF2-40B4-BE49-F238E27FC236}">
                <a16:creationId xmlns:a16="http://schemas.microsoft.com/office/drawing/2014/main" id="{59CFBFC3-F44D-4453-B454-BAF1789D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468">
            <a:extLst xmlns:a="http://schemas.openxmlformats.org/drawingml/2006/main">
              <a:ext uri="{FF2B5EF4-FFF2-40B4-BE49-F238E27FC236}">
                <a16:creationId xmlns:a16="http://schemas.microsoft.com/office/drawing/2014/main" id="{CBE0BFD2-87B0-4616-9751-1A4A6B3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9AAE5A"/>
                </a:solidFill>
              </a:defRPr>
            </a:pPr>
            <a:r>
              <a:rPr sz="5400" b="1">
                <a:solidFill>
                  <a:srgbClr val="9AAE5A"/>
                </a:solidFill>
              </a:rPr>
              <a:t>100%</a:t>
            </a:r>
            <a:endParaRPr sz="5400" b="1">
              <a:solidFill>
                <a:srgbClr val="9AAE5A"/>
              </a:solidFill>
            </a:endParaRPr>
          </a:p>
        </p:txBody>
      </p:sp>
      <p:sp>
        <p:nvSpPr>
          <p:cNvPr id="13" name="metric-label-468">
            <a:extLst xmlns:a="http://schemas.openxmlformats.org/drawingml/2006/main">
              <a:ext uri="{FF2B5EF4-FFF2-40B4-BE49-F238E27FC236}">
                <a16:creationId xmlns:a16="http://schemas.microsoft.com/office/drawing/2014/main" id="{B1359AD2-87B8-4A93-B67D-737D1796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3/3 新玩家理解预演与逆相</a:t>
            </a:r>
            <a:endParaRPr sz="1725" b="0">
              <a:solidFill>
                <a:srgbClr val="F4E7C2"/>
              </a:solidFill>
            </a:endParaRPr>
          </a:p>
        </p:txBody>
      </p:sp>
      <p:sp>
        <p:nvSpPr>
          <p:cNvPr id="14" name="metric-bg-880">
            <a:extLst xmlns:a="http://schemas.openxmlformats.org/drawingml/2006/main">
              <a:ext uri="{FF2B5EF4-FFF2-40B4-BE49-F238E27FC236}">
                <a16:creationId xmlns:a16="http://schemas.microsoft.com/office/drawing/2014/main" id="{97F1B42F-148C-4028-96ED-CFE62CC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5" name="metric-accent-880">
            <a:extLst xmlns:a="http://schemas.openxmlformats.org/drawingml/2006/main">
              <a:ext uri="{FF2B5EF4-FFF2-40B4-BE49-F238E27FC236}">
                <a16:creationId xmlns:a16="http://schemas.microsoft.com/office/drawing/2014/main" id="{5C79D987-5515-49E0-89F9-03A3486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880">
            <a:extLst xmlns:a="http://schemas.openxmlformats.org/drawingml/2006/main">
              <a:ext uri="{FF2B5EF4-FFF2-40B4-BE49-F238E27FC236}">
                <a16:creationId xmlns:a16="http://schemas.microsoft.com/office/drawing/2014/main" id="{F72BD495-F8DF-458A-BFF9-CD037C1F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0B34A"/>
                </a:solidFill>
              </a:defRPr>
            </a:pPr>
            <a:r>
              <a:rPr sz="5400" b="1">
                <a:solidFill>
                  <a:srgbClr val="F0B34A"/>
                </a:solidFill>
              </a:rPr>
              <a:t>2/3</a:t>
            </a:r>
            <a:endParaRPr sz="5400" b="1">
              <a:solidFill>
                <a:srgbClr val="F0B34A"/>
              </a:solidFill>
            </a:endParaRPr>
          </a:p>
        </p:txBody>
      </p:sp>
      <p:sp>
        <p:nvSpPr>
          <p:cNvPr id="17" name="metric-label-880">
            <a:extLst xmlns:a="http://schemas.openxmlformats.org/drawingml/2006/main">
              <a:ext uri="{FF2B5EF4-FFF2-40B4-BE49-F238E27FC236}">
                <a16:creationId xmlns:a16="http://schemas.microsoft.com/office/drawing/2014/main" id="{C99A069E-6C18-4B0B-9BF1-6C892EED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新玩家无指导通关</a:t>
            </a:r>
            <a:endParaRPr sz="17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观察者介入 0/3、无阻断问题</a:t>
            </a:r>
            <a:endParaRPr sz="1725" b="0">
              <a:solidFill>
                <a:srgbClr val="F4E7C2"/>
              </a:solidFill>
            </a:endParaRPr>
          </a:p>
        </p:txBody>
      </p:sp>
      <p:sp>
        <p:nvSpPr>
          <p:cNvPr id="18" name="delivery-strip">
            <a:extLst xmlns:a="http://schemas.openxmlformats.org/drawingml/2006/main">
              <a:ext uri="{FF2B5EF4-FFF2-40B4-BE49-F238E27FC236}">
                <a16:creationId xmlns:a16="http://schemas.microsoft.com/office/drawing/2014/main" id="{CFBDBEB7-DB54-4F0A-B148-4184BE5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delivery-text">
            <a:extLst xmlns:a="http://schemas.openxmlformats.org/drawingml/2006/main">
              <a:ext uri="{FF2B5EF4-FFF2-40B4-BE49-F238E27FC236}">
                <a16:creationId xmlns:a16="http://schemas.microsoft.com/office/drawing/2014/main" id="{59AD4DCF-8B46-4310-8E74-2513BAA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Windows 发布包已交付 · 动作模式 / 双关展示两条启动检查通过 · 固定关卡编号可复现演示</a:t>
            </a:r>
            <a:endParaRPr sz="1575" b="1">
              <a:solidFill>
                <a:srgbClr val="F4E7C2"/>
              </a:solidFill>
            </a:endParaRPr>
          </a:p>
        </p:txBody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334420BA-55A1-4EC0-AD0E-DCEB217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C58A32"/>
                </a:solidFill>
              </a:defRPr>
            </a:pPr>
            <a:r>
              <a:rPr sz="2325" b="1">
                <a:solidFill>
                  <a:srgbClr val="C58A32"/>
                </a:solidFill>
              </a:rPr>
              <a:t>现在请看现场演示：同样三招，顺序如何改写结局。</a:t>
            </a:r>
            <a:endParaRPr sz="2325" b="1">
              <a:solidFill>
                <a:srgbClr val="C58A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822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10">
            <a:extLst xmlns:a="http://schemas.openxmlformats.org/drawingml/2006/main">
              <a:ext uri="{FF2B5EF4-FFF2-40B4-BE49-F238E27FC236}">
                <a16:creationId xmlns:a16="http://schemas.microsoft.com/office/drawing/2014/main" id="{2FDB89E5-5782-49C8-97F7-BB32353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09 / 实现难点与解决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6CF46B8-C00F-43AC-A22C-5CD590E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AI 加速技术实现，玩法与视觉仍要人来判断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283FBF11-E340-4CE3-9B2D-0F83FF9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0F2C7AB7-22E2-4E01-AA30-64280C9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12</a:t>
            </a:r>
            <a:endParaRPr sz="1200" b="0">
              <a:solidFill>
                <a:srgbClr val="B1A98F"/>
              </a:solidFill>
            </a:endParaRPr>
          </a:p>
        </p:txBody>
      </p:sp>
      <p:sp>
        <p:nvSpPr>
          <p:cNvPr id="5" name="case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3EF692DA-FC1C-451C-9420-72DA177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6" name="case-color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C476FD7A-8CC8-4C82-B231-0DDC9AA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title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60330DA0-42A0-4681-8E6D-6D94BE6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A93D"/>
                </a:solidFill>
              </a:defRPr>
            </a:pPr>
            <a:r>
              <a:rPr sz="1650" b="1">
                <a:solidFill>
                  <a:srgbClr val="D9A93D"/>
                </a:solidFill>
              </a:rPr>
              <a:t>难点 1｜玩法是否真正好玩</a:t>
            </a:r>
            <a:endParaRPr sz="1650" b="1">
              <a:solidFill>
                <a:srgbClr val="D9A93D"/>
              </a:solidFill>
            </a:endParaRPr>
          </a:p>
        </p:txBody>
      </p:sp>
      <p:sp>
        <p:nvSpPr>
          <p:cNvPr id="8" name="case-ai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2A91BDAB-0C1D-40AB-9335-0E56804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430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快速实现操作、规则和敌人行为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9" name="case-check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49D22B09-96C0-4759-ABE7-F0C96AA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不能亲自感受节奏、压力和策略是否有趣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10" name="case-decision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AD355D68-3698-4BAE-A790-BC55C149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430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A93D"/>
                </a:solidFill>
              </a:defRPr>
            </a:pPr>
            <a:r>
              <a:rPr sz="1275" b="1">
                <a:solidFill>
                  <a:srgbClr val="D9A93D"/>
                </a:solidFill>
              </a:rPr>
              <a:t>开发者反复试玩，删掉不明显或不好玩的设计</a:t>
            </a:r>
            <a:endParaRPr sz="1275" b="1">
              <a:solidFill>
                <a:srgbClr val="D9A93D"/>
              </a:solidFill>
            </a:endParaRPr>
          </a:p>
        </p:txBody>
      </p:sp>
      <p:sp>
        <p:nvSpPr>
          <p:cNvPr id="11" name="case-labels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67B7E5B4-E01D-4DE8-B01E-AF02554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擅长</a:t>
            </a:r>
            <a:endParaRPr sz="1050" b="0">
              <a:solidFill>
                <a:srgbClr val="B1A98F"/>
              </a:solidFill>
            </a:endParaRPr>
          </a:p>
        </p:txBody>
      </p:sp>
      <p:sp>
        <p:nvSpPr>
          <p:cNvPr id="12" name="case-labelh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F0FFDAC4-34AD-4611-814F-36C84A54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AI 局限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13" name="case-labeld-案例 1｜预演会不会“骗玩家”">
            <a:extLst xmlns:a="http://schemas.openxmlformats.org/drawingml/2006/main">
              <a:ext uri="{FF2B5EF4-FFF2-40B4-BE49-F238E27FC236}">
                <a16:creationId xmlns:a16="http://schemas.microsoft.com/office/drawing/2014/main" id="{75F1E797-4231-4469-8A4F-2045E9F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9A93D"/>
                </a:solidFill>
              </a:defRPr>
            </a:pPr>
            <a:r>
              <a:rPr sz="1050" b="0">
                <a:solidFill>
                  <a:srgbClr val="D9A93D"/>
                </a:solidFill>
              </a:rPr>
              <a:t>解决方法</a:t>
            </a:r>
            <a:endParaRPr sz="1050" b="0">
              <a:solidFill>
                <a:srgbClr val="D9A93D"/>
              </a:solidFill>
            </a:endParaRPr>
          </a:p>
        </p:txBody>
      </p:sp>
      <p:sp>
        <p:nvSpPr>
          <p:cNvPr id="14" name="case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E421A6DD-FC30-4AC7-900E-CDD48D9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5" name="case-color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A6D7AC0F-BD8D-4EDC-AF85-A4FCCE4A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se-title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ED02A8CB-F770-4F82-AD97-F81110E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B34A"/>
                </a:solidFill>
              </a:defRPr>
            </a:pPr>
            <a:r>
              <a:rPr sz="1650" b="1">
                <a:solidFill>
                  <a:srgbClr val="F0B34A"/>
                </a:solidFill>
              </a:rPr>
              <a:t>难点 2｜难度和数值是否合适</a:t>
            </a:r>
            <a:endParaRPr sz="1650" b="1">
              <a:solidFill>
                <a:srgbClr val="F0B34A"/>
              </a:solidFill>
            </a:endParaRPr>
          </a:p>
        </p:txBody>
      </p:sp>
      <p:sp>
        <p:nvSpPr>
          <p:cNvPr id="17" name="case-ai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30B6B128-63DF-4E7B-B661-37A2AC95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生成测试、统计结果并快速修改参数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18" name="case-check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AFDEF570-4206-49FB-93D6-56D973E1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无法可靠判断玩家觉得太难、太简单还是不公平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19" name="case-decision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E6AB3D54-FEE1-4C1E-B8B0-227D3F01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146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B34A"/>
                </a:solidFill>
              </a:defRPr>
            </a:pPr>
            <a:r>
              <a:rPr sz="1275" b="1">
                <a:solidFill>
                  <a:srgbClr val="F0B34A"/>
                </a:solidFill>
              </a:rPr>
              <a:t>3 名新玩家无提示盲测；意见不一致时不盲改数值</a:t>
            </a:r>
            <a:endParaRPr sz="1275" b="1">
              <a:solidFill>
                <a:srgbClr val="F0B34A"/>
              </a:solidFill>
            </a:endParaRPr>
          </a:p>
        </p:txBody>
      </p:sp>
      <p:sp>
        <p:nvSpPr>
          <p:cNvPr id="20" name="case-labels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83912430-BD11-4251-BB47-8CCF14F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擅长</a:t>
            </a:r>
            <a:endParaRPr sz="1050" b="0">
              <a:solidFill>
                <a:srgbClr val="B1A98F"/>
              </a:solidFill>
            </a:endParaRPr>
          </a:p>
        </p:txBody>
      </p:sp>
      <p:sp>
        <p:nvSpPr>
          <p:cNvPr id="21" name="case-labelh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06C96583-E98A-41B1-BDBC-FA61FC17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AI 局限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22" name="case-labeld-案例 2｜画面是否真的清楚">
            <a:extLst xmlns:a="http://schemas.openxmlformats.org/drawingml/2006/main">
              <a:ext uri="{FF2B5EF4-FFF2-40B4-BE49-F238E27FC236}">
                <a16:creationId xmlns:a16="http://schemas.microsoft.com/office/drawing/2014/main" id="{D5B7EDC2-1F17-4798-8EB8-9BC6DA5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解决方法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23" name="case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6A44441C-3021-4975-B4CC-6EB005C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24" name="case-color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0F5A05DA-77F0-4EE7-857D-E338953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95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se-title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4A891D9C-6C6F-4AF9-A35F-E92B325C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AAE5A"/>
                </a:solidFill>
              </a:defRPr>
            </a:pPr>
            <a:r>
              <a:rPr sz="1650" b="1">
                <a:solidFill>
                  <a:srgbClr val="9AAE5A"/>
                </a:solidFill>
              </a:rPr>
              <a:t>难点 3｜UI 风格和细节不及预期</a:t>
            </a:r>
            <a:endParaRPr sz="1650" b="1">
              <a:solidFill>
                <a:srgbClr val="9AAE5A"/>
              </a:solidFill>
            </a:endParaRPr>
          </a:p>
        </p:txBody>
      </p:sp>
      <p:sp>
        <p:nvSpPr>
          <p:cNvPr id="26" name="case-ai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4B43F3D6-E1D6-4EA7-AAEF-A6FC9F5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1A98F"/>
                </a:solidFill>
              </a:defRPr>
            </a:pPr>
            <a:r>
              <a:rPr sz="1275" b="0">
                <a:solidFill>
                  <a:srgbClr val="B1A98F"/>
                </a:solidFill>
              </a:rPr>
              <a:t>快速完成界面结构和信息显示</a:t>
            </a:r>
            <a:endParaRPr sz="1275" b="0">
              <a:solidFill>
                <a:srgbClr val="B1A98F"/>
              </a:solidFill>
            </a:endParaRPr>
          </a:p>
        </p:txBody>
      </p:sp>
      <p:sp>
        <p:nvSpPr>
          <p:cNvPr id="27" name="case-check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F16E5891-DD6A-4955-8192-2F5A814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862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4E7C2"/>
                </a:solidFill>
              </a:defRPr>
            </a:pPr>
            <a:r>
              <a:rPr sz="1275" b="0">
                <a:solidFill>
                  <a:srgbClr val="F4E7C2"/>
                </a:solidFill>
              </a:rPr>
              <a:t>初版容易普通，风格统一和细节质感不足</a:t>
            </a:r>
            <a:endParaRPr sz="1275" b="0">
              <a:solidFill>
                <a:srgbClr val="F4E7C2"/>
              </a:solidFill>
            </a:endParaRPr>
          </a:p>
        </p:txBody>
      </p:sp>
      <p:sp>
        <p:nvSpPr>
          <p:cNvPr id="28" name="case-decision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57BB7383-C9EC-4584-8648-9CAABAD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AAE5A"/>
                </a:solidFill>
              </a:defRPr>
            </a:pPr>
            <a:r>
              <a:rPr sz="1275" b="1">
                <a:solidFill>
                  <a:srgbClr val="9AAE5A"/>
                </a:solidFill>
              </a:rPr>
              <a:t>ui-ux-pro-max 梳理规则，Meowa 统一素材，Figma 反复审图</a:t>
            </a:r>
            <a:endParaRPr sz="1275" b="1">
              <a:solidFill>
                <a:srgbClr val="9AAE5A"/>
              </a:solidFill>
            </a:endParaRPr>
          </a:p>
        </p:txBody>
      </p:sp>
      <p:sp>
        <p:nvSpPr>
          <p:cNvPr id="29" name="case-labels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71BD24FD-6E45-4338-8897-A4E2406F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1A98F"/>
                </a:solidFill>
              </a:defRPr>
            </a:pPr>
            <a:r>
              <a:rPr sz="1050" b="0">
                <a:solidFill>
                  <a:srgbClr val="B1A98F"/>
                </a:solidFill>
              </a:rPr>
              <a:t>AI 擅长</a:t>
            </a:r>
            <a:endParaRPr sz="1050" b="0">
              <a:solidFill>
                <a:srgbClr val="B1A98F"/>
              </a:solidFill>
            </a:endParaRPr>
          </a:p>
        </p:txBody>
      </p:sp>
      <p:sp>
        <p:nvSpPr>
          <p:cNvPr id="30" name="case-labelh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7EC75178-F556-458C-90A8-55C37D87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0B34A"/>
                </a:solidFill>
              </a:defRPr>
            </a:pPr>
            <a:r>
              <a:rPr sz="1050" b="0">
                <a:solidFill>
                  <a:srgbClr val="F0B34A"/>
                </a:solidFill>
              </a:rPr>
              <a:t>AI 局限</a:t>
            </a:r>
            <a:endParaRPr sz="1050" b="0">
              <a:solidFill>
                <a:srgbClr val="F0B34A"/>
              </a:solidFill>
            </a:endParaRPr>
          </a:p>
        </p:txBody>
      </p:sp>
      <p:sp>
        <p:nvSpPr>
          <p:cNvPr id="31" name="case-labeld-案例 3｜是不是代码 Bug">
            <a:extLst xmlns:a="http://schemas.openxmlformats.org/drawingml/2006/main">
              <a:ext uri="{FF2B5EF4-FFF2-40B4-BE49-F238E27FC236}">
                <a16:creationId xmlns:a16="http://schemas.microsoft.com/office/drawing/2014/main" id="{5EC350C0-1991-478B-A5AB-72C1E8E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E5A"/>
                </a:solidFill>
              </a:defRPr>
            </a:pPr>
            <a:r>
              <a:rPr sz="1050" b="0">
                <a:solidFill>
                  <a:srgbClr val="9AAE5A"/>
                </a:solidFill>
              </a:rPr>
              <a:t>解决方法</a:t>
            </a:r>
            <a:endParaRPr sz="1050" b="0">
              <a:solidFill>
                <a:srgbClr val="9AAE5A"/>
              </a:solidFill>
            </a:endParaRPr>
          </a:p>
        </p:txBody>
      </p:sp>
      <p:sp>
        <p:nvSpPr>
          <p:cNvPr id="32" name="ai-boundary">
            <a:extLst xmlns:a="http://schemas.openxmlformats.org/drawingml/2006/main">
              <a:ext uri="{FF2B5EF4-FFF2-40B4-BE49-F238E27FC236}">
                <a16:creationId xmlns:a16="http://schemas.microsoft.com/office/drawing/2014/main" id="{5FA5C55D-EC51-48A4-BF93-F17CF58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F06464"/>
            </a:solidFill>
            <a:prstDash val="solid"/>
          </a:ln>
        </p:spPr>
      </p:sp>
      <p:sp>
        <p:nvSpPr>
          <p:cNvPr id="33" name="ai-boundary-text">
            <a:extLst xmlns:a="http://schemas.openxmlformats.org/drawingml/2006/main">
              <a:ext uri="{FF2B5EF4-FFF2-40B4-BE49-F238E27FC236}">
                <a16:creationId xmlns:a16="http://schemas.microsoft.com/office/drawing/2014/main" id="{7AF6088E-0321-432E-B5F8-759BC6C0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结论：AI 负责加速技术实现；开发者与真实玩家决定玩法、难度、数值和最终视觉质量。</a:t>
            </a:r>
            <a:endParaRPr sz="1575" b="1">
              <a:solidFill>
                <a:srgbClr val="F4E7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25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1">
            <a:extLst xmlns:a="http://schemas.openxmlformats.org/drawingml/2006/main">
              <a:ext uri="{FF2B5EF4-FFF2-40B4-BE49-F238E27FC236}">
                <a16:creationId xmlns:a16="http://schemas.microsoft.com/office/drawing/2014/main" id="{EFEB2801-CD3A-4F8C-A635-8135B2BD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B34A"/>
                </a:solidFill>
              </a:defRPr>
            </a:pPr>
            <a:r>
              <a:rPr sz="1200" b="1">
                <a:solidFill>
                  <a:srgbClr val="F0B34A"/>
                </a:solidFill>
              </a:rPr>
              <a:t>10 / 总结与展望</a:t>
            </a:r>
            <a:endParaRPr sz="1200" b="1">
              <a:solidFill>
                <a:srgbClr val="F0B34A"/>
              </a:solidFill>
            </a:endParaRP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5536EFB2-FF70-406E-908B-316F01B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E7C2"/>
                </a:solidFill>
              </a:defRPr>
            </a:pPr>
            <a:r>
              <a:rPr sz="3600" b="1">
                <a:solidFill>
                  <a:srgbClr val="F4E7C2"/>
                </a:solidFill>
              </a:rPr>
              <a:t>先把核心玩法做深，再用更多测试把数值调准</a:t>
            </a:r>
            <a:endParaRPr sz="3600" b="1">
              <a:solidFill>
                <a:srgbClr val="F4E7C2"/>
              </a:solidFill>
            </a:endParaRP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5E945F19-1312-492B-96B2-FA8B2EE0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9E2B07C-9B47-4D2E-83CC-4295425D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B1A98F"/>
                </a:solidFill>
              </a:defRPr>
            </a:pPr>
            <a:r>
              <a:rPr sz="1200" b="0">
                <a:solidFill>
                  <a:srgbClr val="B1A98F"/>
                </a:solidFill>
              </a:rPr>
              <a:t>13</a:t>
            </a:r>
            <a:endParaRPr sz="1200" b="0">
              <a:solidFill>
                <a:srgbClr val="B1A98F"/>
              </a:solidFill>
            </a:endParaRPr>
          </a:p>
        </p:txBody>
      </p:sp>
      <p:sp>
        <p:nvSpPr>
          <p:cNvPr id="5" name="evidence-lead">
            <a:extLst xmlns:a="http://schemas.openxmlformats.org/drawingml/2006/main">
              <a:ext uri="{FF2B5EF4-FFF2-40B4-BE49-F238E27FC236}">
                <a16:creationId xmlns:a16="http://schemas.microsoft.com/office/drawing/2014/main" id="{E60B2C10-239A-4F1B-9402-6D294589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E7C2"/>
                </a:solidFill>
              </a:defRPr>
            </a:pPr>
            <a:r>
              <a:rPr sz="1875" b="0">
                <a:solidFill>
                  <a:srgbClr val="F4E7C2"/>
                </a:solidFill>
              </a:rPr>
              <a:t>EchoZero 已完成可玩的双关 Demo；下一阶段不盲目增加内容，而是继续强化三拍因果编排。</a:t>
            </a:r>
            <a:endParaRPr sz="1875" b="0">
              <a:solidFill>
                <a:srgbClr val="F4E7C2"/>
              </a:solidFill>
            </a:endParaRPr>
          </a:p>
        </p:txBody>
      </p:sp>
      <p:sp>
        <p:nvSpPr>
          <p:cNvPr id="6" name="metric-bg-56">
            <a:extLst xmlns:a="http://schemas.openxmlformats.org/drawingml/2006/main">
              <a:ext uri="{FF2B5EF4-FFF2-40B4-BE49-F238E27FC236}">
                <a16:creationId xmlns:a16="http://schemas.microsoft.com/office/drawing/2014/main" id="{23556AD5-0D5B-449B-8354-8B589DB5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7" name="metric-accent-56">
            <a:extLst xmlns:a="http://schemas.openxmlformats.org/drawingml/2006/main">
              <a:ext uri="{FF2B5EF4-FFF2-40B4-BE49-F238E27FC236}">
                <a16:creationId xmlns:a16="http://schemas.microsoft.com/office/drawing/2014/main" id="{E32A7BBE-1EE6-4619-97A5-FF1A63D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56">
            <a:extLst xmlns:a="http://schemas.openxmlformats.org/drawingml/2006/main">
              <a:ext uri="{FF2B5EF4-FFF2-40B4-BE49-F238E27FC236}">
                <a16:creationId xmlns:a16="http://schemas.microsoft.com/office/drawing/2014/main" id="{7E88787E-8EC7-4325-8A6A-B055E258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D9A93D"/>
                </a:solidFill>
              </a:defRPr>
            </a:pPr>
            <a:r>
              <a:rPr sz="5400" b="1">
                <a:solidFill>
                  <a:srgbClr val="D9A93D"/>
                </a:solidFill>
              </a:rPr>
              <a:t>玩法</a:t>
            </a:r>
            <a:endParaRPr sz="5400" b="1">
              <a:solidFill>
                <a:srgbClr val="D9A93D"/>
              </a:solidFill>
            </a:endParaRPr>
          </a:p>
        </p:txBody>
      </p:sp>
      <p:sp>
        <p:nvSpPr>
          <p:cNvPr id="9" name="metric-label-56">
            <a:extLst xmlns:a="http://schemas.openxmlformats.org/drawingml/2006/main">
              <a:ext uri="{FF2B5EF4-FFF2-40B4-BE49-F238E27FC236}">
                <a16:creationId xmlns:a16="http://schemas.microsoft.com/office/drawing/2014/main" id="{1680DDEA-8F88-4D2B-9FE1-AF752BD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增加三拍动作之间的连锁</a:t>
            </a:r>
            <a:endParaRPr sz="17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让换序产生更多有意义的结果</a:t>
            </a:r>
            <a:endParaRPr sz="1725" b="0">
              <a:solidFill>
                <a:srgbClr val="F4E7C2"/>
              </a:solidFill>
            </a:endParaRPr>
          </a:p>
        </p:txBody>
      </p:sp>
      <p:sp>
        <p:nvSpPr>
          <p:cNvPr id="10" name="metric-bg-468">
            <a:extLst xmlns:a="http://schemas.openxmlformats.org/drawingml/2006/main">
              <a:ext uri="{FF2B5EF4-FFF2-40B4-BE49-F238E27FC236}">
                <a16:creationId xmlns:a16="http://schemas.microsoft.com/office/drawing/2014/main" id="{AE6C6F53-B3A7-4286-982D-42439893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1" name="metric-accent-468">
            <a:extLst xmlns:a="http://schemas.openxmlformats.org/drawingml/2006/main">
              <a:ext uri="{FF2B5EF4-FFF2-40B4-BE49-F238E27FC236}">
                <a16:creationId xmlns:a16="http://schemas.microsoft.com/office/drawing/2014/main" id="{59CFBFC3-F44D-4453-B454-BAF1789D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468">
            <a:extLst xmlns:a="http://schemas.openxmlformats.org/drawingml/2006/main">
              <a:ext uri="{FF2B5EF4-FFF2-40B4-BE49-F238E27FC236}">
                <a16:creationId xmlns:a16="http://schemas.microsoft.com/office/drawing/2014/main" id="{CBE0BFD2-87B0-4616-9751-1A4A6B3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9AAE5A"/>
                </a:solidFill>
              </a:defRPr>
            </a:pPr>
            <a:r>
              <a:rPr sz="5400" b="1">
                <a:solidFill>
                  <a:srgbClr val="9AAE5A"/>
                </a:solidFill>
              </a:rPr>
              <a:t>关卡</a:t>
            </a:r>
            <a:endParaRPr sz="5400" b="1">
              <a:solidFill>
                <a:srgbClr val="9AAE5A"/>
              </a:solidFill>
            </a:endParaRPr>
          </a:p>
        </p:txBody>
      </p:sp>
      <p:sp>
        <p:nvSpPr>
          <p:cNvPr id="13" name="metric-label-468">
            <a:extLst xmlns:a="http://schemas.openxmlformats.org/drawingml/2006/main">
              <a:ext uri="{FF2B5EF4-FFF2-40B4-BE49-F238E27FC236}">
                <a16:creationId xmlns:a16="http://schemas.microsoft.com/office/drawing/2014/main" id="{B1359AD2-87B8-4A93-B67D-737D1796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增加围绕顺序、地形和敌人组合的变化</a:t>
            </a:r>
            <a:endParaRPr sz="17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不只是增加敌人数量</a:t>
            </a:r>
            <a:endParaRPr sz="1725" b="0">
              <a:solidFill>
                <a:srgbClr val="F4E7C2"/>
              </a:solidFill>
            </a:endParaRPr>
          </a:p>
        </p:txBody>
      </p:sp>
      <p:sp>
        <p:nvSpPr>
          <p:cNvPr id="14" name="metric-bg-880">
            <a:extLst xmlns:a="http://schemas.openxmlformats.org/drawingml/2006/main">
              <a:ext uri="{FF2B5EF4-FFF2-40B4-BE49-F238E27FC236}">
                <a16:creationId xmlns:a16="http://schemas.microsoft.com/office/drawing/2014/main" id="{97F1B42F-148C-4028-96ED-CFE62CC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76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C1B16"/>
          </a:solidFill>
          <a:ln xmlns:a="http://schemas.openxmlformats.org/drawingml/2006/main" w="19050">
            <a:solidFill>
              <a:srgbClr val="5A4B2C"/>
            </a:solidFill>
            <a:prstDash val="solid"/>
          </a:ln>
        </p:spPr>
      </p:sp>
      <p:sp>
        <p:nvSpPr>
          <p:cNvPr id="15" name="metric-accent-880">
            <a:extLst xmlns:a="http://schemas.openxmlformats.org/drawingml/2006/main">
              <a:ext uri="{FF2B5EF4-FFF2-40B4-BE49-F238E27FC236}">
                <a16:creationId xmlns:a16="http://schemas.microsoft.com/office/drawing/2014/main" id="{5C79D987-5515-49E0-89F9-03A3486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value-880">
            <a:extLst xmlns:a="http://schemas.openxmlformats.org/drawingml/2006/main">
              <a:ext uri="{FF2B5EF4-FFF2-40B4-BE49-F238E27FC236}">
                <a16:creationId xmlns:a16="http://schemas.microsoft.com/office/drawing/2014/main" id="{F72BD495-F8DF-458A-BFF9-CD037C1F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0B34A"/>
                </a:solidFill>
              </a:defRPr>
            </a:pPr>
            <a:r>
              <a:rPr sz="5400" b="1">
                <a:solidFill>
                  <a:srgbClr val="F0B34A"/>
                </a:solidFill>
              </a:rPr>
              <a:t>平衡</a:t>
            </a:r>
            <a:endParaRPr sz="5400" b="1">
              <a:solidFill>
                <a:srgbClr val="F0B34A"/>
              </a:solidFill>
            </a:endParaRPr>
          </a:p>
        </p:txBody>
      </p:sp>
      <p:sp>
        <p:nvSpPr>
          <p:cNvPr id="17" name="metric-label-880">
            <a:extLst xmlns:a="http://schemas.openxmlformats.org/drawingml/2006/main">
              <a:ext uri="{FF2B5EF4-FFF2-40B4-BE49-F238E27FC236}">
                <a16:creationId xmlns:a16="http://schemas.microsoft.com/office/drawing/2014/main" id="{C99A069E-6C18-4B0B-9BF1-6C892EED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243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记录通关率、受伤、选择和失败位置</a:t>
            </a:r>
            <a:endParaRPr sz="1725" b="0">
              <a:solidFill>
                <a:srgbClr val="F4E7C2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F4E7C2"/>
                </a:solidFill>
              </a:defRPr>
            </a:pPr>
            <a:r>
              <a:rPr sz="1725" b="0">
                <a:solidFill>
                  <a:srgbClr val="F4E7C2"/>
                </a:solidFill>
              </a:rPr>
              <a:t>用多轮盲测调整数值</a:t>
            </a:r>
            <a:endParaRPr sz="1725" b="0">
              <a:solidFill>
                <a:srgbClr val="F4E7C2"/>
              </a:solidFill>
            </a:endParaRPr>
          </a:p>
        </p:txBody>
      </p:sp>
      <p:sp>
        <p:nvSpPr>
          <p:cNvPr id="18" name="delivery-strip">
            <a:extLst xmlns:a="http://schemas.openxmlformats.org/drawingml/2006/main">
              <a:ext uri="{FF2B5EF4-FFF2-40B4-BE49-F238E27FC236}">
                <a16:creationId xmlns:a16="http://schemas.microsoft.com/office/drawing/2014/main" id="{CFBDBEB7-DB54-4F0A-B148-4184BE5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B2A22"/>
          </a:solidFill>
          <a:ln xmlns:a="http://schemas.openxmlformats.org/drawingml/2006/main" w="9525">
            <a:solidFill>
              <a:srgbClr val="5A4B2C"/>
            </a:solidFill>
            <a:prstDash val="solid"/>
          </a:ln>
        </p:spPr>
      </p:sp>
      <p:sp>
        <p:nvSpPr>
          <p:cNvPr id="19" name="delivery-text">
            <a:extLst xmlns:a="http://schemas.openxmlformats.org/drawingml/2006/main">
              <a:ext uri="{FF2B5EF4-FFF2-40B4-BE49-F238E27FC236}">
                <a16:creationId xmlns:a16="http://schemas.microsoft.com/office/drawing/2014/main" id="{59AD4DCF-8B46-4310-8E74-2513BAA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4E7C2"/>
                </a:solidFill>
              </a:defRPr>
            </a:pPr>
            <a:r>
              <a:rPr sz="1575" b="1">
                <a:solidFill>
                  <a:srgbClr val="F4E7C2"/>
                </a:solidFill>
              </a:rPr>
              <a:t>后续优先级：核心玩法深度 → 新手可读性 → 数值平衡 → 内容数量</a:t>
            </a:r>
            <a:endParaRPr sz="1575" b="1">
              <a:solidFill>
                <a:srgbClr val="F4E7C2"/>
              </a:solidFill>
            </a:endParaRPr>
          </a:p>
        </p:txBody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334420BA-55A1-4EC0-AD0E-DCEB2179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C58A32"/>
                </a:solidFill>
              </a:defRPr>
            </a:pPr>
            <a:r>
              <a:rPr sz="2325" b="1">
                <a:solidFill>
                  <a:srgbClr val="C58A32"/>
                </a:solidFill>
              </a:rPr>
              <a:t>当前总结：核心循环已跑通，创新能被理解，项目可以稳定演示。</a:t>
            </a:r>
            <a:endParaRPr sz="2325" b="1">
              <a:solidFill>
                <a:srgbClr val="C58A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822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2026-09-03T03:26:19.7860000Z</dcterms:created>
  <dcterms:modified xsi:type="dcterms:W3CDTF">2026-09-03T03:26:19.7860000Z</dcterms:modified>
</coreProperties>
</file>