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22431140424b88" /><Relationship Type="http://schemas.openxmlformats.org/officeDocument/2006/relationships/extended-properties" Target="/docProps/app.xml" Id="R9b429c9752ad4f95" /><Relationship Type="http://schemas.openxmlformats.org/officeDocument/2006/relationships/officeDocument" Target="/ppt/presentation.xml" Id="R492e3535f7f442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e0d39d2bab646a0"/>
  </p:sldMasterIdLst>
  <p:notesMasterIdLst>
    <p:notesMasterId xmlns:r="http://schemas.openxmlformats.org/officeDocument/2006/relationships" r:id="R5c5d7008e25446f0"/>
  </p:notesMasterIdLst>
  <p:sldIdLst>
    <p:sldId xmlns:r="http://schemas.openxmlformats.org/officeDocument/2006/relationships" id="256" r:id="Rcfaa5858677e4b39"/>
    <p:sldId xmlns:r="http://schemas.openxmlformats.org/officeDocument/2006/relationships" id="257" r:id="Rffc0bb1d849d4c34"/>
    <p:sldId xmlns:r="http://schemas.openxmlformats.org/officeDocument/2006/relationships" id="258" r:id="Rc45c50c8728249c4"/>
    <p:sldId xmlns:r="http://schemas.openxmlformats.org/officeDocument/2006/relationships" id="259" r:id="Radcd59567c884614"/>
    <p:sldId xmlns:r="http://schemas.openxmlformats.org/officeDocument/2006/relationships" id="260" r:id="Rd72efb98cc8d4d69"/>
    <p:sldId xmlns:r="http://schemas.openxmlformats.org/officeDocument/2006/relationships" id="261" r:id="R7c6f7d7f39d04972"/>
    <p:sldId xmlns:r="http://schemas.openxmlformats.org/officeDocument/2006/relationships" id="262" r:id="Rab04cab8b7ef4576"/>
    <p:sldId xmlns:r="http://schemas.openxmlformats.org/officeDocument/2006/relationships" id="263" r:id="R5ea5c6f7e68548cb"/>
    <p:sldId xmlns:r="http://schemas.openxmlformats.org/officeDocument/2006/relationships" id="264" r:id="R992bcef224fd40a6"/>
    <p:sldId xmlns:r="http://schemas.openxmlformats.org/officeDocument/2006/relationships" id="265" r:id="R61b3d1bfac30454b"/>
    <p:sldId xmlns:r="http://schemas.openxmlformats.org/officeDocument/2006/relationships" id="266" r:id="Rd4e6b260b8b04da6"/>
    <p:sldId xmlns:r="http://schemas.openxmlformats.org/officeDocument/2006/relationships" id="267" r:id="Rc80ecd3741b74bf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b36ed8b1d44554" /><Relationship Type="http://schemas.openxmlformats.org/officeDocument/2006/relationships/slideMaster" Target="/ppt/slideMasters/slideMaster1.xml" Id="Rce0d39d2bab646a0" /><Relationship Type="http://schemas.openxmlformats.org/officeDocument/2006/relationships/notesMaster" Target="/ppt/notesMasters/notesMaster1.xml" Id="R5c5d7008e25446f0" /><Relationship Type="http://schemas.openxmlformats.org/officeDocument/2006/relationships/presProps" Target="/ppt/presProps.xml" Id="R31fc087017bf4daf" /><Relationship Type="http://schemas.openxmlformats.org/officeDocument/2006/relationships/tableStyles" Target="/ppt/tableStyles.xml" Id="Rf38be81a366a4790" /><Relationship Type="http://schemas.openxmlformats.org/officeDocument/2006/relationships/slide" Target="/ppt/slides/slide1.xml" Id="Rcfaa5858677e4b39" /><Relationship Type="http://schemas.openxmlformats.org/officeDocument/2006/relationships/slide" Target="/ppt/slides/slide2.xml" Id="Rffc0bb1d849d4c34" /><Relationship Type="http://schemas.openxmlformats.org/officeDocument/2006/relationships/slide" Target="/ppt/slides/slide3.xml" Id="Rc45c50c8728249c4" /><Relationship Type="http://schemas.openxmlformats.org/officeDocument/2006/relationships/slide" Target="/ppt/slides/slide4.xml" Id="Radcd59567c884614" /><Relationship Type="http://schemas.openxmlformats.org/officeDocument/2006/relationships/slide" Target="/ppt/slides/slide5.xml" Id="Rd72efb98cc8d4d69" /><Relationship Type="http://schemas.openxmlformats.org/officeDocument/2006/relationships/slide" Target="/ppt/slides/slide6.xml" Id="R7c6f7d7f39d04972" /><Relationship Type="http://schemas.openxmlformats.org/officeDocument/2006/relationships/slide" Target="/ppt/slides/slide7.xml" Id="Rab04cab8b7ef4576" /><Relationship Type="http://schemas.openxmlformats.org/officeDocument/2006/relationships/slide" Target="/ppt/slides/slide8.xml" Id="R5ea5c6f7e68548cb" /><Relationship Type="http://schemas.openxmlformats.org/officeDocument/2006/relationships/slide" Target="/ppt/slides/slide9.xml" Id="R992bcef224fd40a6" /><Relationship Type="http://schemas.openxmlformats.org/officeDocument/2006/relationships/slide" Target="/ppt/slides/slide10.xml" Id="R61b3d1bfac30454b" /><Relationship Type="http://schemas.openxmlformats.org/officeDocument/2006/relationships/slide" Target="/ppt/slides/slide11.xml" Id="Rd4e6b260b8b04da6" /><Relationship Type="http://schemas.openxmlformats.org/officeDocument/2006/relationships/slide" Target="/ppt/slides/slide12.xml" Id="Rc80ecd3741b74b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f7e9cd283746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b8115c076f47ae" /><Relationship Type="http://schemas.openxmlformats.org/officeDocument/2006/relationships/notesMaster" Target="/ppt/notesMasters/notesMaster1.xml" Id="Rd756a8bfdba6403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2641b6e0de45ff" /><Relationship Type="http://schemas.openxmlformats.org/officeDocument/2006/relationships/notesMaster" Target="/ppt/notesMasters/notesMaster1.xml" Id="Rcc3cdad06c1548a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75069b6a9e04e69" /><Relationship Type="http://schemas.openxmlformats.org/officeDocument/2006/relationships/notesMaster" Target="/ppt/notesMasters/notesMaster1.xml" Id="R32655aa60bfa42e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1f2bdd418834fda" /><Relationship Type="http://schemas.openxmlformats.org/officeDocument/2006/relationships/notesMaster" Target="/ppt/notesMasters/notesMaster1.xml" Id="R19689f15915a40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107d5efdb4a4d32" /><Relationship Type="http://schemas.openxmlformats.org/officeDocument/2006/relationships/notesMaster" Target="/ppt/notesMasters/notesMaster1.xml" Id="R6f4ac866957d430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87a428940604948" /><Relationship Type="http://schemas.openxmlformats.org/officeDocument/2006/relationships/notesMaster" Target="/ppt/notesMasters/notesMaster1.xml" Id="R6ea6750c1cff4f7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07d3bb04d5341cc" /><Relationship Type="http://schemas.openxmlformats.org/officeDocument/2006/relationships/notesMaster" Target="/ppt/notesMasters/notesMaster1.xml" Id="R9b1c7dd6d4ec4ba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f0da0780d9341ee" /><Relationship Type="http://schemas.openxmlformats.org/officeDocument/2006/relationships/notesMaster" Target="/ppt/notesMasters/notesMaster1.xml" Id="Re16b1eb9bfd146d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e7ca09c3411406c" /><Relationship Type="http://schemas.openxmlformats.org/officeDocument/2006/relationships/notesMaster" Target="/ppt/notesMasters/notesMaster1.xml" Id="R6af1ad4b08e746b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6783969a30a43d6" /><Relationship Type="http://schemas.openxmlformats.org/officeDocument/2006/relationships/notesMaster" Target="/ppt/notesMasters/notesMaster1.xml" Id="R119139083250464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63eb37c8903424d" /><Relationship Type="http://schemas.openxmlformats.org/officeDocument/2006/relationships/notesMaster" Target="/ppt/notesMasters/notesMaster1.xml" Id="Rd5b7e82f60794a7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5e8f1dfa2664274" /><Relationship Type="http://schemas.openxmlformats.org/officeDocument/2006/relationships/notesMaster" Target="/ppt/notesMasters/notesMaster1.xml" Id="R152f9b00d0644a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25 秒。开场只讲一句：EchoZero 是实时动作 Roguelike，但在危险瞬间可以冻结战局，用三拍顺序改写结果。随后说明今天证明：它可玩、创新清楚、技术可信。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D:/daerxia/程序设计实训/project/项目配置.md</a:t>
            </a:r>
          </a:p>
          <a:p xmlns:a="http://schemas.openxmlformats.org/drawingml/2006/main">
            <a:r>
              <a:t>- D:/daerxia/程序设计实训/project/INNOVATION.md</a:t>
            </a:r>
          </a:p>
          <a:p xmlns:a="http://schemas.openxmlformats.org/drawingml/2006/main">
            <a:r>
              <a:t>- D:/daerxia/程序设计实训/project/artifacts/meowa_ui_qa/06_boss_1280x800.png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这一页是目录，也是现场跳转表。先告诉老师：功能、界面、创新、AI 协作、演示五项都分别准备了证据；若时间有限，可以直接看某一项或最后的演示菜单。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用户提供的《考察模式与评分标准》截图</a:t>
            </a:r>
          </a:p>
          <a:p xmlns:a="http://schemas.openxmlformats.org/drawingml/2006/main">
            <a:r>
              <a:t>- D:/daerxia/程序设计实训/project/项目配置.md</a:t>
            </a:r>
          </a:p>
          <a:p xmlns:a="http://schemas.openxmlformats.org/drawingml/2006/main">
            <a:r>
              <a:t>- D:/daerxia/程序设计实训/project/DEMO_PLAN.md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35 秒。按左侧四步讲完整循环，画面只指三个信息：敌人意图、冷却与构筑。强调正式入口不是单场演示：有程序地图、奖励、三场遭遇和 Boss 终局。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D:/daerxia/程序设计实训/project/README.md</a:t>
            </a:r>
          </a:p>
          <a:p xmlns:a="http://schemas.openxmlformats.org/drawingml/2006/main">
            <a:r>
              <a:t>- D:/daerxia/程序设计实训/project/项目配置.md</a:t>
            </a:r>
          </a:p>
          <a:p xmlns:a="http://schemas.openxmlformats.org/drawingml/2006/main">
            <a:r>
              <a:t>- D:/daerxia/程序设计实训/project/artifacts/meowa_ui_qa/02_action_1280x800.png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40 秒。这一页是答辩的核心。先讲敌人意图固定，再读左右两种顺序。重点落在：画面预测和真实执行共用同一个模拟器，所以玩家看到的因果就是之后发生的结果。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D:/daerxia/程序设计实训/project/INNOVATION.md</a:t>
            </a:r>
          </a:p>
          <a:p xmlns:a="http://schemas.openxmlformats.org/drawingml/2006/main">
            <a:r>
              <a:t>- D:/daerxia/程序设计实训/project/ARCHITECTURE.md</a:t>
            </a:r>
          </a:p>
          <a:p xmlns:a="http://schemas.openxmlformats.org/drawingml/2006/main">
            <a:r>
              <a:t>- D:/daerxia/程序设计实训/project/artifacts/meowa_ui_qa/03_tactical_1280x800.png</a:t>
            </a:r>
          </a:p>
          <a:p xmlns:a="http://schemas.openxmlformats.org/drawingml/2006/main">
            <a:r>
              <a:t>- D:/daerxia/程序设计实训/project/logs/visual_polish/11_causality_rewritten.png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本页适合边讲边演示。先按 Q，看系统给出 7 条候选；把攻击移入前三拍，指出 E3 的血量变化；再把它移出去，战损行立刻消失。最后按 Enter，说明预演数字与真实结果一致。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D:/daerxia/程序设计实训/project/INNOVATION.md</a:t>
            </a:r>
          </a:p>
          <a:p xmlns:a="http://schemas.openxmlformats.org/drawingml/2006/main">
            <a:r>
              <a:t>- D:/daerxia/程序设计实训/project/ARCHITECTURE.md</a:t>
            </a:r>
          </a:p>
          <a:p xmlns:a="http://schemas.openxmlformats.org/drawingml/2006/main">
            <a:r>
              <a:t>- D:/daerxia/程序设计实训/project/TASKS.md</a:t>
            </a:r>
          </a:p>
          <a:p xmlns:a="http://schemas.openxmlformats.org/drawingml/2006/main">
            <a:r>
              <a:t>- D:/daerxia/程序设计实训/project/artifacts/tactical_preview_damage/01_enemy_hit.png</a:t>
            </a:r>
          </a:p>
          <a:p xmlns:a="http://schemas.openxmlformats.org/drawingml/2006/main">
            <a:r>
              <a:t>- D:/daerxia/程序设计实训/project/artifacts/tactical_preview_damage/02_no_enemy_hit.png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35 秒。第一关教稳定顺序，第二关把同一时间轴改为逆序，并用相位锚把空间位置和时间规则绑定。最后用三条 Build 说明成长不是三档攻击力，而是分别奖励空拍、墙面和先后顺序。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D:/daerxia/程序设计实训/project/项目配置.md</a:t>
            </a:r>
          </a:p>
          <a:p xmlns:a="http://schemas.openxmlformats.org/drawingml/2006/main">
            <a:r>
              <a:t>- D:/daerxia/程序设计实训/project/INNOVATION.md</a:t>
            </a:r>
          </a:p>
          <a:p xmlns:a="http://schemas.openxmlformats.org/drawingml/2006/main">
            <a:r>
              <a:t>- D:/daerxia/程序设计实训/project/DEMO_PLAN.md</a:t>
            </a:r>
          </a:p>
          <a:p xmlns:a="http://schemas.openxmlformats.org/drawingml/2006/main">
            <a:r>
              <a:t>- D:/daerxia/程序设计实训/project/logs/visual_polish/12_level1_1920x1080.png</a:t>
            </a:r>
          </a:p>
          <a:p xmlns:a="http://schemas.openxmlformats.org/drawingml/2006/main">
            <a:r>
              <a:t>- D:/daerxia/程序设计实训/project/logs/visual_polish/09_level2_reverse.png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界面部分不用讲设计术语。只说四件事：黄色工业风统一；危险区既有颜色也有编号和斜纹；中文 HUD 直接说明操作；三种分辨率和减弱动态都做过检查。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D:/daerxia/程序设计实训/project/docs/FIGMA_ASEPRITE_UPGRADE.md</a:t>
            </a:r>
          </a:p>
          <a:p xmlns:a="http://schemas.openxmlformats.org/drawingml/2006/main">
            <a:r>
              <a:t>- D:/daerxia/程序设计实训/project/TASKS.md</a:t>
            </a:r>
          </a:p>
          <a:p xmlns:a="http://schemas.openxmlformats.org/drawingml/2006/main">
            <a:r>
              <a:t>- D:/daerxia/程序设计实训/project/artifacts/meowa_ui_qa/01_menu_1280x800.png</a:t>
            </a:r>
          </a:p>
          <a:p xmlns:a="http://schemas.openxmlformats.org/drawingml/2006/main">
            <a:r>
              <a:t>- D:/daerxia/程序设计实训/project/artifacts/meowa_ui_qa/06_boss_1280x800.png</a:t>
            </a:r>
          </a:p>
          <a:p xmlns:a="http://schemas.openxmlformats.org/drawingml/2006/main">
            <a:r>
              <a:t>- D:/daerxia/程序设计实训/project/artifacts/meowa_ui_qa/04_reward_1280x800.png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40 秒。只讲三条线：预演同源、地图可复现、AI 可解释。右图可指 F3 面板中的 Selector/Sequence/Condition。最后用底部一句交代领域与表现分离，避免动画改逻辑。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D:/daerxia/程序设计实训/project/ARCHITECTURE.md</a:t>
            </a:r>
          </a:p>
          <a:p xmlns:a="http://schemas.openxmlformats.org/drawingml/2006/main">
            <a:r>
              <a:t>- D:/daerxia/程序设计实训/project/功能测试与初验报告.md</a:t>
            </a:r>
          </a:p>
          <a:p xmlns:a="http://schemas.openxmlformats.org/drawingml/2006/main">
            <a:r>
              <a:t>- D:/daerxia/程序设计实训/project/artifacts/meowa_ui_qa/09_debug_1280x800.png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45 秒。本页必须独立讲。先说协作闭环，再用前后截图证明不是一次生成即交付。三个例子依次对应：架构边界、运行画面验证、面对冲突证据时不盲改。最后明确人机分工。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D:/daerxia/程序设计实训/project/项目配置.md</a:t>
            </a:r>
          </a:p>
          <a:p xmlns:a="http://schemas.openxmlformats.org/drawingml/2006/main">
            <a:r>
              <a:t>- D:/daerxia/程序设计实训/project/AGENTS.md</a:t>
            </a:r>
          </a:p>
          <a:p xmlns:a="http://schemas.openxmlformats.org/drawingml/2006/main">
            <a:r>
              <a:t>- D:/daerxia/程序设计实训/project/每日工作日志.md</a:t>
            </a:r>
          </a:p>
          <a:p xmlns:a="http://schemas.openxmlformats.org/drawingml/2006/main">
            <a:r>
              <a:t>- D:/daerxia/程序设计实训/project/TASKS.md</a:t>
            </a:r>
          </a:p>
          <a:p xmlns:a="http://schemas.openxmlformats.org/drawingml/2006/main">
            <a:r>
              <a:t>- D:/daerxia/程序设计实训/project/docs/blind-tests/盲测汇总.md</a:t>
            </a:r>
          </a:p>
          <a:p xmlns:a="http://schemas.openxmlformats.org/drawingml/2006/main">
            <a:r>
              <a:t>- D:/daerxia/程序设计实训/project/artifacts/ui_polish_pass1/03_tactical_1280x800.png</a:t>
            </a:r>
          </a:p>
          <a:p xmlns:a="http://schemas.openxmlformats.org/drawingml/2006/main">
            <a:r>
              <a:t>- D:/daerxia/程序设计实训/project/artifacts/meowa_ui_qa/03_tactical_1280x800.png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这一页专门回答评分标准中的批判性思考。不要讲抽象方法，直接讲三个真实例子：拒绝双规则、审图后回修、用输入日志推翻错误猜测。结尾明确 AI 的能力边界。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D:/daerxia/程序设计实训/project/ARCHITECTURE.md</a:t>
            </a:r>
          </a:p>
          <a:p xmlns:a="http://schemas.openxmlformats.org/drawingml/2006/main">
            <a:r>
              <a:t>- D:/daerxia/程序设计实训/project/TASKS.md</a:t>
            </a:r>
          </a:p>
          <a:p xmlns:a="http://schemas.openxmlformats.org/drawingml/2006/main">
            <a:r>
              <a:t>- D:/daerxia/程序设计实训/project/每日工作日志.md</a:t>
            </a:r>
          </a:p>
          <a:p xmlns:a="http://schemas.openxmlformats.org/drawingml/2006/main">
            <a:r>
              <a:t>- D:/daerxia/程序设计实训/project/docs/blind-tests/盲测汇总.md</a:t>
            </a:r>
          </a:p>
          <a:p xmlns:a="http://schemas.openxmlformats.org/drawingml/2006/main">
            <a:r>
              <a:t>- D:/daerxia/程序设计实训/project/docs/FIGMA_MOTION_AUDIT.md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30 秒。用三个数字收口：146 项测试、预演/逆相理解 100%、2/3 通关且无人介入。补一句发布包和两条启动检查已通过，然后不要说谢谢，直接转入现场演示。可根据现场时间只讲需要的部分。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D:/daerxia/程序设计实训/project/功能测试与初验报告.md</a:t>
            </a:r>
          </a:p>
          <a:p xmlns:a="http://schemas.openxmlformats.org/drawingml/2006/main">
            <a:r>
              <a:t>- D:/daerxia/程序设计实训/project/docs/blind-tests/盲测汇总.md</a:t>
            </a:r>
          </a:p>
          <a:p xmlns:a="http://schemas.openxmlformats.org/drawingml/2006/main">
            <a:r>
              <a:t>- D:/daerxia/程序设计实训/project/答辩预评分报告.md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现场根据老师时间直接选 A、B 或 C。优先推荐 A：最短时间能同时证明创新、功能和技术。若操作环境不稳，可停留在截图页讲证据，不临时尝试未验证路线。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D:/daerxia/程序设计实训/project/DEMO_PLAN.md</a:t>
            </a:r>
          </a:p>
          <a:p xmlns:a="http://schemas.openxmlformats.org/drawingml/2006/main">
            <a:r>
              <a:t>- D:/daerxia/程序设计实训/project/TASKS.md</a:t>
            </a:r>
          </a:p>
          <a:p xmlns:a="http://schemas.openxmlformats.org/drawingml/2006/main">
            <a:r>
              <a:t>- D:/daerxia/程序设计实训/project/docs/STAGE07_BLIND_TEST.md</a:t>
            </a:r>
          </a:p>
          <a:p xmlns:a="http://schemas.openxmlformats.org/drawingml/2006/main">
            <a:r>
              <a:t>- D:/daerxia/程序设计实训/project/artifacts/showcase_followup/01_second_plan_ready.png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f5ea5ab9c048b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bc54cdd9a64cd9" /><Relationship Type="http://schemas.openxmlformats.org/officeDocument/2006/relationships/slideLayout" Target="/ppt/slideLayouts/slideLayout1.xml" Id="Ra88002cd35674a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8002cd35674a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204002cef447d0" /><Relationship Type="http://schemas.openxmlformats.org/officeDocument/2006/relationships/image" Target="/ppt/media/image.png" Id="R8707f7a061864b6f" /><Relationship Type="http://schemas.openxmlformats.org/officeDocument/2006/relationships/notesSlide" Target="/ppt/notesSlides/notesSlide1.xml" Id="Ra6d11bd5073c4d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28ba1a4b96428c" /><Relationship Type="http://schemas.openxmlformats.org/officeDocument/2006/relationships/notesSlide" Target="/ppt/notesSlides/notesSlide2.xml" Id="R35197d87eaad454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c71331f8c6469b" /><Relationship Type="http://schemas.openxmlformats.org/officeDocument/2006/relationships/image" Target="/ppt/media/image2.png" Id="Rf638e34b1ad140a2" /><Relationship Type="http://schemas.openxmlformats.org/officeDocument/2006/relationships/notesSlide" Target="/ppt/notesSlides/notesSlide3.xml" Id="Rb781945f83a04a9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26f0ecdd2c40f8" /><Relationship Type="http://schemas.openxmlformats.org/officeDocument/2006/relationships/image" Target="/ppt/media/image3.png" Id="R4bc575ad3894429c" /><Relationship Type="http://schemas.openxmlformats.org/officeDocument/2006/relationships/image" Target="/ppt/media/image4.png" Id="R9a38496155994f2f" /><Relationship Type="http://schemas.openxmlformats.org/officeDocument/2006/relationships/notesSlide" Target="/ppt/notesSlides/notesSlide4.xml" Id="Rbd0ed2accea041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da23f510fc4d2d" /><Relationship Type="http://schemas.openxmlformats.org/officeDocument/2006/relationships/image" Target="/ppt/media/image5.png" Id="R33fff1ce5ef74b10" /><Relationship Type="http://schemas.openxmlformats.org/officeDocument/2006/relationships/notesSlide" Target="/ppt/notesSlides/notesSlide5.xml" Id="R218de2f9f370434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9d844655a74af2" /><Relationship Type="http://schemas.openxmlformats.org/officeDocument/2006/relationships/image" Target="/ppt/media/image6.png" Id="R1d0030c60a3643c1" /><Relationship Type="http://schemas.openxmlformats.org/officeDocument/2006/relationships/image" Target="/ppt/media/image7.png" Id="Rf6b0165d9c5f4864" /><Relationship Type="http://schemas.openxmlformats.org/officeDocument/2006/relationships/notesSlide" Target="/ppt/notesSlides/notesSlide6.xml" Id="R3bfa90b2e6b14c0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580eef5299497a" /><Relationship Type="http://schemas.openxmlformats.org/officeDocument/2006/relationships/image" Target="/ppt/media/image8.png" Id="R49cfa6fdb1c341d7" /><Relationship Type="http://schemas.openxmlformats.org/officeDocument/2006/relationships/image" Target="/ppt/media/image9.png" Id="R0cfd244ce03d4892" /><Relationship Type="http://schemas.openxmlformats.org/officeDocument/2006/relationships/image" Target="/ppt/media/image10.png" Id="R3ee51f48cbfb4ec8" /><Relationship Type="http://schemas.openxmlformats.org/officeDocument/2006/relationships/notesSlide" Target="/ppt/notesSlides/notesSlide7.xml" Id="Rb8b413f3c0a14ed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624deeb3464d88" /><Relationship Type="http://schemas.openxmlformats.org/officeDocument/2006/relationships/image" Target="/ppt/media/image11.png" Id="R82f9468e65634532" /><Relationship Type="http://schemas.openxmlformats.org/officeDocument/2006/relationships/notesSlide" Target="/ppt/notesSlides/notesSlide8.xml" Id="Rd9ff0a2c1c8041d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8c5f0088c7488e" /><Relationship Type="http://schemas.openxmlformats.org/officeDocument/2006/relationships/image" Target="/ppt/media/image12.png" Id="R9a9f45ca8e5a495c" /><Relationship Type="http://schemas.openxmlformats.org/officeDocument/2006/relationships/image" Target="/ppt/media/image13.png" Id="Rcbd109c2c2f24453" /><Relationship Type="http://schemas.openxmlformats.org/officeDocument/2006/relationships/notesSlide" Target="/ppt/notesSlides/notesSlide9.xml" Id="Rfda3ec518e90492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977026f8904d98" /><Relationship Type="http://schemas.openxmlformats.org/officeDocument/2006/relationships/notesSlide" Target="/ppt/notesSlides/notesSlide10.xml" Id="Rdb9465fd25054f1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097f7da4da4e25" /><Relationship Type="http://schemas.openxmlformats.org/officeDocument/2006/relationships/notesSlide" Target="/ppt/notesSlides/notesSlide11.xml" Id="R3905426c9c9f423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728d91bca24e23" /><Relationship Type="http://schemas.openxmlformats.org/officeDocument/2006/relationships/notesSlide" Target="/ppt/notesSlides/notesSlide12.xml" Id="Rb38817d20b7c423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0B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07f7a061864b6f"/>
          <a:srcRect xmlns:a="http://schemas.openxmlformats.org/drawingml/2006/main" l="20920" t="0" r="2092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0"/>
            <a:ext cx="6381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image-divider">
            <a:extLst xmlns:a="http://schemas.openxmlformats.org/drawingml/2006/main">
              <a:ext uri="{FF2B5EF4-FFF2-40B4-BE49-F238E27FC236}">
                <a16:creationId xmlns:a16="http://schemas.microsoft.com/office/drawing/2014/main" id="{8FFB468A-103F-42D7-82CE-F133D960D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left-field">
            <a:extLst xmlns:a="http://schemas.openxmlformats.org/drawingml/2006/main">
              <a:ext uri="{FF2B5EF4-FFF2-40B4-BE49-F238E27FC236}">
                <a16:creationId xmlns:a16="http://schemas.microsoft.com/office/drawing/2014/main" id="{9184C0D0-E6DC-4592-B681-DA03C507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10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1B47719D-850F-4FAC-BDF2-9C3AD5708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B34A"/>
                </a:solidFill>
              </a:defRPr>
            </a:pPr>
            <a:r>
              <a:rPr sz="1350" b="1">
                <a:solidFill>
                  <a:srgbClr val="F0B34A"/>
                </a:solidFill>
              </a:rPr>
              <a:t>PYTHON · PYGAME-CE · 8 DAYS</a:t>
            </a:r>
          </a:p>
        </p:txBody>
      </p:sp>
      <p:sp>
        <p:nvSpPr>
          <p:cNvPr id="5" name="cover-title-en">
            <a:extLst xmlns:a="http://schemas.openxmlformats.org/drawingml/2006/main">
              <a:ext uri="{FF2B5EF4-FFF2-40B4-BE49-F238E27FC236}">
                <a16:creationId xmlns:a16="http://schemas.microsoft.com/office/drawing/2014/main" id="{4ED83BC7-787B-4F08-9327-FAC267944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4667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4E7C2"/>
                </a:solidFill>
              </a:defRPr>
            </a:pPr>
            <a:r>
              <a:rPr sz="5400" b="1">
                <a:solidFill>
                  <a:srgbClr val="F4E7C2"/>
                </a:solidFill>
              </a:rPr>
              <a:t>ECHO // ZERO</a:t>
            </a:r>
          </a:p>
        </p:txBody>
      </p:sp>
      <p:sp>
        <p:nvSpPr>
          <p:cNvPr id="6" name="cover-title-cn">
            <a:extLst xmlns:a="http://schemas.openxmlformats.org/drawingml/2006/main">
              <a:ext uri="{FF2B5EF4-FFF2-40B4-BE49-F238E27FC236}">
                <a16:creationId xmlns:a16="http://schemas.microsoft.com/office/drawing/2014/main" id="{A431D7A5-C4A3-45BD-B954-3374C5BF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05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D9A93D"/>
                </a:solidFill>
              </a:defRPr>
            </a:pPr>
            <a:r>
              <a:rPr sz="3300" b="1">
                <a:solidFill>
                  <a:srgbClr val="D9A93D"/>
                </a:solidFill>
              </a:rPr>
              <a:t>冻结战局，改写因果</a:t>
            </a:r>
          </a:p>
        </p:txBody>
      </p:sp>
      <p:sp>
        <p:nvSpPr>
          <p:cNvPr id="7" name="cover-sub">
            <a:extLst xmlns:a="http://schemas.openxmlformats.org/drawingml/2006/main">
              <a:ext uri="{FF2B5EF4-FFF2-40B4-BE49-F238E27FC236}">
                <a16:creationId xmlns:a16="http://schemas.microsoft.com/office/drawing/2014/main" id="{CA73E81A-45A7-438C-9F25-B8AA17EA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14700"/>
            <a:ext cx="45339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E7C2"/>
                </a:solidFill>
              </a:defRPr>
            </a:pPr>
            <a:r>
              <a:rPr sz="2025" b="0">
                <a:solidFill>
                  <a:srgbClr val="F4E7C2"/>
                </a:solidFill>
              </a:rPr>
              <a:t>动作 Roguelike × 三拍战术因果编排</a:t>
            </a:r>
          </a:p>
          <a:p xmlns:a="http://schemas.openxmlformats.org/drawingml/2006/main">
            <a:pPr algn="l">
              <a:defRPr sz="2025" b="0">
                <a:solidFill>
                  <a:srgbClr val="F4E7C2"/>
                </a:solidFill>
              </a:defRPr>
            </a:pPr>
            <a:r>
              <a:rPr sz="2025" b="0">
                <a:solidFill>
                  <a:srgbClr val="F4E7C2"/>
                </a:solidFill>
              </a:rPr>
              <a:t>两个完整关卡 · 可解释 AI · 可复现验证</a:t>
            </a:r>
          </a:p>
        </p:txBody>
      </p:sp>
      <p:sp>
        <p:nvSpPr>
          <p:cNvPr id="8" name="cover-proof-rule">
            <a:extLst xmlns:a="http://schemas.openxmlformats.org/drawingml/2006/main">
              <a:ext uri="{FF2B5EF4-FFF2-40B4-BE49-F238E27FC236}">
                <a16:creationId xmlns:a16="http://schemas.microsoft.com/office/drawing/2014/main" id="{31BA6C83-7982-42EE-80A5-1BE30D123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0"/>
            <a:ext cx="438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4B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ver-proof">
            <a:extLst xmlns:a="http://schemas.openxmlformats.org/drawingml/2006/main">
              <a:ext uri="{FF2B5EF4-FFF2-40B4-BE49-F238E27FC236}">
                <a16:creationId xmlns:a16="http://schemas.microsoft.com/office/drawing/2014/main" id="{32BA34CC-2506-4B43-8885-73DF407FF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9700"/>
            <a:ext cx="4514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1A98F"/>
                </a:solidFill>
              </a:defRPr>
            </a:pPr>
            <a:r>
              <a:rPr sz="1500" b="0">
                <a:solidFill>
                  <a:srgbClr val="B1A98F"/>
                </a:solidFill>
              </a:rPr>
              <a:t>终验答辩｜核心创新可见、技术可解释、现场可演示</a:t>
            </a:r>
          </a:p>
        </p:txBody>
      </p:sp>
      <p:sp>
        <p:nvSpPr>
          <p:cNvPr id="10" name="cover-date">
            <a:extLst xmlns:a="http://schemas.openxmlformats.org/drawingml/2006/main">
              <a:ext uri="{FF2B5EF4-FFF2-40B4-BE49-F238E27FC236}">
                <a16:creationId xmlns:a16="http://schemas.microsoft.com/office/drawing/2014/main" id="{413F2556-F6FF-446B-B88C-9D0399EE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674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1A98F"/>
                </a:solidFill>
              </a:defRPr>
            </a:pPr>
            <a:r>
              <a:rPr sz="1200" b="0">
                <a:solidFill>
                  <a:srgbClr val="B1A98F"/>
                </a:solidFill>
              </a:rPr>
              <a:t>2026.09</a:t>
            </a:r>
          </a:p>
        </p:txBody>
      </p:sp>
    </p:spTree>
    <p:extLst>
      <p:ext uri="{BB962C8B-B14F-4D97-AF65-F5344CB8AC3E}">
        <p14:creationId xmlns:p14="http://schemas.microsoft.com/office/powerpoint/2010/main" val="8976102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0B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ection-2">
            <a:extLst xmlns:a="http://schemas.openxmlformats.org/drawingml/2006/main">
              <a:ext uri="{FF2B5EF4-FFF2-40B4-BE49-F238E27FC236}">
                <a16:creationId xmlns:a16="http://schemas.microsoft.com/office/drawing/2014/main" id="{4804082C-85F0-4FF3-AB3C-D13F72B63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0B34A"/>
                </a:solidFill>
              </a:defRPr>
            </a:pPr>
            <a:r>
              <a:rPr sz="1200" b="1">
                <a:solidFill>
                  <a:srgbClr val="F0B34A"/>
                </a:solidFill>
              </a:rPr>
              <a:t>00 / 评分标准对应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9CFD847E-C805-4C98-897D-ED1CC9A4F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E7C2"/>
                </a:solidFill>
              </a:defRPr>
            </a:pPr>
            <a:r>
              <a:rPr sz="3600" b="1">
                <a:solidFill>
                  <a:srgbClr val="F4E7C2"/>
                </a:solidFill>
              </a:rPr>
              <a:t>答辩按五个评分点展开，每一项都有画面和证据</a:t>
            </a:r>
          </a:p>
        </p:txBody>
      </p:sp>
      <p:sp>
        <p:nvSpPr>
          <p:cNvPr id="3" name="rule-2">
            <a:extLst xmlns:a="http://schemas.openxmlformats.org/drawingml/2006/main">
              <a:ext uri="{FF2B5EF4-FFF2-40B4-BE49-F238E27FC236}">
                <a16:creationId xmlns:a16="http://schemas.microsoft.com/office/drawing/2014/main" id="{9A92D70C-C222-42C6-97F9-78F873F75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239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4B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BDFF34D3-0719-4F6C-A15F-D6934F7C4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1A98F"/>
                </a:solidFill>
              </a:defRPr>
            </a:pPr>
            <a:r>
              <a:rPr sz="1200" b="0">
                <a:solidFill>
                  <a:srgbClr val="B1A98F"/>
                </a:solidFill>
              </a:rPr>
              <a:t>02</a:t>
            </a:r>
          </a:p>
        </p:txBody>
      </p:sp>
      <p:sp>
        <p:nvSpPr>
          <p:cNvPr id="5" name="score-lead">
            <a:extLst xmlns:a="http://schemas.openxmlformats.org/drawingml/2006/main">
              <a:ext uri="{FF2B5EF4-FFF2-40B4-BE49-F238E27FC236}">
                <a16:creationId xmlns:a16="http://schemas.microsoft.com/office/drawing/2014/main" id="{C40FB121-ECB2-4113-9B60-ADD0C003D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1112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4E7C2"/>
                </a:solidFill>
              </a:defRPr>
            </a:pPr>
            <a:r>
              <a:rPr sz="1800" b="0">
                <a:solidFill>
                  <a:srgbClr val="F4E7C2"/>
                </a:solidFill>
              </a:rPr>
              <a:t>老师可以按关注点选择听，也可以直接跳到对应现场演示。</a:t>
            </a:r>
          </a:p>
        </p:txBody>
      </p:sp>
      <p:sp>
        <p:nvSpPr>
          <p:cNvPr id="6" name="score-row-功能 10">
            <a:extLst xmlns:a="http://schemas.openxmlformats.org/drawingml/2006/main">
              <a:ext uri="{FF2B5EF4-FFF2-40B4-BE49-F238E27FC236}">
                <a16:creationId xmlns:a16="http://schemas.microsoft.com/office/drawing/2014/main" id="{DCE26BFB-50C3-47E8-B265-1FD9ADC5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33600"/>
            <a:ext cx="111252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C1B16"/>
          </a:solidFill>
          <a:ln xmlns:a="http://schemas.openxmlformats.org/drawingml/2006/main" w="9525">
            <a:solidFill>
              <a:srgbClr val="5A4B2C"/>
            </a:solidFill>
            <a:prstDash val="solid"/>
          </a:ln>
        </p:spPr>
      </p:sp>
      <p:sp>
        <p:nvSpPr>
          <p:cNvPr id="7" name="score-mark-功能 10">
            <a:extLst xmlns:a="http://schemas.openxmlformats.org/drawingml/2006/main">
              <a:ext uri="{FF2B5EF4-FFF2-40B4-BE49-F238E27FC236}">
                <a16:creationId xmlns:a16="http://schemas.microsoft.com/office/drawing/2014/main" id="{6A3F659E-DE8C-4256-83D5-B7486FEA6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33600"/>
            <a:ext cx="95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core-title-功能 10">
            <a:extLst xmlns:a="http://schemas.openxmlformats.org/drawingml/2006/main">
              <a:ext uri="{FF2B5EF4-FFF2-40B4-BE49-F238E27FC236}">
                <a16:creationId xmlns:a16="http://schemas.microsoft.com/office/drawing/2014/main" id="{C2EBA88F-6210-4BFA-9A0D-2D0C642B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860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0B34A"/>
                </a:solidFill>
              </a:defRPr>
            </a:pPr>
            <a:r>
              <a:rPr sz="1875" b="1">
                <a:solidFill>
                  <a:srgbClr val="F0B34A"/>
                </a:solidFill>
              </a:rPr>
              <a:t>功能 10</a:t>
            </a:r>
          </a:p>
        </p:txBody>
      </p:sp>
      <p:sp>
        <p:nvSpPr>
          <p:cNvPr id="9" name="score-body-功能 10">
            <a:extLst xmlns:a="http://schemas.openxmlformats.org/drawingml/2006/main">
              <a:ext uri="{FF2B5EF4-FFF2-40B4-BE49-F238E27FC236}">
                <a16:creationId xmlns:a16="http://schemas.microsoft.com/office/drawing/2014/main" id="{05917348-1E18-4DAA-AA3B-04FCC46B3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29552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E7C2"/>
                </a:solidFill>
              </a:defRPr>
            </a:pPr>
            <a:r>
              <a:rPr sz="1575" b="0">
                <a:solidFill>
                  <a:srgbClr val="F4E7C2"/>
                </a:solidFill>
              </a:rPr>
              <a:t>实时战斗、战术暂停、随机成长、两关与 Boss</a:t>
            </a:r>
          </a:p>
        </p:txBody>
      </p:sp>
      <p:sp>
        <p:nvSpPr>
          <p:cNvPr id="10" name="score-page-功能 10">
            <a:extLst xmlns:a="http://schemas.openxmlformats.org/drawingml/2006/main">
              <a:ext uri="{FF2B5EF4-FFF2-40B4-BE49-F238E27FC236}">
                <a16:creationId xmlns:a16="http://schemas.microsoft.com/office/drawing/2014/main" id="{EDAEF241-7542-4698-93B5-33B8BE26B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30505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B1A98F"/>
                </a:solidFill>
              </a:defRPr>
            </a:pPr>
            <a:r>
              <a:rPr sz="1500" b="1">
                <a:solidFill>
                  <a:srgbClr val="B1A98F"/>
                </a:solidFill>
              </a:rPr>
              <a:t>P.03–04</a:t>
            </a:r>
          </a:p>
        </p:txBody>
      </p:sp>
      <p:sp>
        <p:nvSpPr>
          <p:cNvPr id="11" name="score-row-界面 10">
            <a:extLst xmlns:a="http://schemas.openxmlformats.org/drawingml/2006/main">
              <a:ext uri="{FF2B5EF4-FFF2-40B4-BE49-F238E27FC236}">
                <a16:creationId xmlns:a16="http://schemas.microsoft.com/office/drawing/2014/main" id="{A7CA5757-50E3-460D-9C2E-B95517D55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14650"/>
            <a:ext cx="111252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C1B16"/>
          </a:solidFill>
          <a:ln xmlns:a="http://schemas.openxmlformats.org/drawingml/2006/main" w="9525">
            <a:solidFill>
              <a:srgbClr val="5A4B2C"/>
            </a:solidFill>
            <a:prstDash val="solid"/>
          </a:ln>
        </p:spPr>
      </p:sp>
      <p:sp>
        <p:nvSpPr>
          <p:cNvPr id="12" name="score-mark-界面 10">
            <a:extLst xmlns:a="http://schemas.openxmlformats.org/drawingml/2006/main">
              <a:ext uri="{FF2B5EF4-FFF2-40B4-BE49-F238E27FC236}">
                <a16:creationId xmlns:a16="http://schemas.microsoft.com/office/drawing/2014/main" id="{67FC949F-999C-44AB-83A6-CC62730F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14650"/>
            <a:ext cx="95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core-title-界面 10">
            <a:extLst xmlns:a="http://schemas.openxmlformats.org/drawingml/2006/main">
              <a:ext uri="{FF2B5EF4-FFF2-40B4-BE49-F238E27FC236}">
                <a16:creationId xmlns:a16="http://schemas.microsoft.com/office/drawing/2014/main" id="{B30B6E2D-526E-4BBF-B041-78878C996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AAE5A"/>
                </a:solidFill>
              </a:defRPr>
            </a:pPr>
            <a:r>
              <a:rPr sz="1875" b="1">
                <a:solidFill>
                  <a:srgbClr val="9AAE5A"/>
                </a:solidFill>
              </a:rPr>
              <a:t>界面 10</a:t>
            </a:r>
          </a:p>
        </p:txBody>
      </p:sp>
      <p:sp>
        <p:nvSpPr>
          <p:cNvPr id="14" name="score-body-界面 10">
            <a:extLst xmlns:a="http://schemas.openxmlformats.org/drawingml/2006/main">
              <a:ext uri="{FF2B5EF4-FFF2-40B4-BE49-F238E27FC236}">
                <a16:creationId xmlns:a16="http://schemas.microsoft.com/office/drawing/2014/main" id="{FBEB9BEF-115F-4377-822B-883219D8A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07657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E7C2"/>
                </a:solidFill>
              </a:defRPr>
            </a:pPr>
            <a:r>
              <a:rPr sz="1575" b="0">
                <a:solidFill>
                  <a:srgbClr val="F4E7C2"/>
                </a:solidFill>
              </a:rPr>
              <a:t>黄色工业终端风；重要信息一屏可读</a:t>
            </a:r>
          </a:p>
        </p:txBody>
      </p:sp>
      <p:sp>
        <p:nvSpPr>
          <p:cNvPr id="15" name="score-page-界面 10">
            <a:extLst xmlns:a="http://schemas.openxmlformats.org/drawingml/2006/main">
              <a:ext uri="{FF2B5EF4-FFF2-40B4-BE49-F238E27FC236}">
                <a16:creationId xmlns:a16="http://schemas.microsoft.com/office/drawing/2014/main" id="{70F39DB2-D900-4992-B770-8A239EFF8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8610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B1A98F"/>
                </a:solidFill>
              </a:defRPr>
            </a:pPr>
            <a:r>
              <a:rPr sz="1500" b="1">
                <a:solidFill>
                  <a:srgbClr val="B1A98F"/>
                </a:solidFill>
              </a:rPr>
              <a:t>P.07</a:t>
            </a:r>
          </a:p>
        </p:txBody>
      </p:sp>
      <p:sp>
        <p:nvSpPr>
          <p:cNvPr id="16" name="score-row-创新 10">
            <a:extLst xmlns:a="http://schemas.openxmlformats.org/drawingml/2006/main">
              <a:ext uri="{FF2B5EF4-FFF2-40B4-BE49-F238E27FC236}">
                <a16:creationId xmlns:a16="http://schemas.microsoft.com/office/drawing/2014/main" id="{AC5C088F-ACE3-40BE-A131-F9855A82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95700"/>
            <a:ext cx="111252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C1B16"/>
          </a:solidFill>
          <a:ln xmlns:a="http://schemas.openxmlformats.org/drawingml/2006/main" w="9525">
            <a:solidFill>
              <a:srgbClr val="5A4B2C"/>
            </a:solidFill>
            <a:prstDash val="solid"/>
          </a:ln>
        </p:spPr>
      </p:sp>
      <p:sp>
        <p:nvSpPr>
          <p:cNvPr id="17" name="score-mark-创新 10">
            <a:extLst xmlns:a="http://schemas.openxmlformats.org/drawingml/2006/main">
              <a:ext uri="{FF2B5EF4-FFF2-40B4-BE49-F238E27FC236}">
                <a16:creationId xmlns:a16="http://schemas.microsoft.com/office/drawing/2014/main" id="{7DDE193A-FF60-423A-93A4-C68623D14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95700"/>
            <a:ext cx="95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9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core-title-创新 10">
            <a:extLst xmlns:a="http://schemas.openxmlformats.org/drawingml/2006/main">
              <a:ext uri="{FF2B5EF4-FFF2-40B4-BE49-F238E27FC236}">
                <a16:creationId xmlns:a16="http://schemas.microsoft.com/office/drawing/2014/main" id="{B9033154-D6C7-4EA1-9AD1-3C5DC1036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481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9A93D"/>
                </a:solidFill>
              </a:defRPr>
            </a:pPr>
            <a:r>
              <a:rPr sz="1875" b="1">
                <a:solidFill>
                  <a:srgbClr val="D9A93D"/>
                </a:solidFill>
              </a:rPr>
              <a:t>创新 10</a:t>
            </a:r>
          </a:p>
        </p:txBody>
      </p:sp>
      <p:sp>
        <p:nvSpPr>
          <p:cNvPr id="19" name="score-body-创新 10">
            <a:extLst xmlns:a="http://schemas.openxmlformats.org/drawingml/2006/main">
              <a:ext uri="{FF2B5EF4-FFF2-40B4-BE49-F238E27FC236}">
                <a16:creationId xmlns:a16="http://schemas.microsoft.com/office/drawing/2014/main" id="{9C2337A2-C0B6-4305-8961-E3DF5D193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85762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E7C2"/>
                </a:solidFill>
              </a:defRPr>
            </a:pPr>
            <a:r>
              <a:rPr sz="1575" b="0">
                <a:solidFill>
                  <a:srgbClr val="F4E7C2"/>
                </a:solidFill>
              </a:rPr>
              <a:t>三拍换序 + 因果预演 + 动态战损</a:t>
            </a:r>
          </a:p>
        </p:txBody>
      </p:sp>
      <p:sp>
        <p:nvSpPr>
          <p:cNvPr id="20" name="score-page-创新 10">
            <a:extLst xmlns:a="http://schemas.openxmlformats.org/drawingml/2006/main">
              <a:ext uri="{FF2B5EF4-FFF2-40B4-BE49-F238E27FC236}">
                <a16:creationId xmlns:a16="http://schemas.microsoft.com/office/drawing/2014/main" id="{D7F3AD87-352B-469F-B3FC-FC1EC9C7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6715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B1A98F"/>
                </a:solidFill>
              </a:defRPr>
            </a:pPr>
            <a:r>
              <a:rPr sz="1500" b="1">
                <a:solidFill>
                  <a:srgbClr val="B1A98F"/>
                </a:solidFill>
              </a:rPr>
              <a:t>P.04–05</a:t>
            </a:r>
          </a:p>
        </p:txBody>
      </p:sp>
      <p:sp>
        <p:nvSpPr>
          <p:cNvPr id="21" name="score-row-AI 协作 20">
            <a:extLst xmlns:a="http://schemas.openxmlformats.org/drawingml/2006/main">
              <a:ext uri="{FF2B5EF4-FFF2-40B4-BE49-F238E27FC236}">
                <a16:creationId xmlns:a16="http://schemas.microsoft.com/office/drawing/2014/main" id="{331492C3-5BA0-4C46-8731-754E7234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111252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C1B16"/>
          </a:solidFill>
          <a:ln xmlns:a="http://schemas.openxmlformats.org/drawingml/2006/main" w="9525">
            <a:solidFill>
              <a:srgbClr val="5A4B2C"/>
            </a:solidFill>
            <a:prstDash val="solid"/>
          </a:ln>
        </p:spPr>
      </p:sp>
      <p:sp>
        <p:nvSpPr>
          <p:cNvPr id="22" name="score-mark-AI 协作 20">
            <a:extLst xmlns:a="http://schemas.openxmlformats.org/drawingml/2006/main">
              <a:ext uri="{FF2B5EF4-FFF2-40B4-BE49-F238E27FC236}">
                <a16:creationId xmlns:a16="http://schemas.microsoft.com/office/drawing/2014/main" id="{AEFF6A2F-7D59-4CD5-87D6-0F05E19B2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95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8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core-title-AI 协作 20">
            <a:extLst xmlns:a="http://schemas.openxmlformats.org/drawingml/2006/main">
              <a:ext uri="{FF2B5EF4-FFF2-40B4-BE49-F238E27FC236}">
                <a16:creationId xmlns:a16="http://schemas.microsoft.com/office/drawing/2014/main" id="{175E6DB2-340E-4216-969B-5FF707AC3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291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58A32"/>
                </a:solidFill>
              </a:defRPr>
            </a:pPr>
            <a:r>
              <a:rPr sz="1875" b="1">
                <a:solidFill>
                  <a:srgbClr val="C58A32"/>
                </a:solidFill>
              </a:rPr>
              <a:t>AI 协作 20</a:t>
            </a:r>
          </a:p>
        </p:txBody>
      </p:sp>
      <p:sp>
        <p:nvSpPr>
          <p:cNvPr id="24" name="score-body-AI 协作 20">
            <a:extLst xmlns:a="http://schemas.openxmlformats.org/drawingml/2006/main">
              <a:ext uri="{FF2B5EF4-FFF2-40B4-BE49-F238E27FC236}">
                <a16:creationId xmlns:a16="http://schemas.microsoft.com/office/drawing/2014/main" id="{5407597E-EE6B-4F2A-9480-B17120A4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63867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E7C2"/>
                </a:solidFill>
              </a:defRPr>
            </a:pPr>
            <a:r>
              <a:rPr sz="1575" b="0">
                <a:solidFill>
                  <a:srgbClr val="F4E7C2"/>
                </a:solidFill>
              </a:rPr>
              <a:t>流程、分工、纠错、验证与能力边界</a:t>
            </a:r>
          </a:p>
        </p:txBody>
      </p:sp>
      <p:sp>
        <p:nvSpPr>
          <p:cNvPr id="25" name="score-page-AI 协作 20">
            <a:extLst xmlns:a="http://schemas.openxmlformats.org/drawingml/2006/main">
              <a:ext uri="{FF2B5EF4-FFF2-40B4-BE49-F238E27FC236}">
                <a16:creationId xmlns:a16="http://schemas.microsoft.com/office/drawing/2014/main" id="{9C98849E-F75F-46C6-BEB9-67F8AB48B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64820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B1A98F"/>
                </a:solidFill>
              </a:defRPr>
            </a:pPr>
            <a:r>
              <a:rPr sz="1500" b="1">
                <a:solidFill>
                  <a:srgbClr val="B1A98F"/>
                </a:solidFill>
              </a:rPr>
              <a:t>P.09–10</a:t>
            </a:r>
          </a:p>
        </p:txBody>
      </p:sp>
      <p:sp>
        <p:nvSpPr>
          <p:cNvPr id="26" name="score-row-演示 10">
            <a:extLst xmlns:a="http://schemas.openxmlformats.org/drawingml/2006/main">
              <a:ext uri="{FF2B5EF4-FFF2-40B4-BE49-F238E27FC236}">
                <a16:creationId xmlns:a16="http://schemas.microsoft.com/office/drawing/2014/main" id="{4A70685B-707D-4DD8-803A-1AB3F1AB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57800"/>
            <a:ext cx="111252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C1B16"/>
          </a:solidFill>
          <a:ln xmlns:a="http://schemas.openxmlformats.org/drawingml/2006/main" w="9525">
            <a:solidFill>
              <a:srgbClr val="5A4B2C"/>
            </a:solidFill>
            <a:prstDash val="solid"/>
          </a:ln>
        </p:spPr>
      </p:sp>
      <p:sp>
        <p:nvSpPr>
          <p:cNvPr id="27" name="score-mark-演示 10">
            <a:extLst xmlns:a="http://schemas.openxmlformats.org/drawingml/2006/main">
              <a:ext uri="{FF2B5EF4-FFF2-40B4-BE49-F238E27FC236}">
                <a16:creationId xmlns:a16="http://schemas.microsoft.com/office/drawing/2014/main" id="{A6A473DB-1C37-4615-8913-61BFB881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57800"/>
            <a:ext cx="95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4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core-title-演示 10">
            <a:extLst xmlns:a="http://schemas.openxmlformats.org/drawingml/2006/main">
              <a:ext uri="{FF2B5EF4-FFF2-40B4-BE49-F238E27FC236}">
                <a16:creationId xmlns:a16="http://schemas.microsoft.com/office/drawing/2014/main" id="{7D4D669F-9B1D-467C-8621-FD3D70B09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102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06464"/>
                </a:solidFill>
              </a:defRPr>
            </a:pPr>
            <a:r>
              <a:rPr sz="1875" b="1">
                <a:solidFill>
                  <a:srgbClr val="F06464"/>
                </a:solidFill>
              </a:rPr>
              <a:t>演示 10</a:t>
            </a:r>
          </a:p>
        </p:txBody>
      </p:sp>
      <p:sp>
        <p:nvSpPr>
          <p:cNvPr id="29" name="score-body-演示 10">
            <a:extLst xmlns:a="http://schemas.openxmlformats.org/drawingml/2006/main">
              <a:ext uri="{FF2B5EF4-FFF2-40B4-BE49-F238E27FC236}">
                <a16:creationId xmlns:a16="http://schemas.microsoft.com/office/drawing/2014/main" id="{DDDAC78E-B305-462A-BDF6-5A301870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41972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E7C2"/>
                </a:solidFill>
              </a:defRPr>
            </a:pPr>
            <a:r>
              <a:rPr sz="1575" b="0">
                <a:solidFill>
                  <a:srgbClr val="F4E7C2"/>
                </a:solidFill>
              </a:rPr>
              <a:t>主创新 / 完整玩法 / 技术证据三条可选路线</a:t>
            </a:r>
          </a:p>
        </p:txBody>
      </p:sp>
      <p:sp>
        <p:nvSpPr>
          <p:cNvPr id="30" name="score-page-演示 10">
            <a:extLst xmlns:a="http://schemas.openxmlformats.org/drawingml/2006/main">
              <a:ext uri="{FF2B5EF4-FFF2-40B4-BE49-F238E27FC236}">
                <a16:creationId xmlns:a16="http://schemas.microsoft.com/office/drawing/2014/main" id="{E1A406A2-DDD5-4B22-B36A-EFF1207A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42925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B1A98F"/>
                </a:solidFill>
              </a:defRPr>
            </a:pPr>
            <a:r>
              <a:rPr sz="1500" b="1">
                <a:solidFill>
                  <a:srgbClr val="B1A98F"/>
                </a:solidFill>
              </a:rPr>
              <a:t>P.12</a:t>
            </a:r>
          </a:p>
        </p:txBody>
      </p:sp>
      <p:sp>
        <p:nvSpPr>
          <p:cNvPr id="31" name="score-total">
            <a:extLst xmlns:a="http://schemas.openxmlformats.org/drawingml/2006/main">
              <a:ext uri="{FF2B5EF4-FFF2-40B4-BE49-F238E27FC236}">
                <a16:creationId xmlns:a16="http://schemas.microsoft.com/office/drawing/2014/main" id="{DA22C10C-7DB6-4430-B551-FFAFD9083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53150"/>
            <a:ext cx="11125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B2A22"/>
          </a:solidFill>
          <a:ln xmlns:a="http://schemas.openxmlformats.org/drawingml/2006/main" w="9525">
            <a:solidFill>
              <a:srgbClr val="F0B34A"/>
            </a:solidFill>
            <a:prstDash val="solid"/>
          </a:ln>
        </p:spPr>
      </p:sp>
      <p:sp>
        <p:nvSpPr>
          <p:cNvPr id="32" name="score-total-text">
            <a:extLst xmlns:a="http://schemas.openxmlformats.org/drawingml/2006/main">
              <a:ext uri="{FF2B5EF4-FFF2-40B4-BE49-F238E27FC236}">
                <a16:creationId xmlns:a16="http://schemas.microsoft.com/office/drawing/2014/main" id="{E74931AB-25C9-446D-A21F-F625E8F3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00775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0B34A"/>
                </a:solidFill>
              </a:defRPr>
            </a:pPr>
            <a:r>
              <a:rPr sz="1425" b="1">
                <a:solidFill>
                  <a:srgbClr val="F0B34A"/>
                </a:solidFill>
              </a:rPr>
              <a:t>项目验收答辩 60 分 × 案例难度系数｜本 PPT 重点覆盖这 60 分</a:t>
            </a:r>
          </a:p>
        </p:txBody>
      </p:sp>
    </p:spTree>
    <p:extLst>
      <p:ext uri="{BB962C8B-B14F-4D97-AF65-F5344CB8AC3E}">
        <p14:creationId xmlns:p14="http://schemas.microsoft.com/office/powerpoint/2010/main" val="8846608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0B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ection-3">
            <a:extLst xmlns:a="http://schemas.openxmlformats.org/drawingml/2006/main">
              <a:ext uri="{FF2B5EF4-FFF2-40B4-BE49-F238E27FC236}">
                <a16:creationId xmlns:a16="http://schemas.microsoft.com/office/drawing/2014/main" id="{6A6512FF-5832-482F-BD75-3E83291F8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0B34A"/>
                </a:solidFill>
              </a:defRPr>
            </a:pPr>
            <a:r>
              <a:rPr sz="1200" b="1">
                <a:solidFill>
                  <a:srgbClr val="F0B34A"/>
                </a:solidFill>
              </a:rPr>
              <a:t>01 / 功能完整度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5DA05336-825C-4F08-92FF-8C7E19C1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E7C2"/>
                </a:solidFill>
              </a:defRPr>
            </a:pPr>
            <a:r>
              <a:rPr sz="3600" b="1">
                <a:solidFill>
                  <a:srgbClr val="F4E7C2"/>
                </a:solidFill>
              </a:rPr>
              <a:t>不是概念原型，而是一局完整的动作 Roguelike</a:t>
            </a:r>
          </a:p>
        </p:txBody>
      </p:sp>
      <p:sp>
        <p:nvSpPr>
          <p:cNvPr id="3" name="rule-3">
            <a:extLst xmlns:a="http://schemas.openxmlformats.org/drawingml/2006/main">
              <a:ext uri="{FF2B5EF4-FFF2-40B4-BE49-F238E27FC236}">
                <a16:creationId xmlns:a16="http://schemas.microsoft.com/office/drawing/2014/main" id="{28B8317A-15EE-4DC9-BB45-1EE139FB1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239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4B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AC7F2572-5988-4A33-B9EF-B2D7F0A7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1A98F"/>
                </a:solidFill>
              </a:defRPr>
            </a:pPr>
            <a:r>
              <a:rPr sz="1200" b="0">
                <a:solidFill>
                  <a:srgbClr val="B1A98F"/>
                </a:solidFill>
              </a:rPr>
              <a:t>03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38e34b1ad140a2"/>
          <a:srcRect xmlns:a="http://schemas.openxmlformats.org/drawingml/2006/main" l="0" t="4986" r="0" b="49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19650" y="1657350"/>
            <a:ext cx="6838950" cy="3848100"/>
          </a:xfrm>
          <a:prstGeom xmlns:a="http://schemas.openxmlformats.org/drawingml/2006/main" prst="roundRect">
            <a:avLst>
              <a:gd name="adj" fmla="val 1980"/>
            </a:avLst>
          </a:prstGeom>
        </p:spPr>
      </p:pic>
      <p:sp>
        <p:nvSpPr>
          <p:cNvPr id="6" name="loop-num-01">
            <a:extLst xmlns:a="http://schemas.openxmlformats.org/drawingml/2006/main">
              <a:ext uri="{FF2B5EF4-FFF2-40B4-BE49-F238E27FC236}">
                <a16:creationId xmlns:a16="http://schemas.microsoft.com/office/drawing/2014/main" id="{F6685EEB-145B-49E5-AAB8-B84365EB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0B34A"/>
                </a:solidFill>
              </a:defRPr>
            </a:pPr>
            <a:r>
              <a:rPr sz="1650" b="1">
                <a:solidFill>
                  <a:srgbClr val="F0B34A"/>
                </a:solidFill>
              </a:rPr>
              <a:t>01</a:t>
            </a:r>
          </a:p>
        </p:txBody>
      </p:sp>
      <p:sp>
        <p:nvSpPr>
          <p:cNvPr id="7" name="loop-title-01">
            <a:extLst xmlns:a="http://schemas.openxmlformats.org/drawingml/2006/main">
              <a:ext uri="{FF2B5EF4-FFF2-40B4-BE49-F238E27FC236}">
                <a16:creationId xmlns:a16="http://schemas.microsoft.com/office/drawing/2014/main" id="{EFA2C875-33EC-4129-AAE1-14BCEDAE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638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E7C2"/>
                </a:solidFill>
              </a:defRPr>
            </a:pPr>
            <a:r>
              <a:rPr sz="2025" b="1">
                <a:solidFill>
                  <a:srgbClr val="F4E7C2"/>
                </a:solidFill>
              </a:rPr>
              <a:t>实时交锋</a:t>
            </a:r>
          </a:p>
        </p:txBody>
      </p:sp>
      <p:sp>
        <p:nvSpPr>
          <p:cNvPr id="8" name="loop-body-01">
            <a:extLst xmlns:a="http://schemas.openxmlformats.org/drawingml/2006/main">
              <a:ext uri="{FF2B5EF4-FFF2-40B4-BE49-F238E27FC236}">
                <a16:creationId xmlns:a16="http://schemas.microsoft.com/office/drawing/2014/main" id="{4BE13C33-EA84-49AA-A551-C3B6308A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193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1A98F"/>
                </a:solidFill>
              </a:defRPr>
            </a:pPr>
            <a:r>
              <a:rPr sz="1500" b="0">
                <a:solidFill>
                  <a:srgbClr val="B1A98F"/>
                </a:solidFill>
              </a:rPr>
              <a:t>WASD、近/远程、闪避、牵引</a:t>
            </a:r>
          </a:p>
        </p:txBody>
      </p:sp>
      <p:sp>
        <p:nvSpPr>
          <p:cNvPr id="9" name="loop-rule-01">
            <a:extLst xmlns:a="http://schemas.openxmlformats.org/drawingml/2006/main">
              <a:ext uri="{FF2B5EF4-FFF2-40B4-BE49-F238E27FC236}">
                <a16:creationId xmlns:a16="http://schemas.microsoft.com/office/drawing/2014/main" id="{B995BC5F-AD1F-4F84-9B6C-C457B2F3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5270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4B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oop-num-02">
            <a:extLst xmlns:a="http://schemas.openxmlformats.org/drawingml/2006/main">
              <a:ext uri="{FF2B5EF4-FFF2-40B4-BE49-F238E27FC236}">
                <a16:creationId xmlns:a16="http://schemas.microsoft.com/office/drawing/2014/main" id="{983409B1-7404-4DED-B8E6-28F525947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A93D"/>
                </a:solidFill>
              </a:defRPr>
            </a:pPr>
            <a:r>
              <a:rPr sz="1650" b="1">
                <a:solidFill>
                  <a:srgbClr val="D9A93D"/>
                </a:solidFill>
              </a:rPr>
              <a:t>02</a:t>
            </a:r>
          </a:p>
        </p:txBody>
      </p:sp>
      <p:sp>
        <p:nvSpPr>
          <p:cNvPr id="11" name="loop-title-02">
            <a:extLst xmlns:a="http://schemas.openxmlformats.org/drawingml/2006/main">
              <a:ext uri="{FF2B5EF4-FFF2-40B4-BE49-F238E27FC236}">
                <a16:creationId xmlns:a16="http://schemas.microsoft.com/office/drawing/2014/main" id="{23CF2011-27D7-4E76-8FC5-4D2DB9B12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479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E7C2"/>
                </a:solidFill>
              </a:defRPr>
            </a:pPr>
            <a:r>
              <a:rPr sz="2025" b="1">
                <a:solidFill>
                  <a:srgbClr val="F4E7C2"/>
                </a:solidFill>
              </a:rPr>
              <a:t>冻结危险瞬间</a:t>
            </a:r>
          </a:p>
        </p:txBody>
      </p:sp>
      <p:sp>
        <p:nvSpPr>
          <p:cNvPr id="12" name="loop-body-02">
            <a:extLst xmlns:a="http://schemas.openxmlformats.org/drawingml/2006/main">
              <a:ext uri="{FF2B5EF4-FFF2-40B4-BE49-F238E27FC236}">
                <a16:creationId xmlns:a16="http://schemas.microsoft.com/office/drawing/2014/main" id="{8B98025A-7B00-4436-8B34-32BB9AC94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289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1A98F"/>
                </a:solidFill>
              </a:defRPr>
            </a:pPr>
            <a:r>
              <a:rPr sz="1500" b="0">
                <a:solidFill>
                  <a:srgbClr val="B1A98F"/>
                </a:solidFill>
              </a:rPr>
              <a:t>读取 敌方意图，进入三拍 Tactical</a:t>
            </a:r>
          </a:p>
        </p:txBody>
      </p:sp>
      <p:sp>
        <p:nvSpPr>
          <p:cNvPr id="13" name="loop-rule-02">
            <a:extLst xmlns:a="http://schemas.openxmlformats.org/drawingml/2006/main">
              <a:ext uri="{FF2B5EF4-FFF2-40B4-BE49-F238E27FC236}">
                <a16:creationId xmlns:a16="http://schemas.microsoft.com/office/drawing/2014/main" id="{CEB68A75-751F-4E7C-AEF5-38C68A98A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623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4B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loop-num-03">
            <a:extLst xmlns:a="http://schemas.openxmlformats.org/drawingml/2006/main">
              <a:ext uri="{FF2B5EF4-FFF2-40B4-BE49-F238E27FC236}">
                <a16:creationId xmlns:a16="http://schemas.microsoft.com/office/drawing/2014/main" id="{23DB3DD6-5D72-4E09-B52B-21A1E4DD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766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58A32"/>
                </a:solidFill>
              </a:defRPr>
            </a:pPr>
            <a:r>
              <a:rPr sz="1650" b="1">
                <a:solidFill>
                  <a:srgbClr val="C58A32"/>
                </a:solidFill>
              </a:rPr>
              <a:t>03</a:t>
            </a:r>
          </a:p>
        </p:txBody>
      </p:sp>
      <p:sp>
        <p:nvSpPr>
          <p:cNvPr id="15" name="loop-title-03">
            <a:extLst xmlns:a="http://schemas.openxmlformats.org/drawingml/2006/main">
              <a:ext uri="{FF2B5EF4-FFF2-40B4-BE49-F238E27FC236}">
                <a16:creationId xmlns:a16="http://schemas.microsoft.com/office/drawing/2014/main" id="{A084071F-9805-4ECA-8934-E1B68253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576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E7C2"/>
                </a:solidFill>
              </a:defRPr>
            </a:pPr>
            <a:r>
              <a:rPr sz="2025" b="1">
                <a:solidFill>
                  <a:srgbClr val="F4E7C2"/>
                </a:solidFill>
              </a:rPr>
              <a:t>三选一成长</a:t>
            </a:r>
          </a:p>
        </p:txBody>
      </p:sp>
      <p:sp>
        <p:nvSpPr>
          <p:cNvPr id="16" name="loop-body-03">
            <a:extLst xmlns:a="http://schemas.openxmlformats.org/drawingml/2006/main">
              <a:ext uri="{FF2B5EF4-FFF2-40B4-BE49-F238E27FC236}">
                <a16:creationId xmlns:a16="http://schemas.microsoft.com/office/drawing/2014/main" id="{4AB19234-A7A1-4D5E-AA29-9C8C5F2E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386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1A98F"/>
                </a:solidFill>
              </a:defRPr>
            </a:pPr>
            <a:r>
              <a:rPr sz="1500" b="0">
                <a:solidFill>
                  <a:srgbClr val="B1A98F"/>
                </a:solidFill>
              </a:rPr>
              <a:t>协议 / 技能 / 属性改变后续战斗</a:t>
            </a:r>
          </a:p>
        </p:txBody>
      </p:sp>
      <p:sp>
        <p:nvSpPr>
          <p:cNvPr id="17" name="loop-rule-03">
            <a:extLst xmlns:a="http://schemas.openxmlformats.org/drawingml/2006/main">
              <a:ext uri="{FF2B5EF4-FFF2-40B4-BE49-F238E27FC236}">
                <a16:creationId xmlns:a16="http://schemas.microsoft.com/office/drawing/2014/main" id="{87022B2F-1290-4CFF-A2D2-2D2FA7B9D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4B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loop-num-04">
            <a:extLst xmlns:a="http://schemas.openxmlformats.org/drawingml/2006/main">
              <a:ext uri="{FF2B5EF4-FFF2-40B4-BE49-F238E27FC236}">
                <a16:creationId xmlns:a16="http://schemas.microsoft.com/office/drawing/2014/main" id="{CD883CC6-A742-4115-9DE1-8ED0AC9EF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863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AAE5A"/>
                </a:solidFill>
              </a:defRPr>
            </a:pPr>
            <a:r>
              <a:rPr sz="1650" b="1">
                <a:solidFill>
                  <a:srgbClr val="9AAE5A"/>
                </a:solidFill>
              </a:rPr>
              <a:t>04</a:t>
            </a:r>
          </a:p>
        </p:txBody>
      </p:sp>
      <p:sp>
        <p:nvSpPr>
          <p:cNvPr id="19" name="loop-title-04">
            <a:extLst xmlns:a="http://schemas.openxmlformats.org/drawingml/2006/main">
              <a:ext uri="{FF2B5EF4-FFF2-40B4-BE49-F238E27FC236}">
                <a16:creationId xmlns:a16="http://schemas.microsoft.com/office/drawing/2014/main" id="{DB59CCD7-F9BB-4F7F-BE4A-A9C8E7584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672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E7C2"/>
                </a:solidFill>
              </a:defRPr>
            </a:pPr>
            <a:r>
              <a:rPr sz="2025" b="1">
                <a:solidFill>
                  <a:srgbClr val="F4E7C2"/>
                </a:solidFill>
              </a:rPr>
              <a:t>完整 Run</a:t>
            </a:r>
          </a:p>
        </p:txBody>
      </p:sp>
      <p:sp>
        <p:nvSpPr>
          <p:cNvPr id="20" name="loop-body-04">
            <a:extLst xmlns:a="http://schemas.openxmlformats.org/drawingml/2006/main">
              <a:ext uri="{FF2B5EF4-FFF2-40B4-BE49-F238E27FC236}">
                <a16:creationId xmlns:a16="http://schemas.microsoft.com/office/drawing/2014/main" id="{6FD2822E-64F5-47FC-83A9-243B13DB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0482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1A98F"/>
                </a:solidFill>
              </a:defRPr>
            </a:pPr>
            <a:r>
              <a:rPr sz="1500" b="0">
                <a:solidFill>
                  <a:srgbClr val="B1A98F"/>
                </a:solidFill>
              </a:rPr>
              <a:t>程序地图 → 3 个遭遇 → 12 HP Boss</a:t>
            </a:r>
          </a:p>
        </p:txBody>
      </p:sp>
      <p:sp>
        <p:nvSpPr>
          <p:cNvPr id="21" name="loop-rule-04">
            <a:extLst xmlns:a="http://schemas.openxmlformats.org/drawingml/2006/main">
              <a:ext uri="{FF2B5EF4-FFF2-40B4-BE49-F238E27FC236}">
                <a16:creationId xmlns:a16="http://schemas.microsoft.com/office/drawing/2014/main" id="{A1634B55-DAC8-462E-A55A-F2181239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816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4B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loop-ui-caption">
            <a:extLst xmlns:a="http://schemas.openxmlformats.org/drawingml/2006/main">
              <a:ext uri="{FF2B5EF4-FFF2-40B4-BE49-F238E27FC236}">
                <a16:creationId xmlns:a16="http://schemas.microsoft.com/office/drawing/2014/main" id="{E3D6BF8C-1AC8-4E68-93D8-6A89ADDDB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657850"/>
            <a:ext cx="683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1A98F"/>
                </a:solidFill>
              </a:defRPr>
            </a:pPr>
            <a:r>
              <a:rPr sz="1500" b="0">
                <a:solidFill>
                  <a:srgbClr val="B1A98F"/>
                </a:solidFill>
              </a:rPr>
              <a:t>实机：中文 HUD、敌我编号、Intent 倒计时、构筑常驻显示</a:t>
            </a:r>
          </a:p>
        </p:txBody>
      </p:sp>
      <p:sp>
        <p:nvSpPr>
          <p:cNvPr id="23" name="loop-summary">
            <a:extLst xmlns:a="http://schemas.openxmlformats.org/drawingml/2006/main">
              <a:ext uri="{FF2B5EF4-FFF2-40B4-BE49-F238E27FC236}">
                <a16:creationId xmlns:a16="http://schemas.microsoft.com/office/drawing/2014/main" id="{0121BA76-D029-41FE-961D-B2135AB2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0"/>
            <a:ext cx="3790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0B34A"/>
                </a:solidFill>
              </a:defRPr>
            </a:pPr>
            <a:r>
              <a:rPr sz="1950" b="1">
                <a:solidFill>
                  <a:srgbClr val="F0B34A"/>
                </a:solidFill>
              </a:rPr>
              <a:t>60% 动作 · 25% 策略 · 15% Build</a:t>
            </a:r>
          </a:p>
        </p:txBody>
      </p:sp>
    </p:spTree>
    <p:extLst>
      <p:ext uri="{BB962C8B-B14F-4D97-AF65-F5344CB8AC3E}">
        <p14:creationId xmlns:p14="http://schemas.microsoft.com/office/powerpoint/2010/main" val="12215067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0B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ection-4">
            <a:extLst xmlns:a="http://schemas.openxmlformats.org/drawingml/2006/main">
              <a:ext uri="{FF2B5EF4-FFF2-40B4-BE49-F238E27FC236}">
                <a16:creationId xmlns:a16="http://schemas.microsoft.com/office/drawing/2014/main" id="{13F4416C-AE1E-43EE-8760-30DA1D514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0B34A"/>
                </a:solidFill>
              </a:defRPr>
            </a:pPr>
            <a:r>
              <a:rPr sz="1200" b="1">
                <a:solidFill>
                  <a:srgbClr val="F0B34A"/>
                </a:solidFill>
              </a:rPr>
              <a:t>02 / 主创新：三拍命令链 + 因果预演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91DA064C-0AF1-4B61-A5DF-94DAE981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E7C2"/>
                </a:solidFill>
              </a:defRPr>
            </a:pPr>
            <a:r>
              <a:rPr sz="3600" b="1">
                <a:solidFill>
                  <a:srgbClr val="F4E7C2"/>
                </a:solidFill>
              </a:rPr>
              <a:t>同样三招，只换顺序，失败就变成击杀</a:t>
            </a:r>
          </a:p>
        </p:txBody>
      </p:sp>
      <p:sp>
        <p:nvSpPr>
          <p:cNvPr id="3" name="rule-4">
            <a:extLst xmlns:a="http://schemas.openxmlformats.org/drawingml/2006/main">
              <a:ext uri="{FF2B5EF4-FFF2-40B4-BE49-F238E27FC236}">
                <a16:creationId xmlns:a16="http://schemas.microsoft.com/office/drawing/2014/main" id="{E5C75964-A850-4695-9432-656DA2264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239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4B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21129977-265C-477F-96E3-4A68242B3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1A98F"/>
                </a:solidFill>
              </a:defRPr>
            </a:pPr>
            <a:r>
              <a:rPr sz="1200" b="0">
                <a:solidFill>
                  <a:srgbClr val="B1A98F"/>
                </a:solidFill>
              </a:rPr>
              <a:t>04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c575ad3894429c"/>
          <a:srcRect xmlns:a="http://schemas.openxmlformats.org/drawingml/2006/main" l="0" t="38" r="0" b="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676400"/>
            <a:ext cx="4972050" cy="3105150"/>
          </a:xfrm>
          <a:prstGeom xmlns:a="http://schemas.openxmlformats.org/drawingml/2006/main" prst="roundRect">
            <a:avLst>
              <a:gd name="adj" fmla="val 2454"/>
            </a:avLst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38496155994f2f"/>
          <a:srcRect xmlns:a="http://schemas.openxmlformats.org/drawingml/2006/main" l="4965" t="0" r="49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86550" y="1676400"/>
            <a:ext cx="4972050" cy="3105150"/>
          </a:xfrm>
          <a:prstGeom xmlns:a="http://schemas.openxmlformats.org/drawingml/2006/main" prst="roundRect">
            <a:avLst>
              <a:gd name="adj" fmla="val 2454"/>
            </a:avLst>
          </a:prstGeom>
        </p:spPr>
      </p:pic>
      <p:sp>
        <p:nvSpPr>
          <p:cNvPr id="7" name="before-label">
            <a:extLst xmlns:a="http://schemas.openxmlformats.org/drawingml/2006/main">
              <a:ext uri="{FF2B5EF4-FFF2-40B4-BE49-F238E27FC236}">
                <a16:creationId xmlns:a16="http://schemas.microsoft.com/office/drawing/2014/main" id="{F1FC61F8-693B-4262-8D42-933A7E730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339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06464"/>
                </a:solidFill>
              </a:defRPr>
            </a:pPr>
            <a:r>
              <a:rPr sz="1800" b="1">
                <a:solidFill>
                  <a:srgbClr val="F06464"/>
                </a:solidFill>
              </a:rPr>
              <a:t>原顺序：推击 → 移动 → 牵引</a:t>
            </a:r>
          </a:p>
        </p:txBody>
      </p:sp>
      <p:sp>
        <p:nvSpPr>
          <p:cNvPr id="8" name="before-desc">
            <a:extLst xmlns:a="http://schemas.openxmlformats.org/drawingml/2006/main">
              <a:ext uri="{FF2B5EF4-FFF2-40B4-BE49-F238E27FC236}">
                <a16:creationId xmlns:a16="http://schemas.microsoft.com/office/drawing/2014/main" id="{AB745B43-4E2B-495F-A9CD-7B887A24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149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1A98F"/>
                </a:solidFill>
              </a:defRPr>
            </a:pPr>
            <a:r>
              <a:rPr sz="1500" b="0">
                <a:solidFill>
                  <a:srgbClr val="B1A98F"/>
                </a:solidFill>
              </a:rPr>
              <a:t>敌人存活，锁定意图继续结算</a:t>
            </a:r>
          </a:p>
        </p:txBody>
      </p:sp>
      <p:sp>
        <p:nvSpPr>
          <p:cNvPr id="9" name="arrow">
            <a:extLst xmlns:a="http://schemas.openxmlformats.org/drawingml/2006/main">
              <a:ext uri="{FF2B5EF4-FFF2-40B4-BE49-F238E27FC236}">
                <a16:creationId xmlns:a16="http://schemas.microsoft.com/office/drawing/2014/main" id="{5EE3C0EA-E5C1-46E1-9F7F-EDB46DD9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838450"/>
            <a:ext cx="800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F0B34A"/>
                </a:solidFill>
              </a:defRPr>
            </a:pPr>
            <a:r>
              <a:rPr sz="4800" b="1">
                <a:solidFill>
                  <a:srgbClr val="F0B34A"/>
                </a:solidFill>
              </a:rPr>
              <a:t>→</a:t>
            </a:r>
          </a:p>
        </p:txBody>
      </p:sp>
      <p:sp>
        <p:nvSpPr>
          <p:cNvPr id="10" name="after-label">
            <a:extLst xmlns:a="http://schemas.openxmlformats.org/drawingml/2006/main">
              <a:ext uri="{FF2B5EF4-FFF2-40B4-BE49-F238E27FC236}">
                <a16:creationId xmlns:a16="http://schemas.microsoft.com/office/drawing/2014/main" id="{F9D7C0A4-55F0-4928-87F2-9DAD1E72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339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A93D"/>
                </a:solidFill>
              </a:defRPr>
            </a:pPr>
            <a:r>
              <a:rPr sz="1800" b="1">
                <a:solidFill>
                  <a:srgbClr val="D9A93D"/>
                </a:solidFill>
              </a:rPr>
              <a:t>新顺序：牵引 → 推击 → 移动</a:t>
            </a:r>
          </a:p>
        </p:txBody>
      </p:sp>
      <p:sp>
        <p:nvSpPr>
          <p:cNvPr id="11" name="after-desc">
            <a:extLst xmlns:a="http://schemas.openxmlformats.org/drawingml/2006/main">
              <a:ext uri="{FF2B5EF4-FFF2-40B4-BE49-F238E27FC236}">
                <a16:creationId xmlns:a16="http://schemas.microsoft.com/office/drawing/2014/main" id="{25C21FE3-17C7-484C-AEA8-4D9E58E9E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3149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1A98F"/>
                </a:solidFill>
              </a:defRPr>
            </a:pPr>
            <a:r>
              <a:rPr sz="1500" b="0">
                <a:solidFill>
                  <a:srgbClr val="B1A98F"/>
                </a:solidFill>
              </a:rPr>
              <a:t>敌人在行动前死亡，意图自动取消</a:t>
            </a:r>
          </a:p>
        </p:txBody>
      </p:sp>
      <p:sp>
        <p:nvSpPr>
          <p:cNvPr id="12" name="innovation-band">
            <a:extLst xmlns:a="http://schemas.openxmlformats.org/drawingml/2006/main">
              <a:ext uri="{FF2B5EF4-FFF2-40B4-BE49-F238E27FC236}">
                <a16:creationId xmlns:a16="http://schemas.microsoft.com/office/drawing/2014/main" id="{84FF25B9-CA9C-47D0-B0FD-2858443DE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24550"/>
            <a:ext cx="111252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C1B16"/>
          </a:solidFill>
          <a:ln xmlns:a="http://schemas.openxmlformats.org/drawingml/2006/main" w="9525">
            <a:solidFill>
              <a:srgbClr val="5A4B2C"/>
            </a:solidFill>
            <a:prstDash val="solid"/>
          </a:ln>
        </p:spPr>
      </p:sp>
      <p:sp>
        <p:nvSpPr>
          <p:cNvPr id="13" name="innovation-band-text">
            <a:extLst xmlns:a="http://schemas.openxmlformats.org/drawingml/2006/main">
              <a:ext uri="{FF2B5EF4-FFF2-40B4-BE49-F238E27FC236}">
                <a16:creationId xmlns:a16="http://schemas.microsoft.com/office/drawing/2014/main" id="{E3374DDF-F3CA-49AD-AA99-FF65F9BE7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38850"/>
            <a:ext cx="1062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0B34A"/>
                </a:solidFill>
              </a:defRPr>
            </a:pPr>
            <a:r>
              <a:rPr sz="1650" b="1">
                <a:solidFill>
                  <a:srgbClr val="F0B34A"/>
                </a:solidFill>
              </a:rPr>
              <a:t>预演与真实执行共用同一套战斗规则，所以结果能自动对照</a:t>
            </a:r>
          </a:p>
        </p:txBody>
      </p:sp>
    </p:spTree>
    <p:extLst>
      <p:ext uri="{BB962C8B-B14F-4D97-AF65-F5344CB8AC3E}">
        <p14:creationId xmlns:p14="http://schemas.microsoft.com/office/powerpoint/2010/main" val="12130279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0B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ection-5">
            <a:extLst xmlns:a="http://schemas.openxmlformats.org/drawingml/2006/main">
              <a:ext uri="{FF2B5EF4-FFF2-40B4-BE49-F238E27FC236}">
                <a16:creationId xmlns:a16="http://schemas.microsoft.com/office/drawing/2014/main" id="{BCE90B5C-E173-44BB-BC4B-ECAF68EDF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0B34A"/>
                </a:solidFill>
              </a:defRPr>
            </a:pPr>
            <a:r>
              <a:rPr sz="1200" b="1">
                <a:solidFill>
                  <a:srgbClr val="F0B34A"/>
                </a:solidFill>
              </a:rPr>
              <a:t>02 / 主创新：结果可读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7EC955FA-20AC-4C76-A55E-DA645464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E7C2"/>
                </a:solidFill>
              </a:defRPr>
            </a:pPr>
            <a:r>
              <a:rPr sz="3600" b="1">
                <a:solidFill>
                  <a:srgbClr val="F4E7C2"/>
                </a:solidFill>
              </a:rPr>
              <a:t>预演不是“差不多”，而是直接告诉玩家会掉多少血</a:t>
            </a:r>
          </a:p>
        </p:txBody>
      </p:sp>
      <p:sp>
        <p:nvSpPr>
          <p:cNvPr id="3" name="rule-5">
            <a:extLst xmlns:a="http://schemas.openxmlformats.org/drawingml/2006/main">
              <a:ext uri="{FF2B5EF4-FFF2-40B4-BE49-F238E27FC236}">
                <a16:creationId xmlns:a16="http://schemas.microsoft.com/office/drawing/2014/main" id="{A7080D4C-657A-401C-9F07-5894E25E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239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4B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D92FFF50-AAD2-4899-B6EE-BED877DF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1A98F"/>
                </a:solidFill>
              </a:defRPr>
            </a:pPr>
            <a:r>
              <a:rPr sz="1200" b="0">
                <a:solidFill>
                  <a:srgbClr val="B1A98F"/>
                </a:solidFill>
              </a:rPr>
              <a:t>05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fff1ce5ef74b10"/>
          <a:srcRect xmlns:a="http://schemas.openxmlformats.org/drawingml/2006/main" l="0" t="61" r="0" b="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638300"/>
            <a:ext cx="6286500" cy="3924300"/>
          </a:xfrm>
          <a:prstGeom xmlns:a="http://schemas.openxmlformats.org/drawingml/2006/main" prst="roundRect">
            <a:avLst>
              <a:gd name="adj" fmla="val 1942"/>
            </a:avLst>
          </a:prstGeom>
        </p:spPr>
      </p:pic>
      <p:sp>
        <p:nvSpPr>
          <p:cNvPr id="6" name="damage-caption">
            <a:extLst xmlns:a="http://schemas.openxmlformats.org/drawingml/2006/main">
              <a:ext uri="{FF2B5EF4-FFF2-40B4-BE49-F238E27FC236}">
                <a16:creationId xmlns:a16="http://schemas.microsoft.com/office/drawing/2014/main" id="{FBEA9850-35EC-420C-94D4-A32FEF090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B1A98F"/>
                </a:solidFill>
              </a:defRPr>
            </a:pPr>
            <a:r>
              <a:rPr sz="1350" b="0">
                <a:solidFill>
                  <a:srgbClr val="B1A98F"/>
                </a:solidFill>
              </a:rPr>
              <a:t>实机：前三拍包含有效攻击时，显示玩家与受伤敌人的 HP 前后值</a:t>
            </a:r>
          </a:p>
        </p:txBody>
      </p:sp>
      <p:sp>
        <p:nvSpPr>
          <p:cNvPr id="7" name="damage-point-7 条动作候选">
            <a:extLst xmlns:a="http://schemas.openxmlformats.org/drawingml/2006/main">
              <a:ext uri="{FF2B5EF4-FFF2-40B4-BE49-F238E27FC236}">
                <a16:creationId xmlns:a16="http://schemas.microsoft.com/office/drawing/2014/main" id="{1E977388-2780-47C0-A267-1363ED45A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57350"/>
            <a:ext cx="44767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C1B16"/>
          </a:solidFill>
          <a:ln xmlns:a="http://schemas.openxmlformats.org/drawingml/2006/main" w="9525">
            <a:solidFill>
              <a:srgbClr val="5A4B2C"/>
            </a:solidFill>
            <a:prstDash val="solid"/>
          </a:ln>
        </p:spPr>
      </p:sp>
      <p:sp>
        <p:nvSpPr>
          <p:cNvPr id="8" name="damage-bar-7 条动作候选">
            <a:extLst xmlns:a="http://schemas.openxmlformats.org/drawingml/2006/main">
              <a:ext uri="{FF2B5EF4-FFF2-40B4-BE49-F238E27FC236}">
                <a16:creationId xmlns:a16="http://schemas.microsoft.com/office/drawing/2014/main" id="{73FBFD48-7BCA-421F-BBA6-38E22E953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57350"/>
            <a:ext cx="76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damage-title-7 条动作候选">
            <a:extLst xmlns:a="http://schemas.openxmlformats.org/drawingml/2006/main">
              <a:ext uri="{FF2B5EF4-FFF2-40B4-BE49-F238E27FC236}">
                <a16:creationId xmlns:a16="http://schemas.microsoft.com/office/drawing/2014/main" id="{E744921C-FFDD-46C0-9683-FB07AF1D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71650"/>
            <a:ext cx="3886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0B34A"/>
                </a:solidFill>
              </a:defRPr>
            </a:pPr>
            <a:r>
              <a:rPr sz="1725" b="1">
                <a:solidFill>
                  <a:srgbClr val="F0B34A"/>
                </a:solidFill>
              </a:rPr>
              <a:t>7 条动作候选</a:t>
            </a:r>
          </a:p>
        </p:txBody>
      </p:sp>
      <p:sp>
        <p:nvSpPr>
          <p:cNvPr id="10" name="damage-body-7 条动作候选">
            <a:extLst xmlns:a="http://schemas.openxmlformats.org/drawingml/2006/main">
              <a:ext uri="{FF2B5EF4-FFF2-40B4-BE49-F238E27FC236}">
                <a16:creationId xmlns:a16="http://schemas.microsoft.com/office/drawing/2014/main" id="{535276AD-C7CC-4621-BFA3-0115057DC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14550"/>
            <a:ext cx="3886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E7C2"/>
                </a:solidFill>
              </a:defRPr>
            </a:pPr>
            <a:r>
              <a:rPr sz="1350" b="0">
                <a:solidFill>
                  <a:srgbClr val="F4E7C2"/>
                </a:solidFill>
              </a:rPr>
              <a:t>进入战术模式后先给出攻、防、移动等选择。</a:t>
            </a:r>
          </a:p>
        </p:txBody>
      </p:sp>
      <p:sp>
        <p:nvSpPr>
          <p:cNvPr id="11" name="damage-point-只执行前三拍">
            <a:extLst xmlns:a="http://schemas.openxmlformats.org/drawingml/2006/main">
              <a:ext uri="{FF2B5EF4-FFF2-40B4-BE49-F238E27FC236}">
                <a16:creationId xmlns:a16="http://schemas.microsoft.com/office/drawing/2014/main" id="{F97F22A7-7B9A-42B1-86A1-9ED1780BE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67000"/>
            <a:ext cx="44767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C1B16"/>
          </a:solidFill>
          <a:ln xmlns:a="http://schemas.openxmlformats.org/drawingml/2006/main" w="9525">
            <a:solidFill>
              <a:srgbClr val="5A4B2C"/>
            </a:solidFill>
            <a:prstDash val="solid"/>
          </a:ln>
        </p:spPr>
      </p:sp>
      <p:sp>
        <p:nvSpPr>
          <p:cNvPr id="12" name="damage-bar-只执行前三拍">
            <a:extLst xmlns:a="http://schemas.openxmlformats.org/drawingml/2006/main">
              <a:ext uri="{FF2B5EF4-FFF2-40B4-BE49-F238E27FC236}">
                <a16:creationId xmlns:a16="http://schemas.microsoft.com/office/drawing/2014/main" id="{06F7AA57-046F-4CA7-B54D-31043D624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67000"/>
            <a:ext cx="76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9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damage-title-只执行前三拍">
            <a:extLst xmlns:a="http://schemas.openxmlformats.org/drawingml/2006/main">
              <a:ext uri="{FF2B5EF4-FFF2-40B4-BE49-F238E27FC236}">
                <a16:creationId xmlns:a16="http://schemas.microsoft.com/office/drawing/2014/main" id="{A0965ACA-25D8-42CA-8BF3-5BE0D649B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81300"/>
            <a:ext cx="3886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9A93D"/>
                </a:solidFill>
              </a:defRPr>
            </a:pPr>
            <a:r>
              <a:rPr sz="1725" b="1">
                <a:solidFill>
                  <a:srgbClr val="D9A93D"/>
                </a:solidFill>
              </a:rPr>
              <a:t>只执行前三拍</a:t>
            </a:r>
          </a:p>
        </p:txBody>
      </p:sp>
      <p:sp>
        <p:nvSpPr>
          <p:cNvPr id="14" name="damage-body-只执行前三拍">
            <a:extLst xmlns:a="http://schemas.openxmlformats.org/drawingml/2006/main">
              <a:ext uri="{FF2B5EF4-FFF2-40B4-BE49-F238E27FC236}">
                <a16:creationId xmlns:a16="http://schemas.microsoft.com/office/drawing/2014/main" id="{98690C5D-8EA6-40C0-A788-E1D8850AE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24200"/>
            <a:ext cx="3886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E7C2"/>
                </a:solidFill>
              </a:defRPr>
            </a:pPr>
            <a:r>
              <a:rPr sz="1350" b="0">
                <a:solidFill>
                  <a:srgbClr val="F4E7C2"/>
                </a:solidFill>
              </a:rPr>
              <a:t>玩家拖动或用键盘换序，候补不会偷偷执行。</a:t>
            </a:r>
          </a:p>
        </p:txBody>
      </p:sp>
      <p:sp>
        <p:nvSpPr>
          <p:cNvPr id="15" name="damage-point-战损立即刷新">
            <a:extLst xmlns:a="http://schemas.openxmlformats.org/drawingml/2006/main">
              <a:ext uri="{FF2B5EF4-FFF2-40B4-BE49-F238E27FC236}">
                <a16:creationId xmlns:a16="http://schemas.microsoft.com/office/drawing/2014/main" id="{3917CBF0-73D8-447C-A0E9-2CBE2439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676650"/>
            <a:ext cx="44767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C1B16"/>
          </a:solidFill>
          <a:ln xmlns:a="http://schemas.openxmlformats.org/drawingml/2006/main" w="9525">
            <a:solidFill>
              <a:srgbClr val="5A4B2C"/>
            </a:solidFill>
            <a:prstDash val="solid"/>
          </a:ln>
        </p:spPr>
      </p:sp>
      <p:sp>
        <p:nvSpPr>
          <p:cNvPr id="16" name="damage-bar-战损立即刷新">
            <a:extLst xmlns:a="http://schemas.openxmlformats.org/drawingml/2006/main">
              <a:ext uri="{FF2B5EF4-FFF2-40B4-BE49-F238E27FC236}">
                <a16:creationId xmlns:a16="http://schemas.microsoft.com/office/drawing/2014/main" id="{F245B87B-2127-44E3-965F-E26559625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676650"/>
            <a:ext cx="76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damage-title-战损立即刷新">
            <a:extLst xmlns:a="http://schemas.openxmlformats.org/drawingml/2006/main">
              <a:ext uri="{FF2B5EF4-FFF2-40B4-BE49-F238E27FC236}">
                <a16:creationId xmlns:a16="http://schemas.microsoft.com/office/drawing/2014/main" id="{3A75D75D-1567-49F8-AD55-536FBE8FE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90950"/>
            <a:ext cx="3886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9AAE5A"/>
                </a:solidFill>
              </a:defRPr>
            </a:pPr>
            <a:r>
              <a:rPr sz="1725" b="1">
                <a:solidFill>
                  <a:srgbClr val="9AAE5A"/>
                </a:solidFill>
              </a:rPr>
              <a:t>战损立即刷新</a:t>
            </a:r>
          </a:p>
        </p:txBody>
      </p:sp>
      <p:sp>
        <p:nvSpPr>
          <p:cNvPr id="18" name="damage-body-战损立即刷新">
            <a:extLst xmlns:a="http://schemas.openxmlformats.org/drawingml/2006/main">
              <a:ext uri="{FF2B5EF4-FFF2-40B4-BE49-F238E27FC236}">
                <a16:creationId xmlns:a16="http://schemas.microsoft.com/office/drawing/2014/main" id="{1B04CC20-D5A2-4FCE-9587-A359E7C81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133850"/>
            <a:ext cx="3886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E7C2"/>
                </a:solidFill>
              </a:defRPr>
            </a:pPr>
            <a:r>
              <a:rPr sz="1350" b="0">
                <a:solidFill>
                  <a:srgbClr val="F4E7C2"/>
                </a:solidFill>
              </a:rPr>
              <a:t>例如 E3：3→2（-1）；移出前三拍后这一行消失。</a:t>
            </a:r>
          </a:p>
        </p:txBody>
      </p:sp>
      <p:sp>
        <p:nvSpPr>
          <p:cNvPr id="19" name="damage-point-编号始终一致">
            <a:extLst xmlns:a="http://schemas.openxmlformats.org/drawingml/2006/main">
              <a:ext uri="{FF2B5EF4-FFF2-40B4-BE49-F238E27FC236}">
                <a16:creationId xmlns:a16="http://schemas.microsoft.com/office/drawing/2014/main" id="{21598FFD-4FC9-44DD-94B2-E9FD2895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686300"/>
            <a:ext cx="44767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C1B16"/>
          </a:solidFill>
          <a:ln xmlns:a="http://schemas.openxmlformats.org/drawingml/2006/main" w="9525">
            <a:solidFill>
              <a:srgbClr val="5A4B2C"/>
            </a:solidFill>
            <a:prstDash val="solid"/>
          </a:ln>
        </p:spPr>
      </p:sp>
      <p:sp>
        <p:nvSpPr>
          <p:cNvPr id="20" name="damage-bar-编号始终一致">
            <a:extLst xmlns:a="http://schemas.openxmlformats.org/drawingml/2006/main">
              <a:ext uri="{FF2B5EF4-FFF2-40B4-BE49-F238E27FC236}">
                <a16:creationId xmlns:a16="http://schemas.microsoft.com/office/drawing/2014/main" id="{0834CE93-EC3B-49A1-8D3B-813C4C376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686300"/>
            <a:ext cx="76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8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damage-title-编号始终一致">
            <a:extLst xmlns:a="http://schemas.openxmlformats.org/drawingml/2006/main">
              <a:ext uri="{FF2B5EF4-FFF2-40B4-BE49-F238E27FC236}">
                <a16:creationId xmlns:a16="http://schemas.microsoft.com/office/drawing/2014/main" id="{4DC921C1-1BC7-4C4F-B2EB-849D7584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00600"/>
            <a:ext cx="3886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58A32"/>
                </a:solidFill>
              </a:defRPr>
            </a:pPr>
            <a:r>
              <a:rPr sz="1725" b="1">
                <a:solidFill>
                  <a:srgbClr val="C58A32"/>
                </a:solidFill>
              </a:rPr>
              <a:t>编号始终一致</a:t>
            </a:r>
          </a:p>
        </p:txBody>
      </p:sp>
      <p:sp>
        <p:nvSpPr>
          <p:cNvPr id="22" name="damage-body-编号始终一致">
            <a:extLst xmlns:a="http://schemas.openxmlformats.org/drawingml/2006/main">
              <a:ext uri="{FF2B5EF4-FFF2-40B4-BE49-F238E27FC236}">
                <a16:creationId xmlns:a16="http://schemas.microsoft.com/office/drawing/2014/main" id="{DC77AF93-32B8-4745-A8F0-C9E5FB5C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143500"/>
            <a:ext cx="3886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E7C2"/>
                </a:solidFill>
              </a:defRPr>
            </a:pPr>
            <a:r>
              <a:rPr sz="1350" b="0">
                <a:solidFill>
                  <a:srgbClr val="F4E7C2"/>
                </a:solidFill>
              </a:rPr>
              <a:t>地图、敌方意图和结果区都使用 E1–E5。</a:t>
            </a:r>
          </a:p>
        </p:txBody>
      </p:sp>
      <p:sp>
        <p:nvSpPr>
          <p:cNvPr id="23" name="damage-proof">
            <a:extLst xmlns:a="http://schemas.openxmlformats.org/drawingml/2006/main">
              <a:ext uri="{FF2B5EF4-FFF2-40B4-BE49-F238E27FC236}">
                <a16:creationId xmlns:a16="http://schemas.microsoft.com/office/drawing/2014/main" id="{B4C64BBF-103F-4BD0-8F5F-D7C2292A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810250"/>
            <a:ext cx="44767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B2A22"/>
          </a:solidFill>
          <a:ln xmlns:a="http://schemas.openxmlformats.org/drawingml/2006/main" w="9525">
            <a:solidFill>
              <a:srgbClr val="F0B34A"/>
            </a:solidFill>
            <a:prstDash val="solid"/>
          </a:ln>
        </p:spPr>
      </p:sp>
      <p:sp>
        <p:nvSpPr>
          <p:cNvPr id="24" name="damage-proof-text">
            <a:extLst xmlns:a="http://schemas.openxmlformats.org/drawingml/2006/main">
              <a:ext uri="{FF2B5EF4-FFF2-40B4-BE49-F238E27FC236}">
                <a16:creationId xmlns:a16="http://schemas.microsoft.com/office/drawing/2014/main" id="{797F35AC-A266-45B8-89E4-C2D43201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9531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0B34A"/>
                </a:solidFill>
              </a:defRPr>
            </a:pPr>
            <a:r>
              <a:rPr sz="1650" b="1">
                <a:solidFill>
                  <a:srgbClr val="F0B34A"/>
                </a:solidFill>
              </a:rPr>
              <a:t>换序 → 数字更新 → 执行后结果一致</a:t>
            </a:r>
          </a:p>
        </p:txBody>
      </p:sp>
    </p:spTree>
    <p:extLst>
      <p:ext uri="{BB962C8B-B14F-4D97-AF65-F5344CB8AC3E}">
        <p14:creationId xmlns:p14="http://schemas.microsoft.com/office/powerpoint/2010/main" val="6859554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0B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ection-6">
            <a:extLst xmlns:a="http://schemas.openxmlformats.org/drawingml/2006/main">
              <a:ext uri="{FF2B5EF4-FFF2-40B4-BE49-F238E27FC236}">
                <a16:creationId xmlns:a16="http://schemas.microsoft.com/office/drawing/2014/main" id="{A581E820-717A-4D22-9656-62C79B8E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0B34A"/>
                </a:solidFill>
              </a:defRPr>
            </a:pPr>
            <a:r>
              <a:rPr sz="1200" b="1">
                <a:solidFill>
                  <a:srgbClr val="F0B34A"/>
                </a:solidFill>
              </a:rPr>
              <a:t>03 / 两关差异与构筑深度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92053B39-5482-4E2F-BEA8-2D29BD05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E7C2"/>
                </a:solidFill>
              </a:defRPr>
            </a:pPr>
            <a:r>
              <a:rPr sz="3600" b="1">
                <a:solidFill>
                  <a:srgbClr val="F4E7C2"/>
                </a:solidFill>
              </a:rPr>
              <a:t>第二关不加一套系统，而是反转玩家已学会的规则</a:t>
            </a:r>
          </a:p>
        </p:txBody>
      </p:sp>
      <p:sp>
        <p:nvSpPr>
          <p:cNvPr id="3" name="rule-6">
            <a:extLst xmlns:a="http://schemas.openxmlformats.org/drawingml/2006/main">
              <a:ext uri="{FF2B5EF4-FFF2-40B4-BE49-F238E27FC236}">
                <a16:creationId xmlns:a16="http://schemas.microsoft.com/office/drawing/2014/main" id="{BDF7C1A3-1981-4C5C-80F3-F57E07415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239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4B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0691C6DC-D466-4EE0-839E-B95AE1FB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1A98F"/>
                </a:solidFill>
              </a:defRPr>
            </a:pPr>
            <a:r>
              <a:rPr sz="1200" b="0">
                <a:solidFill>
                  <a:srgbClr val="B1A98F"/>
                </a:solidFill>
              </a:rPr>
              <a:t>06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0030c60a3643c1"/>
          <a:srcRect xmlns:a="http://schemas.openxmlformats.org/drawingml/2006/main" l="0" t="527" r="0" b="5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638300"/>
            <a:ext cx="5219700" cy="2905125"/>
          </a:xfrm>
          <a:prstGeom xmlns:a="http://schemas.openxmlformats.org/drawingml/2006/main" prst="roundRect">
            <a:avLst>
              <a:gd name="adj" fmla="val 2623"/>
            </a:avLst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b0165d9c5f4864"/>
          <a:srcRect xmlns:a="http://schemas.openxmlformats.org/drawingml/2006/main" l="0" t="527" r="0" b="5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38900" y="1638300"/>
            <a:ext cx="5219700" cy="2905125"/>
          </a:xfrm>
          <a:prstGeom xmlns:a="http://schemas.openxmlformats.org/drawingml/2006/main" prst="roundRect">
            <a:avLst>
              <a:gd name="adj" fmla="val 2623"/>
            </a:avLst>
          </a:prstGeom>
        </p:spPr>
      </p:pic>
      <p:sp>
        <p:nvSpPr>
          <p:cNvPr id="7" name="level1-title">
            <a:extLst xmlns:a="http://schemas.openxmlformats.org/drawingml/2006/main">
              <a:ext uri="{FF2B5EF4-FFF2-40B4-BE49-F238E27FC236}">
                <a16:creationId xmlns:a16="http://schemas.microsoft.com/office/drawing/2014/main" id="{FAFDD246-5AAE-430C-9D13-E08CB11C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A93D"/>
                </a:solidFill>
              </a:defRPr>
            </a:pPr>
            <a:r>
              <a:rPr sz="1800" b="1">
                <a:solidFill>
                  <a:srgbClr val="D9A93D"/>
                </a:solidFill>
              </a:rPr>
              <a:t>Level 1｜校准舱：稳定 1→2→3</a:t>
            </a:r>
          </a:p>
        </p:txBody>
      </p:sp>
      <p:sp>
        <p:nvSpPr>
          <p:cNvPr id="8" name="level1-body">
            <a:extLst xmlns:a="http://schemas.openxmlformats.org/drawingml/2006/main">
              <a:ext uri="{FF2B5EF4-FFF2-40B4-BE49-F238E27FC236}">
                <a16:creationId xmlns:a16="http://schemas.microsoft.com/office/drawing/2014/main" id="{BA67BF2B-B020-429B-9F0A-CA2C9FA9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1A98F"/>
                </a:solidFill>
              </a:defRPr>
            </a:pPr>
            <a:r>
              <a:rPr sz="1500" b="0">
                <a:solidFill>
                  <a:srgbClr val="B1A98F"/>
                </a:solidFill>
              </a:rPr>
              <a:t>教学换序、首次协议、三遭遇闭环</a:t>
            </a:r>
          </a:p>
        </p:txBody>
      </p:sp>
      <p:sp>
        <p:nvSpPr>
          <p:cNvPr id="9" name="level2-title">
            <a:extLst xmlns:a="http://schemas.openxmlformats.org/drawingml/2006/main">
              <a:ext uri="{FF2B5EF4-FFF2-40B4-BE49-F238E27FC236}">
                <a16:creationId xmlns:a16="http://schemas.microsoft.com/office/drawing/2014/main" id="{6542E7CB-C86F-4ED3-86F4-6528C9FA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6863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58A32"/>
                </a:solidFill>
              </a:defRPr>
            </a:pPr>
            <a:r>
              <a:rPr sz="1800" b="1">
                <a:solidFill>
                  <a:srgbClr val="C58A32"/>
                </a:solidFill>
              </a:rPr>
              <a:t>Level 2｜逆相反应堆：3→2→1</a:t>
            </a:r>
          </a:p>
        </p:txBody>
      </p:sp>
      <p:sp>
        <p:nvSpPr>
          <p:cNvPr id="10" name="level2-body">
            <a:extLst xmlns:a="http://schemas.openxmlformats.org/drawingml/2006/main">
              <a:ext uri="{FF2B5EF4-FFF2-40B4-BE49-F238E27FC236}">
                <a16:creationId xmlns:a16="http://schemas.microsoft.com/office/drawing/2014/main" id="{1BCE895F-B2B4-4270-B181-FD65AD60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0673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1A98F"/>
                </a:solidFill>
              </a:defRPr>
            </a:pPr>
            <a:r>
              <a:rPr sz="1500" b="0">
                <a:solidFill>
                  <a:srgbClr val="B1A98F"/>
                </a:solidFill>
              </a:rPr>
              <a:t>相位锚锁相、多格预警、守卫终局</a:t>
            </a:r>
          </a:p>
        </p:txBody>
      </p:sp>
      <p:sp>
        <p:nvSpPr>
          <p:cNvPr id="11" name="build-回声编排">
            <a:extLst xmlns:a="http://schemas.openxmlformats.org/drawingml/2006/main">
              <a:ext uri="{FF2B5EF4-FFF2-40B4-BE49-F238E27FC236}">
                <a16:creationId xmlns:a16="http://schemas.microsoft.com/office/drawing/2014/main" id="{AF16D855-39F0-4CBA-BA30-0E7FD8542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34050"/>
            <a:ext cx="3409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C1B16"/>
          </a:solidFill>
          <a:ln xmlns:a="http://schemas.openxmlformats.org/drawingml/2006/main" w="19050">
            <a:solidFill>
              <a:srgbClr val="D9A93D"/>
            </a:solidFill>
            <a:prstDash val="solid"/>
          </a:ln>
        </p:spPr>
      </p:sp>
      <p:sp>
        <p:nvSpPr>
          <p:cNvPr id="12" name="build-title-回声编排">
            <a:extLst xmlns:a="http://schemas.openxmlformats.org/drawingml/2006/main">
              <a:ext uri="{FF2B5EF4-FFF2-40B4-BE49-F238E27FC236}">
                <a16:creationId xmlns:a16="http://schemas.microsoft.com/office/drawing/2014/main" id="{0ED19324-D5F7-4258-A4F4-F3F2463B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9A93D"/>
                </a:solidFill>
              </a:defRPr>
            </a:pPr>
            <a:r>
              <a:rPr sz="1575" b="1">
                <a:solidFill>
                  <a:srgbClr val="D9A93D"/>
                </a:solidFill>
              </a:rPr>
              <a:t>回声编排</a:t>
            </a:r>
          </a:p>
        </p:txBody>
      </p:sp>
      <p:sp>
        <p:nvSpPr>
          <p:cNvPr id="13" name="build-body-回声编排">
            <a:extLst xmlns:a="http://schemas.openxmlformats.org/drawingml/2006/main">
              <a:ext uri="{FF2B5EF4-FFF2-40B4-BE49-F238E27FC236}">
                <a16:creationId xmlns:a16="http://schemas.microsoft.com/office/drawing/2014/main" id="{A8509A22-8D43-48BA-A7B2-94D99AB92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819775"/>
            <a:ext cx="186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E7C2"/>
                </a:solidFill>
              </a:defRPr>
            </a:pPr>
            <a:r>
              <a:rPr sz="1275" b="0">
                <a:solidFill>
                  <a:srgbClr val="F4E7C2"/>
                </a:solidFill>
              </a:rPr>
              <a:t>奖励空拍：首拍在第三拍重放</a:t>
            </a:r>
          </a:p>
        </p:txBody>
      </p:sp>
      <p:sp>
        <p:nvSpPr>
          <p:cNvPr id="14" name="build-动能破阵">
            <a:extLst xmlns:a="http://schemas.openxmlformats.org/drawingml/2006/main">
              <a:ext uri="{FF2B5EF4-FFF2-40B4-BE49-F238E27FC236}">
                <a16:creationId xmlns:a16="http://schemas.microsoft.com/office/drawing/2014/main" id="{71048420-695F-423E-8BBE-E21E4697F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5734050"/>
            <a:ext cx="3409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C1B16"/>
          </a:solidFill>
          <a:ln xmlns:a="http://schemas.openxmlformats.org/drawingml/2006/main" w="19050">
            <a:solidFill>
              <a:srgbClr val="F0B34A"/>
            </a:solidFill>
            <a:prstDash val="solid"/>
          </a:ln>
        </p:spPr>
      </p:sp>
      <p:sp>
        <p:nvSpPr>
          <p:cNvPr id="15" name="build-title-动能破阵">
            <a:extLst xmlns:a="http://schemas.openxmlformats.org/drawingml/2006/main">
              <a:ext uri="{FF2B5EF4-FFF2-40B4-BE49-F238E27FC236}">
                <a16:creationId xmlns:a16="http://schemas.microsoft.com/office/drawing/2014/main" id="{279EA65C-5541-49D5-9764-9DDAAFFA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58293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0B34A"/>
                </a:solidFill>
              </a:defRPr>
            </a:pPr>
            <a:r>
              <a:rPr sz="1575" b="1">
                <a:solidFill>
                  <a:srgbClr val="F0B34A"/>
                </a:solidFill>
              </a:rPr>
              <a:t>动能破阵</a:t>
            </a:r>
          </a:p>
        </p:txBody>
      </p:sp>
      <p:sp>
        <p:nvSpPr>
          <p:cNvPr id="16" name="build-body-动能破阵">
            <a:extLst xmlns:a="http://schemas.openxmlformats.org/drawingml/2006/main">
              <a:ext uri="{FF2B5EF4-FFF2-40B4-BE49-F238E27FC236}">
                <a16:creationId xmlns:a16="http://schemas.microsoft.com/office/drawing/2014/main" id="{7911969D-7DEB-4D2D-A50E-E83011449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5819775"/>
            <a:ext cx="186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E7C2"/>
                </a:solidFill>
              </a:defRPr>
            </a:pPr>
            <a:r>
              <a:rPr sz="1275" b="0">
                <a:solidFill>
                  <a:srgbClr val="F4E7C2"/>
                </a:solidFill>
              </a:rPr>
              <a:t>奖励墙面：推击 + 碰撞过载</a:t>
            </a:r>
          </a:p>
        </p:txBody>
      </p:sp>
      <p:sp>
        <p:nvSpPr>
          <p:cNvPr id="17" name="build-屏障反推">
            <a:extLst xmlns:a="http://schemas.openxmlformats.org/drawingml/2006/main">
              <a:ext uri="{FF2B5EF4-FFF2-40B4-BE49-F238E27FC236}">
                <a16:creationId xmlns:a16="http://schemas.microsoft.com/office/drawing/2014/main" id="{D3478FAE-69A1-4A85-B48A-A7EEFFE8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734050"/>
            <a:ext cx="3409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C1B16"/>
          </a:solidFill>
          <a:ln xmlns:a="http://schemas.openxmlformats.org/drawingml/2006/main" w="19050">
            <a:solidFill>
              <a:srgbClr val="9AAE5A"/>
            </a:solidFill>
            <a:prstDash val="solid"/>
          </a:ln>
        </p:spPr>
      </p:sp>
      <p:sp>
        <p:nvSpPr>
          <p:cNvPr id="18" name="build-title-屏障反推">
            <a:extLst xmlns:a="http://schemas.openxmlformats.org/drawingml/2006/main">
              <a:ext uri="{FF2B5EF4-FFF2-40B4-BE49-F238E27FC236}">
                <a16:creationId xmlns:a16="http://schemas.microsoft.com/office/drawing/2014/main" id="{8F009BEE-3F99-42A3-926E-DA63DDA0E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8293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9AAE5A"/>
                </a:solidFill>
              </a:defRPr>
            </a:pPr>
            <a:r>
              <a:rPr sz="1575" b="1">
                <a:solidFill>
                  <a:srgbClr val="9AAE5A"/>
                </a:solidFill>
              </a:rPr>
              <a:t>屏障反推</a:t>
            </a:r>
          </a:p>
        </p:txBody>
      </p:sp>
      <p:sp>
        <p:nvSpPr>
          <p:cNvPr id="19" name="build-body-屏障反推">
            <a:extLst xmlns:a="http://schemas.openxmlformats.org/drawingml/2006/main">
              <a:ext uri="{FF2B5EF4-FFF2-40B4-BE49-F238E27FC236}">
                <a16:creationId xmlns:a16="http://schemas.microsoft.com/office/drawing/2014/main" id="{1CF6A828-0539-45A9-84C3-DB6E4247B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819775"/>
            <a:ext cx="186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E7C2"/>
                </a:solidFill>
              </a:defRPr>
            </a:pPr>
            <a:r>
              <a:rPr sz="1275" b="0">
                <a:solidFill>
                  <a:srgbClr val="F4E7C2"/>
                </a:solidFill>
              </a:rPr>
              <a:t>奖励顺序：先盾后推才增伤</a:t>
            </a:r>
          </a:p>
        </p:txBody>
      </p:sp>
    </p:spTree>
    <p:extLst>
      <p:ext uri="{BB962C8B-B14F-4D97-AF65-F5344CB8AC3E}">
        <p14:creationId xmlns:p14="http://schemas.microsoft.com/office/powerpoint/2010/main" val="11592172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0B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ection-7">
            <a:extLst xmlns:a="http://schemas.openxmlformats.org/drawingml/2006/main">
              <a:ext uri="{FF2B5EF4-FFF2-40B4-BE49-F238E27FC236}">
                <a16:creationId xmlns:a16="http://schemas.microsoft.com/office/drawing/2014/main" id="{4D189FC9-E131-4F7F-9C97-AFE1F8287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0B34A"/>
                </a:solidFill>
              </a:defRPr>
            </a:pPr>
            <a:r>
              <a:rPr sz="1200" b="1">
                <a:solidFill>
                  <a:srgbClr val="F0B34A"/>
                </a:solidFill>
              </a:rPr>
              <a:t>04 / 界面与交互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EF96BE16-4A83-4847-BC7F-FAE4F4179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E7C2"/>
                </a:solidFill>
              </a:defRPr>
            </a:pPr>
            <a:r>
              <a:rPr sz="3600" b="1">
                <a:solidFill>
                  <a:srgbClr val="F4E7C2"/>
                </a:solidFill>
              </a:rPr>
              <a:t>黄色工业终端风，不只是好看，也帮助玩家读懂战场</a:t>
            </a:r>
          </a:p>
        </p:txBody>
      </p:sp>
      <p:sp>
        <p:nvSpPr>
          <p:cNvPr id="3" name="rule-7">
            <a:extLst xmlns:a="http://schemas.openxmlformats.org/drawingml/2006/main">
              <a:ext uri="{FF2B5EF4-FFF2-40B4-BE49-F238E27FC236}">
                <a16:creationId xmlns:a16="http://schemas.microsoft.com/office/drawing/2014/main" id="{0D3A04B2-F689-4BA6-B1EB-7EF210531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239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4B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7">
            <a:extLst xmlns:a="http://schemas.openxmlformats.org/drawingml/2006/main">
              <a:ext uri="{FF2B5EF4-FFF2-40B4-BE49-F238E27FC236}">
                <a16:creationId xmlns:a16="http://schemas.microsoft.com/office/drawing/2014/main" id="{45855D02-5E33-4800-A585-2B8C5CB0F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1A98F"/>
                </a:solidFill>
              </a:defRPr>
            </a:pPr>
            <a:r>
              <a:rPr sz="1200" b="0">
                <a:solidFill>
                  <a:srgbClr val="B1A98F"/>
                </a:solidFill>
              </a:rPr>
              <a:t>07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cfa6fdb1c341d7"/>
          <a:srcRect xmlns:a="http://schemas.openxmlformats.org/drawingml/2006/main" l="0" t="112" r="0" b="1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638300"/>
            <a:ext cx="3390900" cy="2114550"/>
          </a:xfrm>
          <a:prstGeom xmlns:a="http://schemas.openxmlformats.org/drawingml/2006/main" prst="roundRect">
            <a:avLst>
              <a:gd name="adj" fmla="val 3604"/>
            </a:avLst>
          </a:prstGeom>
        </p:spPr>
      </p:pic>
      <p:sp>
        <p:nvSpPr>
          <p:cNvPr id="6" name="ui-title-菜单与品牌">
            <a:extLst xmlns:a="http://schemas.openxmlformats.org/drawingml/2006/main">
              <a:ext uri="{FF2B5EF4-FFF2-40B4-BE49-F238E27FC236}">
                <a16:creationId xmlns:a16="http://schemas.microsoft.com/office/drawing/2014/main" id="{A47DB2BD-7A5C-4068-A7A2-A1CBD34CE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0"/>
            <a:ext cx="3390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0B34A"/>
                </a:solidFill>
              </a:defRPr>
            </a:pPr>
            <a:r>
              <a:rPr sz="1800" b="1">
                <a:solidFill>
                  <a:srgbClr val="F0B34A"/>
                </a:solidFill>
              </a:rPr>
              <a:t>菜单与品牌</a:t>
            </a:r>
          </a:p>
        </p:txBody>
      </p:sp>
      <p:sp>
        <p:nvSpPr>
          <p:cNvPr id="7" name="ui-body-菜单与品牌">
            <a:extLst xmlns:a="http://schemas.openxmlformats.org/drawingml/2006/main">
              <a:ext uri="{FF2B5EF4-FFF2-40B4-BE49-F238E27FC236}">
                <a16:creationId xmlns:a16="http://schemas.microsoft.com/office/drawing/2014/main" id="{0D6E1626-795F-4A88-AF87-76DBC159F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05300"/>
            <a:ext cx="316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4E7C2"/>
                </a:solidFill>
              </a:defRPr>
            </a:pPr>
            <a:r>
              <a:rPr sz="1350" b="0">
                <a:solidFill>
                  <a:srgbClr val="F4E7C2"/>
                </a:solidFill>
              </a:rPr>
              <a:t>暗钢底色 + 黄铜边框，一眼进入科幻终端氛围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fd244ce03d4892"/>
          <a:srcRect xmlns:a="http://schemas.openxmlformats.org/drawingml/2006/main" l="0" t="112" r="0" b="1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00550" y="1638300"/>
            <a:ext cx="3390900" cy="2114550"/>
          </a:xfrm>
          <a:prstGeom xmlns:a="http://schemas.openxmlformats.org/drawingml/2006/main" prst="roundRect">
            <a:avLst>
              <a:gd name="adj" fmla="val 3604"/>
            </a:avLst>
          </a:prstGeom>
        </p:spPr>
      </p:pic>
      <p:sp>
        <p:nvSpPr>
          <p:cNvPr id="9" name="ui-title-战斗与 Boss">
            <a:extLst xmlns:a="http://schemas.openxmlformats.org/drawingml/2006/main">
              <a:ext uri="{FF2B5EF4-FFF2-40B4-BE49-F238E27FC236}">
                <a16:creationId xmlns:a16="http://schemas.microsoft.com/office/drawing/2014/main" id="{230BFC06-B13A-4FEE-B10A-3208DA5C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905250"/>
            <a:ext cx="3390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0B34A"/>
                </a:solidFill>
              </a:defRPr>
            </a:pPr>
            <a:r>
              <a:rPr sz="1800" b="1">
                <a:solidFill>
                  <a:srgbClr val="F0B34A"/>
                </a:solidFill>
              </a:rPr>
              <a:t>战斗与 Boss</a:t>
            </a:r>
          </a:p>
        </p:txBody>
      </p:sp>
      <p:sp>
        <p:nvSpPr>
          <p:cNvPr id="10" name="ui-body-战斗与 Boss">
            <a:extLst xmlns:a="http://schemas.openxmlformats.org/drawingml/2006/main">
              <a:ext uri="{FF2B5EF4-FFF2-40B4-BE49-F238E27FC236}">
                <a16:creationId xmlns:a16="http://schemas.microsoft.com/office/drawing/2014/main" id="{96546D70-C948-483C-83A5-A3DFBC490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305300"/>
            <a:ext cx="316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4E7C2"/>
                </a:solidFill>
              </a:defRPr>
            </a:pPr>
            <a:r>
              <a:rPr sz="1350" b="0">
                <a:solidFill>
                  <a:srgbClr val="F4E7C2"/>
                </a:solidFill>
              </a:rPr>
              <a:t>Boss 血条、十字危险区、敌人编号同时可读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e51f48cbfb4ec8"/>
          <a:srcRect xmlns:a="http://schemas.openxmlformats.org/drawingml/2006/main" l="0" t="112" r="0" b="1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67700" y="1638300"/>
            <a:ext cx="3390900" cy="2114550"/>
          </a:xfrm>
          <a:prstGeom xmlns:a="http://schemas.openxmlformats.org/drawingml/2006/main" prst="roundRect">
            <a:avLst>
              <a:gd name="adj" fmla="val 3604"/>
            </a:avLst>
          </a:prstGeom>
        </p:spPr>
      </p:pic>
      <p:sp>
        <p:nvSpPr>
          <p:cNvPr id="12" name="ui-title-奖励与构筑">
            <a:extLst xmlns:a="http://schemas.openxmlformats.org/drawingml/2006/main">
              <a:ext uri="{FF2B5EF4-FFF2-40B4-BE49-F238E27FC236}">
                <a16:creationId xmlns:a16="http://schemas.microsoft.com/office/drawing/2014/main" id="{6248A0A5-9A72-4395-B21A-17FF59C6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05250"/>
            <a:ext cx="3390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0B34A"/>
                </a:solidFill>
              </a:defRPr>
            </a:pPr>
            <a:r>
              <a:rPr sz="1800" b="1">
                <a:solidFill>
                  <a:srgbClr val="F0B34A"/>
                </a:solidFill>
              </a:rPr>
              <a:t>奖励与构筑</a:t>
            </a:r>
          </a:p>
        </p:txBody>
      </p:sp>
      <p:sp>
        <p:nvSpPr>
          <p:cNvPr id="13" name="ui-body-奖励与构筑">
            <a:extLst xmlns:a="http://schemas.openxmlformats.org/drawingml/2006/main">
              <a:ext uri="{FF2B5EF4-FFF2-40B4-BE49-F238E27FC236}">
                <a16:creationId xmlns:a16="http://schemas.microsoft.com/office/drawing/2014/main" id="{AE3CE369-08E2-4EE3-94F8-8981A3E0F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05300"/>
            <a:ext cx="316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4E7C2"/>
                </a:solidFill>
              </a:defRPr>
            </a:pPr>
            <a:r>
              <a:rPr sz="1350" b="0">
                <a:solidFill>
                  <a:srgbClr val="F4E7C2"/>
                </a:solidFill>
              </a:rPr>
              <a:t>协议 / 技能 / 属性用不同颜色和短说明区分</a:t>
            </a:r>
          </a:p>
        </p:txBody>
      </p:sp>
      <p:sp>
        <p:nvSpPr>
          <p:cNvPr id="14" name="ui-list-bg">
            <a:extLst xmlns:a="http://schemas.openxmlformats.org/drawingml/2006/main">
              <a:ext uri="{FF2B5EF4-FFF2-40B4-BE49-F238E27FC236}">
                <a16:creationId xmlns:a16="http://schemas.microsoft.com/office/drawing/2014/main" id="{09CD2271-480B-4B55-9417-8D8153D6C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62550"/>
            <a:ext cx="111252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C1B16"/>
          </a:solidFill>
          <a:ln xmlns:a="http://schemas.openxmlformats.org/drawingml/2006/main" w="9525">
            <a:solidFill>
              <a:srgbClr val="5A4B2C"/>
            </a:solidFill>
            <a:prstDash val="solid"/>
          </a:ln>
        </p:spPr>
      </p:sp>
      <p:sp>
        <p:nvSpPr>
          <p:cNvPr id="15" name="ui-item-title-信息不只靠颜色">
            <a:extLst xmlns:a="http://schemas.openxmlformats.org/drawingml/2006/main">
              <a:ext uri="{FF2B5EF4-FFF2-40B4-BE49-F238E27FC236}">
                <a16:creationId xmlns:a16="http://schemas.microsoft.com/office/drawing/2014/main" id="{758B31C0-1044-4A0E-A868-4DC563B1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14950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AE5A"/>
                </a:solidFill>
              </a:defRPr>
            </a:pPr>
            <a:r>
              <a:rPr sz="1500" b="1">
                <a:solidFill>
                  <a:srgbClr val="9AAE5A"/>
                </a:solidFill>
              </a:rPr>
              <a:t>信息不只靠颜色</a:t>
            </a:r>
          </a:p>
        </p:txBody>
      </p:sp>
      <p:sp>
        <p:nvSpPr>
          <p:cNvPr id="16" name="ui-item-body-信息不只靠颜色">
            <a:extLst xmlns:a="http://schemas.openxmlformats.org/drawingml/2006/main">
              <a:ext uri="{FF2B5EF4-FFF2-40B4-BE49-F238E27FC236}">
                <a16:creationId xmlns:a16="http://schemas.microsoft.com/office/drawing/2014/main" id="{3143D20D-B40C-4D81-9237-31925D4D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38800"/>
            <a:ext cx="2400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1A98F"/>
                </a:solidFill>
              </a:defRPr>
            </a:pPr>
            <a:r>
              <a:rPr sz="1275" b="0">
                <a:solidFill>
                  <a:srgbClr val="B1A98F"/>
                </a:solidFill>
              </a:rPr>
              <a:t>编号、斜纹、文字一起表达危险</a:t>
            </a:r>
          </a:p>
        </p:txBody>
      </p:sp>
      <p:sp>
        <p:nvSpPr>
          <p:cNvPr id="17" name="ui-item-title-中文为主">
            <a:extLst xmlns:a="http://schemas.openxmlformats.org/drawingml/2006/main">
              <a:ext uri="{FF2B5EF4-FFF2-40B4-BE49-F238E27FC236}">
                <a16:creationId xmlns:a16="http://schemas.microsoft.com/office/drawing/2014/main" id="{45E41D7F-BFB7-40EE-90D9-D52B799A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314950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AE5A"/>
                </a:solidFill>
              </a:defRPr>
            </a:pPr>
            <a:r>
              <a:rPr sz="1500" b="1">
                <a:solidFill>
                  <a:srgbClr val="9AAE5A"/>
                </a:solidFill>
              </a:rPr>
              <a:t>中文为主</a:t>
            </a:r>
          </a:p>
        </p:txBody>
      </p:sp>
      <p:sp>
        <p:nvSpPr>
          <p:cNvPr id="18" name="ui-item-body-中文为主">
            <a:extLst xmlns:a="http://schemas.openxmlformats.org/drawingml/2006/main">
              <a:ext uri="{FF2B5EF4-FFF2-40B4-BE49-F238E27FC236}">
                <a16:creationId xmlns:a16="http://schemas.microsoft.com/office/drawing/2014/main" id="{586DB633-EFFB-42EF-BA52-C8AD12E2C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638800"/>
            <a:ext cx="2400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1A98F"/>
                </a:solidFill>
              </a:defRPr>
            </a:pPr>
            <a:r>
              <a:rPr sz="1275" b="0">
                <a:solidFill>
                  <a:srgbClr val="B1A98F"/>
                </a:solidFill>
              </a:rPr>
              <a:t>操作、冷却、意图、构筑都能直接读</a:t>
            </a:r>
          </a:p>
        </p:txBody>
      </p:sp>
      <p:sp>
        <p:nvSpPr>
          <p:cNvPr id="19" name="ui-item-title-三种窗口尺寸">
            <a:extLst xmlns:a="http://schemas.openxmlformats.org/drawingml/2006/main">
              <a:ext uri="{FF2B5EF4-FFF2-40B4-BE49-F238E27FC236}">
                <a16:creationId xmlns:a16="http://schemas.microsoft.com/office/drawing/2014/main" id="{1DC875C8-F01F-44E1-82E7-CCC585EAC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314950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AE5A"/>
                </a:solidFill>
              </a:defRPr>
            </a:pPr>
            <a:r>
              <a:rPr sz="1500" b="1">
                <a:solidFill>
                  <a:srgbClr val="9AAE5A"/>
                </a:solidFill>
              </a:rPr>
              <a:t>三种窗口尺寸</a:t>
            </a:r>
          </a:p>
        </p:txBody>
      </p:sp>
      <p:sp>
        <p:nvSpPr>
          <p:cNvPr id="20" name="ui-item-body-三种窗口尺寸">
            <a:extLst xmlns:a="http://schemas.openxmlformats.org/drawingml/2006/main">
              <a:ext uri="{FF2B5EF4-FFF2-40B4-BE49-F238E27FC236}">
                <a16:creationId xmlns:a16="http://schemas.microsoft.com/office/drawing/2014/main" id="{F3DFD89C-F468-492C-8969-A16476D59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638800"/>
            <a:ext cx="2400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1A98F"/>
                </a:solidFill>
              </a:defRPr>
            </a:pPr>
            <a:r>
              <a:rPr sz="1275" b="0">
                <a:solidFill>
                  <a:srgbClr val="B1A98F"/>
                </a:solidFill>
              </a:rPr>
              <a:t>1280×800 / 1600×900 / 1920×1080 均复核</a:t>
            </a:r>
          </a:p>
        </p:txBody>
      </p:sp>
      <p:sp>
        <p:nvSpPr>
          <p:cNvPr id="21" name="ui-item-title-可访问设置">
            <a:extLst xmlns:a="http://schemas.openxmlformats.org/drawingml/2006/main">
              <a:ext uri="{FF2B5EF4-FFF2-40B4-BE49-F238E27FC236}">
                <a16:creationId xmlns:a16="http://schemas.microsoft.com/office/drawing/2014/main" id="{C42D3564-C259-4DCF-961B-67F690619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314950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AE5A"/>
                </a:solidFill>
              </a:defRPr>
            </a:pPr>
            <a:r>
              <a:rPr sz="1500" b="1">
                <a:solidFill>
                  <a:srgbClr val="9AAE5A"/>
                </a:solidFill>
              </a:rPr>
              <a:t>可访问设置</a:t>
            </a:r>
          </a:p>
        </p:txBody>
      </p:sp>
      <p:sp>
        <p:nvSpPr>
          <p:cNvPr id="22" name="ui-item-body-可访问设置">
            <a:extLst xmlns:a="http://schemas.openxmlformats.org/drawingml/2006/main">
              <a:ext uri="{FF2B5EF4-FFF2-40B4-BE49-F238E27FC236}">
                <a16:creationId xmlns:a16="http://schemas.microsoft.com/office/drawing/2014/main" id="{41174D57-8426-49DE-85ED-7D2F4EFE4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638800"/>
            <a:ext cx="2400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1A98F"/>
                </a:solidFill>
              </a:defRPr>
            </a:pPr>
            <a:r>
              <a:rPr sz="1275" b="0">
                <a:solidFill>
                  <a:srgbClr val="B1A98F"/>
                </a:solidFill>
              </a:rPr>
              <a:t>减弱动态、静音、音量和失焦保护</a:t>
            </a:r>
          </a:p>
        </p:txBody>
      </p:sp>
    </p:spTree>
    <p:extLst>
      <p:ext uri="{BB962C8B-B14F-4D97-AF65-F5344CB8AC3E}">
        <p14:creationId xmlns:p14="http://schemas.microsoft.com/office/powerpoint/2010/main" val="2411306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0B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ection-8">
            <a:extLst xmlns:a="http://schemas.openxmlformats.org/drawingml/2006/main">
              <a:ext uri="{FF2B5EF4-FFF2-40B4-BE49-F238E27FC236}">
                <a16:creationId xmlns:a16="http://schemas.microsoft.com/office/drawing/2014/main" id="{E9C49BCA-141B-4F04-9B89-C709B0AA0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0B34A"/>
                </a:solidFill>
              </a:defRPr>
            </a:pPr>
            <a:r>
              <a:rPr sz="1200" b="1">
                <a:solidFill>
                  <a:srgbClr val="F0B34A"/>
                </a:solidFill>
              </a:rPr>
              <a:t>05 / 技术可信度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6311E85C-2EBE-43F5-A913-02A5927E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E7C2"/>
                </a:solidFill>
              </a:defRPr>
            </a:pPr>
            <a:r>
              <a:rPr sz="3600" b="1">
                <a:solidFill>
                  <a:srgbClr val="F4E7C2"/>
                </a:solidFill>
              </a:rPr>
              <a:t>规则只写一遍，画面、预演和执行都能对得上</a:t>
            </a:r>
          </a:p>
        </p:txBody>
      </p:sp>
      <p:sp>
        <p:nvSpPr>
          <p:cNvPr id="3" name="rule-8">
            <a:extLst xmlns:a="http://schemas.openxmlformats.org/drawingml/2006/main">
              <a:ext uri="{FF2B5EF4-FFF2-40B4-BE49-F238E27FC236}">
                <a16:creationId xmlns:a16="http://schemas.microsoft.com/office/drawing/2014/main" id="{DEF5D3BA-077A-4C7C-823B-C7E43CA80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239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4B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8">
            <a:extLst xmlns:a="http://schemas.openxmlformats.org/drawingml/2006/main">
              <a:ext uri="{FF2B5EF4-FFF2-40B4-BE49-F238E27FC236}">
                <a16:creationId xmlns:a16="http://schemas.microsoft.com/office/drawing/2014/main" id="{85E6F43C-18DB-41DA-8C7F-A1D4C09E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1A98F"/>
                </a:solidFill>
              </a:defRPr>
            </a:pPr>
            <a:r>
              <a:rPr sz="1200" b="0">
                <a:solidFill>
                  <a:srgbClr val="B1A98F"/>
                </a:solidFill>
              </a:rPr>
              <a:t>08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f9468e65634532"/>
          <a:srcRect xmlns:a="http://schemas.openxmlformats.org/drawingml/2006/main" l="9615" t="0" r="961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1657350"/>
            <a:ext cx="4800600" cy="3714750"/>
          </a:xfrm>
          <a:prstGeom xmlns:a="http://schemas.openxmlformats.org/drawingml/2006/main" prst="roundRect">
            <a:avLst>
              <a:gd name="adj" fmla="val 2051"/>
            </a:avLst>
          </a:prstGeom>
        </p:spPr>
      </p:pic>
      <p:sp>
        <p:nvSpPr>
          <p:cNvPr id="6" name="tech-node-规则只写一遍">
            <a:extLst xmlns:a="http://schemas.openxmlformats.org/drawingml/2006/main">
              <a:ext uri="{FF2B5EF4-FFF2-40B4-BE49-F238E27FC236}">
                <a16:creationId xmlns:a16="http://schemas.microsoft.com/office/drawing/2014/main" id="{05A1672E-23F7-4A7A-BD1A-E55FADF0B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58293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C1B16"/>
          </a:solidFill>
          <a:ln xmlns:a="http://schemas.openxmlformats.org/drawingml/2006/main" w="19050">
            <a:solidFill>
              <a:srgbClr val="D9A93D"/>
            </a:solidFill>
            <a:prstDash val="solid"/>
          </a:ln>
        </p:spPr>
      </p:sp>
      <p:sp>
        <p:nvSpPr>
          <p:cNvPr id="7" name="tech-title-规则只写一遍">
            <a:extLst xmlns:a="http://schemas.openxmlformats.org/drawingml/2006/main">
              <a:ext uri="{FF2B5EF4-FFF2-40B4-BE49-F238E27FC236}">
                <a16:creationId xmlns:a16="http://schemas.microsoft.com/office/drawing/2014/main" id="{0F5A6856-2954-4A2E-A92C-2677104B6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05000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A93D"/>
                </a:solidFill>
              </a:defRPr>
            </a:pPr>
            <a:r>
              <a:rPr sz="1800" b="1">
                <a:solidFill>
                  <a:srgbClr val="D9A93D"/>
                </a:solidFill>
              </a:rPr>
              <a:t>规则只写一遍</a:t>
            </a:r>
          </a:p>
        </p:txBody>
      </p:sp>
      <p:sp>
        <p:nvSpPr>
          <p:cNvPr id="8" name="tech-flow-规则只写一遍">
            <a:extLst xmlns:a="http://schemas.openxmlformats.org/drawingml/2006/main">
              <a:ext uri="{FF2B5EF4-FFF2-40B4-BE49-F238E27FC236}">
                <a16:creationId xmlns:a16="http://schemas.microsoft.com/office/drawing/2014/main" id="{CC576239-5D39-4CC2-89B5-B654ECFEF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885950"/>
            <a:ext cx="3790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E7C2"/>
                </a:solidFill>
              </a:defRPr>
            </a:pPr>
            <a:r>
              <a:rPr sz="1350" b="1">
                <a:solidFill>
                  <a:srgbClr val="F4E7C2"/>
                </a:solidFill>
              </a:rPr>
              <a:t>预演复制当前状态 → 按同一规则计算 → 正式执行</a:t>
            </a:r>
          </a:p>
        </p:txBody>
      </p:sp>
      <p:sp>
        <p:nvSpPr>
          <p:cNvPr id="9" name="tech-outcome-规则只写一遍">
            <a:extLst xmlns:a="http://schemas.openxmlformats.org/drawingml/2006/main">
              <a:ext uri="{FF2B5EF4-FFF2-40B4-BE49-F238E27FC236}">
                <a16:creationId xmlns:a16="http://schemas.microsoft.com/office/drawing/2014/main" id="{E57519CB-86B0-4A43-8A11-B6D75349B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333625"/>
            <a:ext cx="3790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1A98F"/>
                </a:solidFill>
              </a:defRPr>
            </a:pPr>
            <a:r>
              <a:rPr sz="1350" b="0">
                <a:solidFill>
                  <a:srgbClr val="B1A98F"/>
                </a:solidFill>
              </a:rPr>
              <a:t>自动检查：预演终点 = 执行终点</a:t>
            </a:r>
          </a:p>
        </p:txBody>
      </p:sp>
      <p:sp>
        <p:nvSpPr>
          <p:cNvPr id="10" name="tech-node-地图可以复现">
            <a:extLst xmlns:a="http://schemas.openxmlformats.org/drawingml/2006/main">
              <a:ext uri="{FF2B5EF4-FFF2-40B4-BE49-F238E27FC236}">
                <a16:creationId xmlns:a16="http://schemas.microsoft.com/office/drawing/2014/main" id="{4DE53208-A9E5-4B05-8A0C-CEAD9167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0"/>
            <a:ext cx="58293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C1B16"/>
          </a:solidFill>
          <a:ln xmlns:a="http://schemas.openxmlformats.org/drawingml/2006/main" w="19050">
            <a:solidFill>
              <a:srgbClr val="9AAE5A"/>
            </a:solidFill>
            <a:prstDash val="solid"/>
          </a:ln>
        </p:spPr>
      </p:sp>
      <p:sp>
        <p:nvSpPr>
          <p:cNvPr id="11" name="tech-title-地图可以复现">
            <a:extLst xmlns:a="http://schemas.openxmlformats.org/drawingml/2006/main">
              <a:ext uri="{FF2B5EF4-FFF2-40B4-BE49-F238E27FC236}">
                <a16:creationId xmlns:a16="http://schemas.microsoft.com/office/drawing/2014/main" id="{CBC73543-758B-44D4-949B-153204A28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9AAE5A"/>
                </a:solidFill>
              </a:defRPr>
            </a:pPr>
            <a:r>
              <a:rPr sz="1800" b="1">
                <a:solidFill>
                  <a:srgbClr val="9AAE5A"/>
                </a:solidFill>
              </a:rPr>
              <a:t>地图可以复现</a:t>
            </a:r>
          </a:p>
        </p:txBody>
      </p:sp>
      <p:sp>
        <p:nvSpPr>
          <p:cNvPr id="12" name="tech-flow-地图可以复现">
            <a:extLst xmlns:a="http://schemas.openxmlformats.org/drawingml/2006/main">
              <a:ext uri="{FF2B5EF4-FFF2-40B4-BE49-F238E27FC236}">
                <a16:creationId xmlns:a16="http://schemas.microsoft.com/office/drawing/2014/main" id="{31B4AFC6-F380-4A82-BC71-EDD3C4312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181350"/>
            <a:ext cx="3790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E7C2"/>
                </a:solidFill>
              </a:defRPr>
            </a:pPr>
            <a:r>
              <a:rPr sz="1350" b="1">
                <a:solidFill>
                  <a:srgbClr val="F4E7C2"/>
                </a:solidFill>
              </a:rPr>
              <a:t>固定 Seed 生成房间与走廊 → 检查关键位置都能走到</a:t>
            </a:r>
          </a:p>
        </p:txBody>
      </p:sp>
      <p:sp>
        <p:nvSpPr>
          <p:cNvPr id="13" name="tech-outcome-地图可以复现">
            <a:extLst xmlns:a="http://schemas.openxmlformats.org/drawingml/2006/main">
              <a:ext uri="{FF2B5EF4-FFF2-40B4-BE49-F238E27FC236}">
                <a16:creationId xmlns:a16="http://schemas.microsoft.com/office/drawing/2014/main" id="{A6B33B02-98FD-4512-997E-6174E5BD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629025"/>
            <a:ext cx="3790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1A98F"/>
                </a:solidFill>
              </a:defRPr>
            </a:pPr>
            <a:r>
              <a:rPr sz="1350" b="0">
                <a:solidFill>
                  <a:srgbClr val="B1A98F"/>
                </a:solidFill>
              </a:rPr>
              <a:t>同一个 Seed 就能重现同一场演示</a:t>
            </a:r>
          </a:p>
        </p:txBody>
      </p:sp>
      <p:sp>
        <p:nvSpPr>
          <p:cNvPr id="14" name="tech-node-敌人先做决定">
            <a:extLst xmlns:a="http://schemas.openxmlformats.org/drawingml/2006/main">
              <a:ext uri="{FF2B5EF4-FFF2-40B4-BE49-F238E27FC236}">
                <a16:creationId xmlns:a16="http://schemas.microsoft.com/office/drawing/2014/main" id="{F7ABAAD2-608A-4EE6-AA11-6E81D83B0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43400"/>
            <a:ext cx="58293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C1B16"/>
          </a:solidFill>
          <a:ln xmlns:a="http://schemas.openxmlformats.org/drawingml/2006/main" w="19050">
            <a:solidFill>
              <a:srgbClr val="F0B34A"/>
            </a:solidFill>
            <a:prstDash val="solid"/>
          </a:ln>
        </p:spPr>
      </p:sp>
      <p:sp>
        <p:nvSpPr>
          <p:cNvPr id="15" name="tech-title-敌人先做决定">
            <a:extLst xmlns:a="http://schemas.openxmlformats.org/drawingml/2006/main">
              <a:ext uri="{FF2B5EF4-FFF2-40B4-BE49-F238E27FC236}">
                <a16:creationId xmlns:a16="http://schemas.microsoft.com/office/drawing/2014/main" id="{F83FE798-460A-42B5-901A-E2C05092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0B34A"/>
                </a:solidFill>
              </a:defRPr>
            </a:pPr>
            <a:r>
              <a:rPr sz="1800" b="1">
                <a:solidFill>
                  <a:srgbClr val="F0B34A"/>
                </a:solidFill>
              </a:rPr>
              <a:t>敌人先做决定</a:t>
            </a:r>
          </a:p>
        </p:txBody>
      </p:sp>
      <p:sp>
        <p:nvSpPr>
          <p:cNvPr id="16" name="tech-flow-敌人先做决定">
            <a:extLst xmlns:a="http://schemas.openxmlformats.org/drawingml/2006/main">
              <a:ext uri="{FF2B5EF4-FFF2-40B4-BE49-F238E27FC236}">
                <a16:creationId xmlns:a16="http://schemas.microsoft.com/office/drawing/2014/main" id="{00610A05-592E-415E-8D5C-871B506EE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476750"/>
            <a:ext cx="3790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E7C2"/>
                </a:solidFill>
              </a:defRPr>
            </a:pPr>
            <a:r>
              <a:rPr sz="1350" b="1">
                <a:solidFill>
                  <a:srgbClr val="F4E7C2"/>
                </a:solidFill>
              </a:rPr>
              <a:t>敌人选好下一步 → 先显示 Intent → 到时再执行</a:t>
            </a:r>
          </a:p>
        </p:txBody>
      </p:sp>
      <p:sp>
        <p:nvSpPr>
          <p:cNvPr id="17" name="tech-outcome-敌人先做决定">
            <a:extLst xmlns:a="http://schemas.openxmlformats.org/drawingml/2006/main">
              <a:ext uri="{FF2B5EF4-FFF2-40B4-BE49-F238E27FC236}">
                <a16:creationId xmlns:a16="http://schemas.microsoft.com/office/drawing/2014/main" id="{869DBF7B-7D41-4938-9738-920EA427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924425"/>
            <a:ext cx="3790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1A98F"/>
                </a:solidFill>
              </a:defRPr>
            </a:pPr>
            <a:r>
              <a:rPr sz="1350" b="0">
                <a:solidFill>
                  <a:srgbClr val="B1A98F"/>
                </a:solidFill>
              </a:rPr>
              <a:t>显示与执行来自同一个决定，不会临时变招</a:t>
            </a:r>
          </a:p>
        </p:txBody>
      </p:sp>
      <p:sp>
        <p:nvSpPr>
          <p:cNvPr id="18" name="tech-boundary">
            <a:extLst xmlns:a="http://schemas.openxmlformats.org/drawingml/2006/main">
              <a:ext uri="{FF2B5EF4-FFF2-40B4-BE49-F238E27FC236}">
                <a16:creationId xmlns:a16="http://schemas.microsoft.com/office/drawing/2014/main" id="{2717685F-B06A-4D32-8658-F3D78E793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111252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2B2A22"/>
          </a:solidFill>
          <a:ln xmlns:a="http://schemas.openxmlformats.org/drawingml/2006/main" w="9525">
            <a:solidFill>
              <a:srgbClr val="5A4B2C"/>
            </a:solidFill>
            <a:prstDash val="solid"/>
          </a:ln>
        </p:spPr>
      </p:sp>
      <p:sp>
        <p:nvSpPr>
          <p:cNvPr id="19" name="tech-boundary-text">
            <a:extLst xmlns:a="http://schemas.openxmlformats.org/drawingml/2006/main">
              <a:ext uri="{FF2B5EF4-FFF2-40B4-BE49-F238E27FC236}">
                <a16:creationId xmlns:a16="http://schemas.microsoft.com/office/drawing/2014/main" id="{68CA9690-F13C-450A-A2D3-7429C667A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48375"/>
            <a:ext cx="1074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E7C2"/>
                </a:solidFill>
              </a:defRPr>
            </a:pPr>
            <a:r>
              <a:rPr sz="1500" b="1">
                <a:solidFill>
                  <a:srgbClr val="F4E7C2"/>
                </a:solidFill>
              </a:rPr>
              <a:t>战斗规则不依赖画面；动画和音效只负责表现，不会改伤害、位置或胜负</a:t>
            </a:r>
          </a:p>
        </p:txBody>
      </p:sp>
      <p:sp>
        <p:nvSpPr>
          <p:cNvPr id="20" name="debug-caption">
            <a:extLst xmlns:a="http://schemas.openxmlformats.org/drawingml/2006/main">
              <a:ext uri="{FF2B5EF4-FFF2-40B4-BE49-F238E27FC236}">
                <a16:creationId xmlns:a16="http://schemas.microsoft.com/office/drawing/2014/main" id="{5611092D-1AF9-4D7F-A835-08F36AFFA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524500"/>
            <a:ext cx="480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1A98F"/>
                </a:solidFill>
              </a:defRPr>
            </a:pPr>
            <a:r>
              <a:rPr sz="1350" b="0">
                <a:solidFill>
                  <a:srgbClr val="B1A98F"/>
                </a:solidFill>
              </a:rPr>
              <a:t>F3 技术面板可现场打开；正式游戏只显示玩家需要的信息</a:t>
            </a:r>
          </a:p>
        </p:txBody>
      </p:sp>
    </p:spTree>
    <p:extLst>
      <p:ext uri="{BB962C8B-B14F-4D97-AF65-F5344CB8AC3E}">
        <p14:creationId xmlns:p14="http://schemas.microsoft.com/office/powerpoint/2010/main" val="4640331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0B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ection-9">
            <a:extLst xmlns:a="http://schemas.openxmlformats.org/drawingml/2006/main">
              <a:ext uri="{FF2B5EF4-FFF2-40B4-BE49-F238E27FC236}">
                <a16:creationId xmlns:a16="http://schemas.microsoft.com/office/drawing/2014/main" id="{FD8C5504-B52D-4BE1-B946-54FA5387E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0B34A"/>
                </a:solidFill>
              </a:defRPr>
            </a:pPr>
            <a:r>
              <a:rPr sz="1200" b="1">
                <a:solidFill>
                  <a:srgbClr val="F0B34A"/>
                </a:solidFill>
              </a:rPr>
              <a:t>06 / AI 协作：完整流程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452DA286-E0CD-40E3-AC81-8F1E194C3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E7C2"/>
                </a:solidFill>
              </a:defRPr>
            </a:pPr>
            <a:r>
              <a:rPr sz="3600" b="1">
                <a:solidFill>
                  <a:srgbClr val="F4E7C2"/>
                </a:solidFill>
              </a:rPr>
              <a:t>AI 提高迭代速度，人负责证据、边界与最终判断</a:t>
            </a:r>
          </a:p>
        </p:txBody>
      </p:sp>
      <p:sp>
        <p:nvSpPr>
          <p:cNvPr id="3" name="rule-9">
            <a:extLst xmlns:a="http://schemas.openxmlformats.org/drawingml/2006/main">
              <a:ext uri="{FF2B5EF4-FFF2-40B4-BE49-F238E27FC236}">
                <a16:creationId xmlns:a16="http://schemas.microsoft.com/office/drawing/2014/main" id="{DF413B07-9530-460E-8ED4-C91F34DB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239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4B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9">
            <a:extLst xmlns:a="http://schemas.openxmlformats.org/drawingml/2006/main">
              <a:ext uri="{FF2B5EF4-FFF2-40B4-BE49-F238E27FC236}">
                <a16:creationId xmlns:a16="http://schemas.microsoft.com/office/drawing/2014/main" id="{A04CB710-D808-40B6-8428-C0202C01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1A98F"/>
                </a:solidFill>
              </a:defRPr>
            </a:pPr>
            <a:r>
              <a:rPr sz="1200" b="0">
                <a:solidFill>
                  <a:srgbClr val="B1A98F"/>
                </a:solidFill>
              </a:rPr>
              <a:t>09</a:t>
            </a:r>
          </a:p>
        </p:txBody>
      </p:sp>
      <p:sp>
        <p:nvSpPr>
          <p:cNvPr id="5" name="ai-step-0">
            <a:extLst xmlns:a="http://schemas.openxmlformats.org/drawingml/2006/main">
              <a:ext uri="{FF2B5EF4-FFF2-40B4-BE49-F238E27FC236}">
                <a16:creationId xmlns:a16="http://schemas.microsoft.com/office/drawing/2014/main" id="{D3D13836-D9F2-4133-A725-9EC09433A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1866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C1B16"/>
          </a:solidFill>
          <a:ln xmlns:a="http://schemas.openxmlformats.org/drawingml/2006/main" w="19050">
            <a:solidFill>
              <a:srgbClr val="5A4B2C"/>
            </a:solidFill>
            <a:prstDash val="solid"/>
          </a:ln>
        </p:spPr>
      </p:sp>
      <p:sp>
        <p:nvSpPr>
          <p:cNvPr id="6" name="ai-step-text-0">
            <a:extLst xmlns:a="http://schemas.openxmlformats.org/drawingml/2006/main">
              <a:ext uri="{FF2B5EF4-FFF2-40B4-BE49-F238E27FC236}">
                <a16:creationId xmlns:a16="http://schemas.microsoft.com/office/drawing/2014/main" id="{B01AA056-E557-4BC3-9F77-F45E4B15D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E7C2"/>
                </a:solidFill>
              </a:defRPr>
            </a:pPr>
            <a:r>
              <a:rPr sz="1500" b="1">
                <a:solidFill>
                  <a:srgbClr val="F4E7C2"/>
                </a:solidFill>
              </a:rPr>
              <a:t>冻结需求</a:t>
            </a:r>
          </a:p>
        </p:txBody>
      </p:sp>
      <p:sp>
        <p:nvSpPr>
          <p:cNvPr id="7" name="ai-arrow-0">
            <a:extLst xmlns:a="http://schemas.openxmlformats.org/drawingml/2006/main">
              <a:ext uri="{FF2B5EF4-FFF2-40B4-BE49-F238E27FC236}">
                <a16:creationId xmlns:a16="http://schemas.microsoft.com/office/drawing/2014/main" id="{9E916010-61CF-44FB-8B5E-74D2BE399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74307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1A98F"/>
                </a:solidFill>
              </a:defRPr>
            </a:pPr>
            <a:r>
              <a:rPr sz="1800" b="1">
                <a:solidFill>
                  <a:srgbClr val="B1A98F"/>
                </a:solidFill>
              </a:rPr>
              <a:t>→</a:t>
            </a:r>
          </a:p>
        </p:txBody>
      </p:sp>
      <p:sp>
        <p:nvSpPr>
          <p:cNvPr id="8" name="ai-step-1">
            <a:extLst xmlns:a="http://schemas.openxmlformats.org/drawingml/2006/main">
              <a:ext uri="{FF2B5EF4-FFF2-40B4-BE49-F238E27FC236}">
                <a16:creationId xmlns:a16="http://schemas.microsoft.com/office/drawing/2014/main" id="{E602464D-A122-4A20-8E47-A9E61A9C5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1619250"/>
            <a:ext cx="1866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C1B16"/>
          </a:solidFill>
          <a:ln xmlns:a="http://schemas.openxmlformats.org/drawingml/2006/main" w="19050">
            <a:solidFill>
              <a:srgbClr val="5A4B2C"/>
            </a:solidFill>
            <a:prstDash val="solid"/>
          </a:ln>
        </p:spPr>
      </p:sp>
      <p:sp>
        <p:nvSpPr>
          <p:cNvPr id="9" name="ai-step-text-1">
            <a:extLst xmlns:a="http://schemas.openxmlformats.org/drawingml/2006/main">
              <a:ext uri="{FF2B5EF4-FFF2-40B4-BE49-F238E27FC236}">
                <a16:creationId xmlns:a16="http://schemas.microsoft.com/office/drawing/2014/main" id="{4943D2CF-D291-480F-8E97-FA562163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17526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E7C2"/>
                </a:solidFill>
              </a:defRPr>
            </a:pPr>
            <a:r>
              <a:rPr sz="1500" b="1">
                <a:solidFill>
                  <a:srgbClr val="F4E7C2"/>
                </a:solidFill>
              </a:rPr>
              <a:t>AI 方案/代码/测试</a:t>
            </a:r>
          </a:p>
        </p:txBody>
      </p:sp>
      <p:sp>
        <p:nvSpPr>
          <p:cNvPr id="10" name="ai-arrow-1">
            <a:extLst xmlns:a="http://schemas.openxmlformats.org/drawingml/2006/main">
              <a:ext uri="{FF2B5EF4-FFF2-40B4-BE49-F238E27FC236}">
                <a16:creationId xmlns:a16="http://schemas.microsoft.com/office/drawing/2014/main" id="{E820870B-C5EC-43E3-8240-89F4B1371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4307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1A98F"/>
                </a:solidFill>
              </a:defRPr>
            </a:pPr>
            <a:r>
              <a:rPr sz="1800" b="1">
                <a:solidFill>
                  <a:srgbClr val="B1A98F"/>
                </a:solidFill>
              </a:rPr>
              <a:t>→</a:t>
            </a:r>
          </a:p>
        </p:txBody>
      </p:sp>
      <p:sp>
        <p:nvSpPr>
          <p:cNvPr id="11" name="ai-step-2">
            <a:extLst xmlns:a="http://schemas.openxmlformats.org/drawingml/2006/main">
              <a:ext uri="{FF2B5EF4-FFF2-40B4-BE49-F238E27FC236}">
                <a16:creationId xmlns:a16="http://schemas.microsoft.com/office/drawing/2014/main" id="{6B830AC4-7037-4ADD-8BAB-BFEADF1D8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619250"/>
            <a:ext cx="1866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C1B16"/>
          </a:solidFill>
          <a:ln xmlns:a="http://schemas.openxmlformats.org/drawingml/2006/main" w="19050">
            <a:solidFill>
              <a:srgbClr val="5A4B2C"/>
            </a:solidFill>
            <a:prstDash val="solid"/>
          </a:ln>
        </p:spPr>
      </p:sp>
      <p:sp>
        <p:nvSpPr>
          <p:cNvPr id="12" name="ai-step-text-2">
            <a:extLst xmlns:a="http://schemas.openxmlformats.org/drawingml/2006/main">
              <a:ext uri="{FF2B5EF4-FFF2-40B4-BE49-F238E27FC236}">
                <a16:creationId xmlns:a16="http://schemas.microsoft.com/office/drawing/2014/main" id="{FA8FF596-7801-45D8-BE42-5FE36FAA9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7526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E7C2"/>
                </a:solidFill>
              </a:defRPr>
            </a:pPr>
            <a:r>
              <a:rPr sz="1500" b="1">
                <a:solidFill>
                  <a:srgbClr val="F4E7C2"/>
                </a:solidFill>
              </a:rPr>
              <a:t>真人运行审图</a:t>
            </a:r>
          </a:p>
        </p:txBody>
      </p:sp>
      <p:sp>
        <p:nvSpPr>
          <p:cNvPr id="13" name="ai-arrow-2">
            <a:extLst xmlns:a="http://schemas.openxmlformats.org/drawingml/2006/main">
              <a:ext uri="{FF2B5EF4-FFF2-40B4-BE49-F238E27FC236}">
                <a16:creationId xmlns:a16="http://schemas.microsoft.com/office/drawing/2014/main" id="{88D9F39B-C972-4880-926E-63A934DD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74307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1A98F"/>
                </a:solidFill>
              </a:defRPr>
            </a:pPr>
            <a:r>
              <a:rPr sz="1800" b="1">
                <a:solidFill>
                  <a:srgbClr val="B1A98F"/>
                </a:solidFill>
              </a:rPr>
              <a:t>→</a:t>
            </a:r>
          </a:p>
        </p:txBody>
      </p:sp>
      <p:sp>
        <p:nvSpPr>
          <p:cNvPr id="14" name="ai-step-3">
            <a:extLst xmlns:a="http://schemas.openxmlformats.org/drawingml/2006/main">
              <a:ext uri="{FF2B5EF4-FFF2-40B4-BE49-F238E27FC236}">
                <a16:creationId xmlns:a16="http://schemas.microsoft.com/office/drawing/2014/main" id="{2CCB79F5-9F14-4903-AF51-86D89177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19250"/>
            <a:ext cx="1866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B2A22"/>
          </a:solidFill>
          <a:ln xmlns:a="http://schemas.openxmlformats.org/drawingml/2006/main" w="19050">
            <a:solidFill>
              <a:srgbClr val="F0B34A"/>
            </a:solidFill>
            <a:prstDash val="solid"/>
          </a:ln>
        </p:spPr>
      </p:sp>
      <p:sp>
        <p:nvSpPr>
          <p:cNvPr id="15" name="ai-step-text-3">
            <a:extLst xmlns:a="http://schemas.openxmlformats.org/drawingml/2006/main">
              <a:ext uri="{FF2B5EF4-FFF2-40B4-BE49-F238E27FC236}">
                <a16:creationId xmlns:a16="http://schemas.microsoft.com/office/drawing/2014/main" id="{C582A8AB-8E9D-4CFB-81AA-9FE9DFAB6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17526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0B34A"/>
                </a:solidFill>
              </a:defRPr>
            </a:pPr>
            <a:r>
              <a:rPr sz="1500" b="1">
                <a:solidFill>
                  <a:srgbClr val="F0B34A"/>
                </a:solidFill>
              </a:rPr>
              <a:t>反证与取舍</a:t>
            </a:r>
          </a:p>
        </p:txBody>
      </p:sp>
      <p:sp>
        <p:nvSpPr>
          <p:cNvPr id="16" name="ai-arrow-3">
            <a:extLst xmlns:a="http://schemas.openxmlformats.org/drawingml/2006/main">
              <a:ext uri="{FF2B5EF4-FFF2-40B4-BE49-F238E27FC236}">
                <a16:creationId xmlns:a16="http://schemas.microsoft.com/office/drawing/2014/main" id="{277261A6-58C2-4D62-AC6E-6BDBBC9AF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4307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1A98F"/>
                </a:solidFill>
              </a:defRPr>
            </a:pPr>
            <a:r>
              <a:rPr sz="1800" b="1">
                <a:solidFill>
                  <a:srgbClr val="B1A98F"/>
                </a:solidFill>
              </a:rPr>
              <a:t>→</a:t>
            </a:r>
          </a:p>
        </p:txBody>
      </p:sp>
      <p:sp>
        <p:nvSpPr>
          <p:cNvPr id="17" name="ai-step-4">
            <a:extLst xmlns:a="http://schemas.openxmlformats.org/drawingml/2006/main">
              <a:ext uri="{FF2B5EF4-FFF2-40B4-BE49-F238E27FC236}">
                <a16:creationId xmlns:a16="http://schemas.microsoft.com/office/drawing/2014/main" id="{12994E5A-8A1A-4956-93E1-A60F15346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619250"/>
            <a:ext cx="1866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C1B16"/>
          </a:solidFill>
          <a:ln xmlns:a="http://schemas.openxmlformats.org/drawingml/2006/main" w="19050">
            <a:solidFill>
              <a:srgbClr val="5A4B2C"/>
            </a:solidFill>
            <a:prstDash val="solid"/>
          </a:ln>
        </p:spPr>
      </p:sp>
      <p:sp>
        <p:nvSpPr>
          <p:cNvPr id="18" name="ai-step-text-4">
            <a:extLst xmlns:a="http://schemas.openxmlformats.org/drawingml/2006/main">
              <a:ext uri="{FF2B5EF4-FFF2-40B4-BE49-F238E27FC236}">
                <a16:creationId xmlns:a16="http://schemas.microsoft.com/office/drawing/2014/main" id="{225914F8-C9A8-44C6-8A15-FCD8730EF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7526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E7C2"/>
                </a:solidFill>
              </a:defRPr>
            </a:pPr>
            <a:r>
              <a:rPr sz="1500" b="1">
                <a:solidFill>
                  <a:srgbClr val="F4E7C2"/>
                </a:solidFill>
              </a:rPr>
              <a:t>回归并归档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9f45ca8e5a495c"/>
          <a:srcRect xmlns:a="http://schemas.openxmlformats.org/drawingml/2006/main" l="0" t="112" r="0" b="1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2533650"/>
            <a:ext cx="3390900" cy="2114550"/>
          </a:xfrm>
          <a:prstGeom xmlns:a="http://schemas.openxmlformats.org/drawingml/2006/main" prst="roundRect">
            <a:avLst>
              <a:gd name="adj" fmla="val 3604"/>
            </a:avLst>
          </a:prstGeom>
        </p:spPr>
      </p:pic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109c2c2f24453"/>
          <a:srcRect xmlns:a="http://schemas.openxmlformats.org/drawingml/2006/main" l="0" t="112" r="0" b="1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71950" y="2533650"/>
            <a:ext cx="3390900" cy="2114550"/>
          </a:xfrm>
          <a:prstGeom xmlns:a="http://schemas.openxmlformats.org/drawingml/2006/main" prst="roundRect">
            <a:avLst>
              <a:gd name="adj" fmla="val 3604"/>
            </a:avLst>
          </a:prstGeom>
        </p:spPr>
      </p:pic>
      <p:sp>
        <p:nvSpPr>
          <p:cNvPr id="21" name="ai-before-label">
            <a:extLst xmlns:a="http://schemas.openxmlformats.org/drawingml/2006/main">
              <a:ext uri="{FF2B5EF4-FFF2-40B4-BE49-F238E27FC236}">
                <a16:creationId xmlns:a16="http://schemas.microsoft.com/office/drawing/2014/main" id="{18306A12-7240-4A5A-8E1C-EB762106E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06464"/>
                </a:solidFill>
              </a:defRPr>
            </a:pPr>
            <a:r>
              <a:rPr sz="1350" b="0">
                <a:solidFill>
                  <a:srgbClr val="F06464"/>
                </a:solidFill>
              </a:rPr>
              <a:t>首轮：扫描过强 / 构筑区偏空</a:t>
            </a:r>
          </a:p>
        </p:txBody>
      </p:sp>
      <p:sp>
        <p:nvSpPr>
          <p:cNvPr id="22" name="ai-after-label">
            <a:extLst xmlns:a="http://schemas.openxmlformats.org/drawingml/2006/main">
              <a:ext uri="{FF2B5EF4-FFF2-40B4-BE49-F238E27FC236}">
                <a16:creationId xmlns:a16="http://schemas.microsoft.com/office/drawing/2014/main" id="{0D7C4509-D846-438B-9273-A2B8D76AC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7625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9AAE5A"/>
                </a:solidFill>
              </a:defRPr>
            </a:pPr>
            <a:r>
              <a:rPr sz="1350" b="0">
                <a:solidFill>
                  <a:srgbClr val="9AAE5A"/>
                </a:solidFill>
              </a:rPr>
              <a:t>回修：单扫描线 / 增长信息补齐</a:t>
            </a:r>
          </a:p>
        </p:txBody>
      </p:sp>
      <p:sp>
        <p:nvSpPr>
          <p:cNvPr id="23" name="ai-critical-title">
            <a:extLst xmlns:a="http://schemas.openxmlformats.org/drawingml/2006/main">
              <a:ext uri="{FF2B5EF4-FFF2-40B4-BE49-F238E27FC236}">
                <a16:creationId xmlns:a16="http://schemas.microsoft.com/office/drawing/2014/main" id="{01AAF577-D542-4CE0-9793-EDF67BC9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33650"/>
            <a:ext cx="3638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0B34A"/>
                </a:solidFill>
              </a:defRPr>
            </a:pPr>
            <a:r>
              <a:rPr sz="1950" b="1">
                <a:solidFill>
                  <a:srgbClr val="F0B34A"/>
                </a:solidFill>
              </a:rPr>
              <a:t>三个关键的人类判断</a:t>
            </a:r>
          </a:p>
        </p:txBody>
      </p:sp>
      <p:sp>
        <p:nvSpPr>
          <p:cNvPr id="24" name="decision-mark-0">
            <a:extLst xmlns:a="http://schemas.openxmlformats.org/drawingml/2006/main">
              <a:ext uri="{FF2B5EF4-FFF2-40B4-BE49-F238E27FC236}">
                <a16:creationId xmlns:a16="http://schemas.microsoft.com/office/drawing/2014/main" id="{F0819C36-EE76-434E-9B71-5B1C66F93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7657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9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decision-0">
            <a:extLst xmlns:a="http://schemas.openxmlformats.org/drawingml/2006/main">
              <a:ext uri="{FF2B5EF4-FFF2-40B4-BE49-F238E27FC236}">
                <a16:creationId xmlns:a16="http://schemas.microsoft.com/office/drawing/2014/main" id="{E1711619-68A4-448C-8BB7-767C7C22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28950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E7C2"/>
                </a:solidFill>
              </a:defRPr>
            </a:pPr>
            <a:r>
              <a:rPr sz="1425" b="0">
                <a:solidFill>
                  <a:srgbClr val="F4E7C2"/>
                </a:solidFill>
              </a:rPr>
              <a:t>否决“另写预演规则”</a:t>
            </a:r>
          </a:p>
          <a:p xmlns:a="http://schemas.openxmlformats.org/drawingml/2006/main">
            <a:pPr algn="l">
              <a:defRPr sz="1425" b="0">
                <a:solidFill>
                  <a:srgbClr val="F4E7C2"/>
                </a:solidFill>
              </a:defRPr>
            </a:pPr>
            <a:r>
              <a:rPr sz="1425" b="0">
                <a:solidFill>
                  <a:srgbClr val="F4E7C2"/>
                </a:solidFill>
              </a:rPr>
              <a:t>→ 预演 / 执行共用同一计算</a:t>
            </a:r>
          </a:p>
        </p:txBody>
      </p:sp>
      <p:sp>
        <p:nvSpPr>
          <p:cNvPr id="26" name="decision-mark-1">
            <a:extLst xmlns:a="http://schemas.openxmlformats.org/drawingml/2006/main">
              <a:ext uri="{FF2B5EF4-FFF2-40B4-BE49-F238E27FC236}">
                <a16:creationId xmlns:a16="http://schemas.microsoft.com/office/drawing/2014/main" id="{CC776973-3108-4610-8315-7A7344B5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5287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8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decision-1">
            <a:extLst xmlns:a="http://schemas.openxmlformats.org/drawingml/2006/main">
              <a:ext uri="{FF2B5EF4-FFF2-40B4-BE49-F238E27FC236}">
                <a16:creationId xmlns:a16="http://schemas.microsoft.com/office/drawing/2014/main" id="{9E14C40B-56D1-47CB-9EDF-56BBF4B51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05250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E7C2"/>
                </a:solidFill>
              </a:defRPr>
            </a:pPr>
            <a:r>
              <a:rPr sz="1425" b="0">
                <a:solidFill>
                  <a:srgbClr val="F4E7C2"/>
                </a:solidFill>
              </a:rPr>
              <a:t>不相信“代码改完即完成”</a:t>
            </a:r>
          </a:p>
          <a:p xmlns:a="http://schemas.openxmlformats.org/drawingml/2006/main">
            <a:pPr algn="l">
              <a:defRPr sz="1425" b="0">
                <a:solidFill>
                  <a:srgbClr val="F4E7C2"/>
                </a:solidFill>
              </a:defRPr>
            </a:pPr>
            <a:r>
              <a:rPr sz="1425" b="0">
                <a:solidFill>
                  <a:srgbClr val="F4E7C2"/>
                </a:solidFill>
              </a:rPr>
              <a:t>→ 六种状态逐张审图，再做启动检查</a:t>
            </a:r>
          </a:p>
        </p:txBody>
      </p:sp>
      <p:sp>
        <p:nvSpPr>
          <p:cNvPr id="28" name="decision-mark-2">
            <a:extLst xmlns:a="http://schemas.openxmlformats.org/drawingml/2006/main">
              <a:ext uri="{FF2B5EF4-FFF2-40B4-BE49-F238E27FC236}">
                <a16:creationId xmlns:a16="http://schemas.microsoft.com/office/drawing/2014/main" id="{160A93A5-372A-4529-BA52-0E8992657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2917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decision-2">
            <a:extLst xmlns:a="http://schemas.openxmlformats.org/drawingml/2006/main">
              <a:ext uri="{FF2B5EF4-FFF2-40B4-BE49-F238E27FC236}">
                <a16:creationId xmlns:a16="http://schemas.microsoft.com/office/drawing/2014/main" id="{B86ED3B0-9AAD-47FF-B0FF-C7591E58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81550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E7C2"/>
                </a:solidFill>
              </a:defRPr>
            </a:pPr>
            <a:r>
              <a:rPr sz="1425" b="0">
                <a:solidFill>
                  <a:srgbClr val="F4E7C2"/>
                </a:solidFill>
              </a:rPr>
              <a:t>盲测数值意见相互矛盾</a:t>
            </a:r>
          </a:p>
          <a:p xmlns:a="http://schemas.openxmlformats.org/drawingml/2006/main">
            <a:pPr algn="l">
              <a:defRPr sz="1425" b="0">
                <a:solidFill>
                  <a:srgbClr val="F4E7C2"/>
                </a:solidFill>
              </a:defRPr>
            </a:pPr>
            <a:r>
              <a:rPr sz="1425" b="0">
                <a:solidFill>
                  <a:srgbClr val="F4E7C2"/>
                </a:solidFill>
              </a:rPr>
              <a:t>→ 不冒险改平衡，只修共性可读性</a:t>
            </a:r>
          </a:p>
        </p:txBody>
      </p:sp>
      <p:sp>
        <p:nvSpPr>
          <p:cNvPr id="30" name="ai-roles">
            <a:extLst xmlns:a="http://schemas.openxmlformats.org/drawingml/2006/main">
              <a:ext uri="{FF2B5EF4-FFF2-40B4-BE49-F238E27FC236}">
                <a16:creationId xmlns:a16="http://schemas.microsoft.com/office/drawing/2014/main" id="{7CACD3AB-F020-499C-AF54-58CC5761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0"/>
            <a:ext cx="11125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C1B16"/>
          </a:solidFill>
          <a:ln xmlns:a="http://schemas.openxmlformats.org/drawingml/2006/main" w="9525">
            <a:solidFill>
              <a:srgbClr val="5A4B2C"/>
            </a:solidFill>
            <a:prstDash val="solid"/>
          </a:ln>
        </p:spPr>
      </p:sp>
      <p:sp>
        <p:nvSpPr>
          <p:cNvPr id="31" name="ai-role-ai">
            <a:extLst xmlns:a="http://schemas.openxmlformats.org/drawingml/2006/main">
              <a:ext uri="{FF2B5EF4-FFF2-40B4-BE49-F238E27FC236}">
                <a16:creationId xmlns:a16="http://schemas.microsoft.com/office/drawing/2014/main" id="{F39A4643-73B3-4FFA-8A4A-A05CC93F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81650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9A93D"/>
                </a:solidFill>
              </a:defRPr>
            </a:pPr>
            <a:r>
              <a:rPr sz="1500" b="0">
                <a:solidFill>
                  <a:srgbClr val="D9A93D"/>
                </a:solidFill>
              </a:rPr>
              <a:t>AI：方案比较、代码辅助、测试生成、视觉审查、文档整理</a:t>
            </a:r>
          </a:p>
        </p:txBody>
      </p:sp>
      <p:sp>
        <p:nvSpPr>
          <p:cNvPr id="32" name="ai-role-human">
            <a:extLst xmlns:a="http://schemas.openxmlformats.org/drawingml/2006/main">
              <a:ext uri="{FF2B5EF4-FFF2-40B4-BE49-F238E27FC236}">
                <a16:creationId xmlns:a16="http://schemas.microsoft.com/office/drawing/2014/main" id="{9E3E50FB-5143-4C22-AD39-5E27B56A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5816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0B34A"/>
                </a:solidFill>
              </a:defRPr>
            </a:pPr>
            <a:r>
              <a:rPr sz="1500" b="0">
                <a:solidFill>
                  <a:srgbClr val="F0B34A"/>
                </a:solidFill>
              </a:rPr>
              <a:t>人：冻结方向、运行验证、版权/风险把关、否决错误、现场验收</a:t>
            </a:r>
          </a:p>
        </p:txBody>
      </p:sp>
    </p:spTree>
    <p:extLst>
      <p:ext uri="{BB962C8B-B14F-4D97-AF65-F5344CB8AC3E}">
        <p14:creationId xmlns:p14="http://schemas.microsoft.com/office/powerpoint/2010/main" val="7935530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0B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section-10">
            <a:extLst xmlns:a="http://schemas.openxmlformats.org/drawingml/2006/main">
              <a:ext uri="{FF2B5EF4-FFF2-40B4-BE49-F238E27FC236}">
                <a16:creationId xmlns:a16="http://schemas.microsoft.com/office/drawing/2014/main" id="{15F35E5B-D9A9-46B0-87D6-35F542352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0B34A"/>
                </a:solidFill>
              </a:defRPr>
            </a:pPr>
            <a:r>
              <a:rPr sz="1200" b="1">
                <a:solidFill>
                  <a:srgbClr val="F0B34A"/>
                </a:solidFill>
              </a:rPr>
              <a:t>07 / AI 协作：批判性思考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218C21FD-682A-4EA1-98EA-3541E3B65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E7C2"/>
                </a:solidFill>
              </a:defRPr>
            </a:pPr>
            <a:r>
              <a:rPr sz="3600" b="1">
                <a:solidFill>
                  <a:srgbClr val="F4E7C2"/>
                </a:solidFill>
              </a:rPr>
              <a:t>没有照单全收：每次 AI 建议都要经过反证和现场检查</a:t>
            </a:r>
          </a:p>
        </p:txBody>
      </p:sp>
      <p:sp>
        <p:nvSpPr>
          <p:cNvPr id="3" name="rule-10">
            <a:extLst xmlns:a="http://schemas.openxmlformats.org/drawingml/2006/main">
              <a:ext uri="{FF2B5EF4-FFF2-40B4-BE49-F238E27FC236}">
                <a16:creationId xmlns:a16="http://schemas.microsoft.com/office/drawing/2014/main" id="{0582BABC-55CE-459E-9739-091E726B8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239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4B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0">
            <a:extLst xmlns:a="http://schemas.openxmlformats.org/drawingml/2006/main">
              <a:ext uri="{FF2B5EF4-FFF2-40B4-BE49-F238E27FC236}">
                <a16:creationId xmlns:a16="http://schemas.microsoft.com/office/drawing/2014/main" id="{E35363CF-5147-44BD-B449-DDEE4B0B5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1A98F"/>
                </a:solidFill>
              </a:defRPr>
            </a:pPr>
            <a:r>
              <a:rPr sz="1200" b="0">
                <a:solidFill>
                  <a:srgbClr val="B1A98F"/>
                </a:solidFill>
              </a:rPr>
              <a:t>10</a:t>
            </a:r>
          </a:p>
        </p:txBody>
      </p:sp>
      <p:sp>
        <p:nvSpPr>
          <p:cNvPr id="5" name="case-案例 1｜预演会不会“骗玩家”">
            <a:extLst xmlns:a="http://schemas.openxmlformats.org/drawingml/2006/main">
              <a:ext uri="{FF2B5EF4-FFF2-40B4-BE49-F238E27FC236}">
                <a16:creationId xmlns:a16="http://schemas.microsoft.com/office/drawing/2014/main" id="{477624F7-BFCF-4C1E-BCA1-4B00A4F8F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11252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C1B16"/>
          </a:solidFill>
          <a:ln xmlns:a="http://schemas.openxmlformats.org/drawingml/2006/main" w="9525">
            <a:solidFill>
              <a:srgbClr val="5A4B2C"/>
            </a:solidFill>
            <a:prstDash val="solid"/>
          </a:ln>
        </p:spPr>
      </p:sp>
      <p:sp>
        <p:nvSpPr>
          <p:cNvPr id="6" name="case-color-案例 1｜预演会不会“骗玩家”">
            <a:extLst xmlns:a="http://schemas.openxmlformats.org/drawingml/2006/main">
              <a:ext uri="{FF2B5EF4-FFF2-40B4-BE49-F238E27FC236}">
                <a16:creationId xmlns:a16="http://schemas.microsoft.com/office/drawing/2014/main" id="{B1EA9C29-8571-4E0E-AB36-D16DB3B67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95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9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ase-title-案例 1｜预演会不会“骗玩家”">
            <a:extLst xmlns:a="http://schemas.openxmlformats.org/drawingml/2006/main">
              <a:ext uri="{FF2B5EF4-FFF2-40B4-BE49-F238E27FC236}">
                <a16:creationId xmlns:a16="http://schemas.microsoft.com/office/drawing/2014/main" id="{AA348A00-4C9A-477F-A1D9-212E0FD8F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240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A93D"/>
                </a:solidFill>
              </a:defRPr>
            </a:pPr>
            <a:r>
              <a:rPr sz="1650" b="1">
                <a:solidFill>
                  <a:srgbClr val="D9A93D"/>
                </a:solidFill>
              </a:rPr>
              <a:t>案例 1｜预演会不会“骗玩家”</a:t>
            </a:r>
          </a:p>
        </p:txBody>
      </p:sp>
      <p:sp>
        <p:nvSpPr>
          <p:cNvPr id="8" name="case-ai-案例 1｜预演会不会“骗玩家”">
            <a:extLst xmlns:a="http://schemas.openxmlformats.org/drawingml/2006/main">
              <a:ext uri="{FF2B5EF4-FFF2-40B4-BE49-F238E27FC236}">
                <a16:creationId xmlns:a16="http://schemas.microsoft.com/office/drawing/2014/main" id="{E6229A7B-4A8C-41BE-89EA-C7E3B30CB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43075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1A98F"/>
                </a:solidFill>
              </a:defRPr>
            </a:pPr>
            <a:r>
              <a:rPr sz="1275" b="0">
                <a:solidFill>
                  <a:srgbClr val="B1A98F"/>
                </a:solidFill>
              </a:rPr>
              <a:t>AI 初稿：预演单独计算，开发快</a:t>
            </a:r>
          </a:p>
        </p:txBody>
      </p:sp>
      <p:sp>
        <p:nvSpPr>
          <p:cNvPr id="9" name="case-check-案例 1｜预演会不会“骗玩家”">
            <a:extLst xmlns:a="http://schemas.openxmlformats.org/drawingml/2006/main">
              <a:ext uri="{FF2B5EF4-FFF2-40B4-BE49-F238E27FC236}">
                <a16:creationId xmlns:a16="http://schemas.microsoft.com/office/drawing/2014/main" id="{E450198A-7BA0-4266-A5B3-5D932CC0B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43075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E7C2"/>
                </a:solidFill>
              </a:defRPr>
            </a:pPr>
            <a:r>
              <a:rPr sz="1275" b="0">
                <a:solidFill>
                  <a:srgbClr val="F4E7C2"/>
                </a:solidFill>
              </a:rPr>
              <a:t>人的追问：两套规则迟早出现不同结果</a:t>
            </a:r>
          </a:p>
        </p:txBody>
      </p:sp>
      <p:sp>
        <p:nvSpPr>
          <p:cNvPr id="10" name="case-decision-案例 1｜预演会不会“骗玩家”">
            <a:extLst xmlns:a="http://schemas.openxmlformats.org/drawingml/2006/main">
              <a:ext uri="{FF2B5EF4-FFF2-40B4-BE49-F238E27FC236}">
                <a16:creationId xmlns:a16="http://schemas.microsoft.com/office/drawing/2014/main" id="{81AD551F-79B6-405E-B13D-E8420FC74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743075"/>
            <a:ext cx="266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A93D"/>
                </a:solidFill>
              </a:defRPr>
            </a:pPr>
            <a:r>
              <a:rPr sz="1275" b="1">
                <a:solidFill>
                  <a:srgbClr val="D9A93D"/>
                </a:solidFill>
              </a:rPr>
              <a:t>最后决定：预演和执行共用一套模拟；自动逐状态对照</a:t>
            </a:r>
          </a:p>
        </p:txBody>
      </p:sp>
      <p:sp>
        <p:nvSpPr>
          <p:cNvPr id="11" name="case-labels-案例 1｜预演会不会“骗玩家”">
            <a:extLst xmlns:a="http://schemas.openxmlformats.org/drawingml/2006/main">
              <a:ext uri="{FF2B5EF4-FFF2-40B4-BE49-F238E27FC236}">
                <a16:creationId xmlns:a16="http://schemas.microsoft.com/office/drawing/2014/main" id="{5603AA37-6185-4F5A-91FD-306CCA6F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5336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1A98F"/>
                </a:solidFill>
              </a:defRPr>
            </a:pPr>
            <a:r>
              <a:rPr sz="1050" b="0">
                <a:solidFill>
                  <a:srgbClr val="B1A98F"/>
                </a:solidFill>
              </a:rPr>
              <a:t>AI 建议</a:t>
            </a:r>
          </a:p>
        </p:txBody>
      </p:sp>
      <p:sp>
        <p:nvSpPr>
          <p:cNvPr id="12" name="case-labelh-案例 1｜预演会不会“骗玩家”">
            <a:extLst xmlns:a="http://schemas.openxmlformats.org/drawingml/2006/main">
              <a:ext uri="{FF2B5EF4-FFF2-40B4-BE49-F238E27FC236}">
                <a16:creationId xmlns:a16="http://schemas.microsoft.com/office/drawing/2014/main" id="{79CADEB5-1258-47FD-B203-6AF1AA3E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336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B34A"/>
                </a:solidFill>
              </a:defRPr>
            </a:pPr>
            <a:r>
              <a:rPr sz="1050" b="0">
                <a:solidFill>
                  <a:srgbClr val="F0B34A"/>
                </a:solidFill>
              </a:rPr>
              <a:t>人工验证</a:t>
            </a:r>
          </a:p>
        </p:txBody>
      </p:sp>
      <p:sp>
        <p:nvSpPr>
          <p:cNvPr id="13" name="case-labeld-案例 1｜预演会不会“骗玩家”">
            <a:extLst xmlns:a="http://schemas.openxmlformats.org/drawingml/2006/main">
              <a:ext uri="{FF2B5EF4-FFF2-40B4-BE49-F238E27FC236}">
                <a16:creationId xmlns:a16="http://schemas.microsoft.com/office/drawing/2014/main" id="{4672B7E9-6DC9-4AE0-872C-5950704A4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5336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9A93D"/>
                </a:solidFill>
              </a:defRPr>
            </a:pPr>
            <a:r>
              <a:rPr sz="1050" b="0">
                <a:solidFill>
                  <a:srgbClr val="D9A93D"/>
                </a:solidFill>
              </a:rPr>
              <a:t>最终取舍</a:t>
            </a:r>
          </a:p>
        </p:txBody>
      </p:sp>
      <p:sp>
        <p:nvSpPr>
          <p:cNvPr id="14" name="case-案例 2｜画面是否真的清楚">
            <a:extLst xmlns:a="http://schemas.openxmlformats.org/drawingml/2006/main">
              <a:ext uri="{FF2B5EF4-FFF2-40B4-BE49-F238E27FC236}">
                <a16:creationId xmlns:a16="http://schemas.microsoft.com/office/drawing/2014/main" id="{474DF1EF-194D-4B71-B6AA-B78EDF38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71800"/>
            <a:ext cx="111252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C1B16"/>
          </a:solidFill>
          <a:ln xmlns:a="http://schemas.openxmlformats.org/drawingml/2006/main" w="9525">
            <a:solidFill>
              <a:srgbClr val="5A4B2C"/>
            </a:solidFill>
            <a:prstDash val="solid"/>
          </a:ln>
        </p:spPr>
      </p:sp>
      <p:sp>
        <p:nvSpPr>
          <p:cNvPr id="15" name="case-color-案例 2｜画面是否真的清楚">
            <a:extLst xmlns:a="http://schemas.openxmlformats.org/drawingml/2006/main">
              <a:ext uri="{FF2B5EF4-FFF2-40B4-BE49-F238E27FC236}">
                <a16:creationId xmlns:a16="http://schemas.microsoft.com/office/drawing/2014/main" id="{1FDA771C-33F8-4398-BF66-86593C67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71800"/>
            <a:ext cx="95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ase-title-案例 2｜画面是否真的清楚">
            <a:extLst xmlns:a="http://schemas.openxmlformats.org/drawingml/2006/main">
              <a:ext uri="{FF2B5EF4-FFF2-40B4-BE49-F238E27FC236}">
                <a16:creationId xmlns:a16="http://schemas.microsoft.com/office/drawing/2014/main" id="{6057A21D-EB14-4494-A467-CD93A8B4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956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0B34A"/>
                </a:solidFill>
              </a:defRPr>
            </a:pPr>
            <a:r>
              <a:rPr sz="1650" b="1">
                <a:solidFill>
                  <a:srgbClr val="F0B34A"/>
                </a:solidFill>
              </a:rPr>
              <a:t>案例 2｜画面是否真的清楚</a:t>
            </a:r>
          </a:p>
        </p:txBody>
      </p:sp>
      <p:sp>
        <p:nvSpPr>
          <p:cNvPr id="17" name="case-ai-案例 2｜画面是否真的清楚">
            <a:extLst xmlns:a="http://schemas.openxmlformats.org/drawingml/2006/main">
              <a:ext uri="{FF2B5EF4-FFF2-40B4-BE49-F238E27FC236}">
                <a16:creationId xmlns:a16="http://schemas.microsoft.com/office/drawing/2014/main" id="{D73A5A22-397E-489C-A9CD-8ABD5C96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1A98F"/>
                </a:solidFill>
              </a:defRPr>
            </a:pPr>
            <a:r>
              <a:rPr sz="1275" b="0">
                <a:solidFill>
                  <a:srgbClr val="B1A98F"/>
                </a:solidFill>
              </a:rPr>
              <a:t>AI 判断：布局已经完整</a:t>
            </a:r>
          </a:p>
        </p:txBody>
      </p:sp>
      <p:sp>
        <p:nvSpPr>
          <p:cNvPr id="18" name="case-check-案例 2｜画面是否真的清楚">
            <a:extLst xmlns:a="http://schemas.openxmlformats.org/drawingml/2006/main">
              <a:ext uri="{FF2B5EF4-FFF2-40B4-BE49-F238E27FC236}">
                <a16:creationId xmlns:a16="http://schemas.microsoft.com/office/drawing/2014/main" id="{546FE527-59D5-4AE0-860A-9ABDCB95D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14675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E7C2"/>
                </a:solidFill>
              </a:defRPr>
            </a:pPr>
            <a:r>
              <a:rPr sz="1275" b="0">
                <a:solidFill>
                  <a:srgbClr val="F4E7C2"/>
                </a:solidFill>
              </a:rPr>
              <a:t>真人审图：扫描线太抢眼、构筑区偏空</a:t>
            </a:r>
          </a:p>
        </p:txBody>
      </p:sp>
      <p:sp>
        <p:nvSpPr>
          <p:cNvPr id="19" name="case-decision-案例 2｜画面是否真的清楚">
            <a:extLst xmlns:a="http://schemas.openxmlformats.org/drawingml/2006/main">
              <a:ext uri="{FF2B5EF4-FFF2-40B4-BE49-F238E27FC236}">
                <a16:creationId xmlns:a16="http://schemas.microsoft.com/office/drawing/2014/main" id="{C8E5A874-A987-4C54-8612-8340EF3D2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114675"/>
            <a:ext cx="266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0B34A"/>
                </a:solidFill>
              </a:defRPr>
            </a:pPr>
            <a:r>
              <a:rPr sz="1275" b="1">
                <a:solidFill>
                  <a:srgbClr val="F0B34A"/>
                </a:solidFill>
              </a:rPr>
              <a:t>最后决定：降低扫描线、补充构筑增长信息，再次截图复核</a:t>
            </a:r>
          </a:p>
        </p:txBody>
      </p:sp>
      <p:sp>
        <p:nvSpPr>
          <p:cNvPr id="20" name="case-labels-案例 2｜画面是否真的清楚">
            <a:extLst xmlns:a="http://schemas.openxmlformats.org/drawingml/2006/main">
              <a:ext uri="{FF2B5EF4-FFF2-40B4-BE49-F238E27FC236}">
                <a16:creationId xmlns:a16="http://schemas.microsoft.com/office/drawing/2014/main" id="{0F133ED5-710F-4294-8420-761F428F6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052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1A98F"/>
                </a:solidFill>
              </a:defRPr>
            </a:pPr>
            <a:r>
              <a:rPr sz="1050" b="0">
                <a:solidFill>
                  <a:srgbClr val="B1A98F"/>
                </a:solidFill>
              </a:rPr>
              <a:t>AI 建议</a:t>
            </a:r>
          </a:p>
        </p:txBody>
      </p:sp>
      <p:sp>
        <p:nvSpPr>
          <p:cNvPr id="21" name="case-labelh-案例 2｜画面是否真的清楚">
            <a:extLst xmlns:a="http://schemas.openxmlformats.org/drawingml/2006/main">
              <a:ext uri="{FF2B5EF4-FFF2-40B4-BE49-F238E27FC236}">
                <a16:creationId xmlns:a16="http://schemas.microsoft.com/office/drawing/2014/main" id="{1715151B-7ED0-412E-93AB-303CC33B3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052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B34A"/>
                </a:solidFill>
              </a:defRPr>
            </a:pPr>
            <a:r>
              <a:rPr sz="1050" b="0">
                <a:solidFill>
                  <a:srgbClr val="F0B34A"/>
                </a:solidFill>
              </a:rPr>
              <a:t>人工验证</a:t>
            </a:r>
          </a:p>
        </p:txBody>
      </p:sp>
      <p:sp>
        <p:nvSpPr>
          <p:cNvPr id="22" name="case-labeld-案例 2｜画面是否真的清楚">
            <a:extLst xmlns:a="http://schemas.openxmlformats.org/drawingml/2006/main">
              <a:ext uri="{FF2B5EF4-FFF2-40B4-BE49-F238E27FC236}">
                <a16:creationId xmlns:a16="http://schemas.microsoft.com/office/drawing/2014/main" id="{FDC3902F-D6F8-4B89-BE26-A38D2468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9052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B34A"/>
                </a:solidFill>
              </a:defRPr>
            </a:pPr>
            <a:r>
              <a:rPr sz="1050" b="0">
                <a:solidFill>
                  <a:srgbClr val="F0B34A"/>
                </a:solidFill>
              </a:rPr>
              <a:t>最终取舍</a:t>
            </a:r>
          </a:p>
        </p:txBody>
      </p:sp>
      <p:sp>
        <p:nvSpPr>
          <p:cNvPr id="23" name="case-案例 3｜是不是代码 Bug">
            <a:extLst xmlns:a="http://schemas.openxmlformats.org/drawingml/2006/main">
              <a:ext uri="{FF2B5EF4-FFF2-40B4-BE49-F238E27FC236}">
                <a16:creationId xmlns:a16="http://schemas.microsoft.com/office/drawing/2014/main" id="{8D391653-DF34-438C-AC3E-F9D0868EE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43400"/>
            <a:ext cx="111252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C1B16"/>
          </a:solidFill>
          <a:ln xmlns:a="http://schemas.openxmlformats.org/drawingml/2006/main" w="9525">
            <a:solidFill>
              <a:srgbClr val="5A4B2C"/>
            </a:solidFill>
            <a:prstDash val="solid"/>
          </a:ln>
        </p:spPr>
      </p:sp>
      <p:sp>
        <p:nvSpPr>
          <p:cNvPr id="24" name="case-color-案例 3｜是不是代码 Bug">
            <a:extLst xmlns:a="http://schemas.openxmlformats.org/drawingml/2006/main">
              <a:ext uri="{FF2B5EF4-FFF2-40B4-BE49-F238E27FC236}">
                <a16:creationId xmlns:a16="http://schemas.microsoft.com/office/drawing/2014/main" id="{03AB7B7D-2990-43F9-A731-DC8295958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43400"/>
            <a:ext cx="95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ase-title-案例 3｜是不是代码 Bug">
            <a:extLst xmlns:a="http://schemas.openxmlformats.org/drawingml/2006/main">
              <a:ext uri="{FF2B5EF4-FFF2-40B4-BE49-F238E27FC236}">
                <a16:creationId xmlns:a16="http://schemas.microsoft.com/office/drawing/2014/main" id="{7E753065-D3A9-406E-85E6-864E50E7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672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AAE5A"/>
                </a:solidFill>
              </a:defRPr>
            </a:pPr>
            <a:r>
              <a:rPr sz="1650" b="1">
                <a:solidFill>
                  <a:srgbClr val="9AAE5A"/>
                </a:solidFill>
              </a:rPr>
              <a:t>案例 3｜是不是代码 Bug</a:t>
            </a:r>
          </a:p>
        </p:txBody>
      </p:sp>
      <p:sp>
        <p:nvSpPr>
          <p:cNvPr id="26" name="case-ai-案例 3｜是不是代码 Bug">
            <a:extLst xmlns:a="http://schemas.openxmlformats.org/drawingml/2006/main">
              <a:ext uri="{FF2B5EF4-FFF2-40B4-BE49-F238E27FC236}">
                <a16:creationId xmlns:a16="http://schemas.microsoft.com/office/drawing/2014/main" id="{13581863-A01E-4BFD-BEBE-D62EF0E1C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486275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1A98F"/>
                </a:solidFill>
              </a:defRPr>
            </a:pPr>
            <a:r>
              <a:rPr sz="1275" b="0">
                <a:solidFill>
                  <a:srgbClr val="B1A98F"/>
                </a:solidFill>
              </a:rPr>
              <a:t>AI 猜测：WASD 映射或焦点有问题</a:t>
            </a:r>
          </a:p>
        </p:txBody>
      </p:sp>
      <p:sp>
        <p:nvSpPr>
          <p:cNvPr id="27" name="case-check-案例 3｜是不是代码 Bug">
            <a:extLst xmlns:a="http://schemas.openxmlformats.org/drawingml/2006/main">
              <a:ext uri="{FF2B5EF4-FFF2-40B4-BE49-F238E27FC236}">
                <a16:creationId xmlns:a16="http://schemas.microsoft.com/office/drawing/2014/main" id="{EC0350B8-A892-447C-876B-B9AD79A1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86275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E7C2"/>
                </a:solidFill>
              </a:defRPr>
            </a:pPr>
            <a:r>
              <a:rPr sz="1275" b="0">
                <a:solidFill>
                  <a:srgbClr val="F4E7C2"/>
                </a:solidFill>
              </a:rPr>
              <a:t>真人日志：英文输入正常，中文输入法没有送出可用按键</a:t>
            </a:r>
          </a:p>
        </p:txBody>
      </p:sp>
      <p:sp>
        <p:nvSpPr>
          <p:cNvPr id="28" name="case-decision-案例 3｜是不是代码 Bug">
            <a:extLst xmlns:a="http://schemas.openxmlformats.org/drawingml/2006/main">
              <a:ext uri="{FF2B5EF4-FFF2-40B4-BE49-F238E27FC236}">
                <a16:creationId xmlns:a16="http://schemas.microsoft.com/office/drawing/2014/main" id="{FF86BF65-36D8-458A-842B-9423305A7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486275"/>
            <a:ext cx="266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AAE5A"/>
                </a:solidFill>
              </a:defRPr>
            </a:pPr>
            <a:r>
              <a:rPr sz="1275" b="1">
                <a:solidFill>
                  <a:srgbClr val="9AAE5A"/>
                </a:solidFill>
              </a:rPr>
              <a:t>最后决定：撤回无效旁路；现场切英文输入法，不改稳定代码</a:t>
            </a:r>
          </a:p>
        </p:txBody>
      </p:sp>
      <p:sp>
        <p:nvSpPr>
          <p:cNvPr id="29" name="case-labels-案例 3｜是不是代码 Bug">
            <a:extLst xmlns:a="http://schemas.openxmlformats.org/drawingml/2006/main">
              <a:ext uri="{FF2B5EF4-FFF2-40B4-BE49-F238E27FC236}">
                <a16:creationId xmlns:a16="http://schemas.microsoft.com/office/drawing/2014/main" id="{485C7BDC-DD28-4089-B1BB-1D65EF8B2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2768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1A98F"/>
                </a:solidFill>
              </a:defRPr>
            </a:pPr>
            <a:r>
              <a:rPr sz="1050" b="0">
                <a:solidFill>
                  <a:srgbClr val="B1A98F"/>
                </a:solidFill>
              </a:rPr>
              <a:t>AI 建议</a:t>
            </a:r>
          </a:p>
        </p:txBody>
      </p:sp>
      <p:sp>
        <p:nvSpPr>
          <p:cNvPr id="30" name="case-labelh-案例 3｜是不是代码 Bug">
            <a:extLst xmlns:a="http://schemas.openxmlformats.org/drawingml/2006/main">
              <a:ext uri="{FF2B5EF4-FFF2-40B4-BE49-F238E27FC236}">
                <a16:creationId xmlns:a16="http://schemas.microsoft.com/office/drawing/2014/main" id="{802BAB80-E858-469E-A477-EA74040A7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768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B34A"/>
                </a:solidFill>
              </a:defRPr>
            </a:pPr>
            <a:r>
              <a:rPr sz="1050" b="0">
                <a:solidFill>
                  <a:srgbClr val="F0B34A"/>
                </a:solidFill>
              </a:rPr>
              <a:t>人工验证</a:t>
            </a:r>
          </a:p>
        </p:txBody>
      </p:sp>
      <p:sp>
        <p:nvSpPr>
          <p:cNvPr id="31" name="case-labeld-案例 3｜是不是代码 Bug">
            <a:extLst xmlns:a="http://schemas.openxmlformats.org/drawingml/2006/main">
              <a:ext uri="{FF2B5EF4-FFF2-40B4-BE49-F238E27FC236}">
                <a16:creationId xmlns:a16="http://schemas.microsoft.com/office/drawing/2014/main" id="{AC342A03-656F-47F1-8B2D-8E7A0DA11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2768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AE5A"/>
                </a:solidFill>
              </a:defRPr>
            </a:pPr>
            <a:r>
              <a:rPr sz="1050" b="0">
                <a:solidFill>
                  <a:srgbClr val="9AAE5A"/>
                </a:solidFill>
              </a:rPr>
              <a:t>最终取舍</a:t>
            </a:r>
          </a:p>
        </p:txBody>
      </p:sp>
      <p:sp>
        <p:nvSpPr>
          <p:cNvPr id="32" name="ai-boundary">
            <a:extLst xmlns:a="http://schemas.openxmlformats.org/drawingml/2006/main">
              <a:ext uri="{FF2B5EF4-FFF2-40B4-BE49-F238E27FC236}">
                <a16:creationId xmlns:a16="http://schemas.microsoft.com/office/drawing/2014/main" id="{F34856C3-7B50-4007-A590-EC07CEFA9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48350"/>
            <a:ext cx="11125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B2A22"/>
          </a:solidFill>
          <a:ln xmlns:a="http://schemas.openxmlformats.org/drawingml/2006/main" w="9525">
            <a:solidFill>
              <a:srgbClr val="F06464"/>
            </a:solidFill>
            <a:prstDash val="solid"/>
          </a:ln>
        </p:spPr>
      </p:sp>
      <p:sp>
        <p:nvSpPr>
          <p:cNvPr id="33" name="ai-boundary-text">
            <a:extLst xmlns:a="http://schemas.openxmlformats.org/drawingml/2006/main">
              <a:ext uri="{FF2B5EF4-FFF2-40B4-BE49-F238E27FC236}">
                <a16:creationId xmlns:a16="http://schemas.microsoft.com/office/drawing/2014/main" id="{C177F888-FA4A-42DE-A34E-22C89A979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91225"/>
            <a:ext cx="1078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4E7C2"/>
                </a:solidFill>
              </a:defRPr>
            </a:pPr>
            <a:r>
              <a:rPr sz="1575" b="1">
                <a:solidFill>
                  <a:srgbClr val="F4E7C2"/>
                </a:solidFill>
              </a:rPr>
              <a:t>能力边界：AI 能加速方案、代码和检查，但不能代替真实运行、盲测、版权判断与负责人确认。</a:t>
            </a:r>
          </a:p>
        </p:txBody>
      </p:sp>
    </p:spTree>
    <p:extLst>
      <p:ext uri="{BB962C8B-B14F-4D97-AF65-F5344CB8AC3E}">
        <p14:creationId xmlns:p14="http://schemas.microsoft.com/office/powerpoint/2010/main" val="204088898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0B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ection-11">
            <a:extLst xmlns:a="http://schemas.openxmlformats.org/drawingml/2006/main">
              <a:ext uri="{FF2B5EF4-FFF2-40B4-BE49-F238E27FC236}">
                <a16:creationId xmlns:a16="http://schemas.microsoft.com/office/drawing/2014/main" id="{5E5E699D-2B31-4283-B5F1-40A6FA94E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0B34A"/>
                </a:solidFill>
              </a:defRPr>
            </a:pPr>
            <a:r>
              <a:rPr sz="1200" b="1">
                <a:solidFill>
                  <a:srgbClr val="F0B34A"/>
                </a:solidFill>
              </a:rPr>
              <a:t>08 / 验收证据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D55FC445-7512-4452-A35E-D123A8FB0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E7C2"/>
                </a:solidFill>
              </a:defRPr>
            </a:pPr>
            <a:r>
              <a:rPr sz="3600" b="1">
                <a:solidFill>
                  <a:srgbClr val="F4E7C2"/>
                </a:solidFill>
              </a:rPr>
              <a:t>终验结论：创新可见、流程跑通、交付可复现</a:t>
            </a:r>
          </a:p>
        </p:txBody>
      </p:sp>
      <p:sp>
        <p:nvSpPr>
          <p:cNvPr id="3" name="rule-11">
            <a:extLst xmlns:a="http://schemas.openxmlformats.org/drawingml/2006/main">
              <a:ext uri="{FF2B5EF4-FFF2-40B4-BE49-F238E27FC236}">
                <a16:creationId xmlns:a16="http://schemas.microsoft.com/office/drawing/2014/main" id="{E795FBAC-981C-44C0-A0AD-5B217F3BE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239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4B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1">
            <a:extLst xmlns:a="http://schemas.openxmlformats.org/drawingml/2006/main">
              <a:ext uri="{FF2B5EF4-FFF2-40B4-BE49-F238E27FC236}">
                <a16:creationId xmlns:a16="http://schemas.microsoft.com/office/drawing/2014/main" id="{208677BE-C79C-4C11-B492-81A820F4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1A98F"/>
                </a:solidFill>
              </a:defRPr>
            </a:pPr>
            <a:r>
              <a:rPr sz="1200" b="0">
                <a:solidFill>
                  <a:srgbClr val="B1A98F"/>
                </a:solidFill>
              </a:rPr>
              <a:t>11</a:t>
            </a:r>
          </a:p>
        </p:txBody>
      </p:sp>
      <p:sp>
        <p:nvSpPr>
          <p:cNvPr id="5" name="evidence-lead">
            <a:extLst xmlns:a="http://schemas.openxmlformats.org/drawingml/2006/main">
              <a:ext uri="{FF2B5EF4-FFF2-40B4-BE49-F238E27FC236}">
                <a16:creationId xmlns:a16="http://schemas.microsoft.com/office/drawing/2014/main" id="{9957DCE2-470F-40DA-A57C-EE310895B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E7C2"/>
                </a:solidFill>
              </a:defRPr>
            </a:pPr>
            <a:r>
              <a:rPr sz="1875" b="0">
                <a:solidFill>
                  <a:srgbClr val="F4E7C2"/>
                </a:solidFill>
              </a:rPr>
              <a:t>项目证据覆盖自动化、完整路径、真人盲测与发布包，而不是只展示代码截图。</a:t>
            </a:r>
          </a:p>
        </p:txBody>
      </p:sp>
      <p:sp>
        <p:nvSpPr>
          <p:cNvPr id="6" name="metric-bg-56">
            <a:extLst xmlns:a="http://schemas.openxmlformats.org/drawingml/2006/main">
              <a:ext uri="{FF2B5EF4-FFF2-40B4-BE49-F238E27FC236}">
                <a16:creationId xmlns:a16="http://schemas.microsoft.com/office/drawing/2014/main" id="{0B21B658-FDBD-42C9-8AFC-55548A07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0"/>
            <a:ext cx="32766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C1B16"/>
          </a:solidFill>
          <a:ln xmlns:a="http://schemas.openxmlformats.org/drawingml/2006/main" w="19050">
            <a:solidFill>
              <a:srgbClr val="5A4B2C"/>
            </a:solidFill>
            <a:prstDash val="solid"/>
          </a:ln>
        </p:spPr>
      </p:sp>
      <p:sp>
        <p:nvSpPr>
          <p:cNvPr id="7" name="metric-accent-56">
            <a:extLst xmlns:a="http://schemas.openxmlformats.org/drawingml/2006/main">
              <a:ext uri="{FF2B5EF4-FFF2-40B4-BE49-F238E27FC236}">
                <a16:creationId xmlns:a16="http://schemas.microsoft.com/office/drawing/2014/main" id="{9BCD8A19-0878-4287-A969-8A3040DF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9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etric-value-56">
            <a:extLst xmlns:a="http://schemas.openxmlformats.org/drawingml/2006/main">
              <a:ext uri="{FF2B5EF4-FFF2-40B4-BE49-F238E27FC236}">
                <a16:creationId xmlns:a16="http://schemas.microsoft.com/office/drawing/2014/main" id="{4BC5ACD5-C1E4-4713-8A95-B226D47CA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2762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D9A93D"/>
                </a:solidFill>
              </a:defRPr>
            </a:pPr>
            <a:r>
              <a:rPr sz="5400" b="1">
                <a:solidFill>
                  <a:srgbClr val="D9A93D"/>
                </a:solidFill>
              </a:rPr>
              <a:t>146</a:t>
            </a:r>
          </a:p>
        </p:txBody>
      </p:sp>
      <p:sp>
        <p:nvSpPr>
          <p:cNvPr id="9" name="metric-label-56">
            <a:extLst xmlns:a="http://schemas.openxmlformats.org/drawingml/2006/main">
              <a:ext uri="{FF2B5EF4-FFF2-40B4-BE49-F238E27FC236}">
                <a16:creationId xmlns:a16="http://schemas.microsoft.com/office/drawing/2014/main" id="{36102F8C-8169-46EA-AF7F-A2B2E9F9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24375"/>
            <a:ext cx="276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4E7C2"/>
                </a:solidFill>
              </a:defRPr>
            </a:pPr>
            <a:r>
              <a:rPr sz="1725" b="0">
                <a:solidFill>
                  <a:srgbClr val="F4E7C2"/>
                </a:solidFill>
              </a:rPr>
              <a:t>项自动化测试全部通过</a:t>
            </a:r>
          </a:p>
          <a:p xmlns:a="http://schemas.openxmlformats.org/drawingml/2006/main">
            <a:pPr algn="l">
              <a:defRPr sz="1725" b="0">
                <a:solidFill>
                  <a:srgbClr val="F4E7C2"/>
                </a:solidFill>
              </a:defRPr>
            </a:pPr>
            <a:r>
              <a:rPr sz="1725" b="0">
                <a:solidFill>
                  <a:srgbClr val="F4E7C2"/>
                </a:solidFill>
              </a:rPr>
              <a:t>覆盖模拟、AI、地图、UI 与双关</a:t>
            </a:r>
          </a:p>
        </p:txBody>
      </p:sp>
      <p:sp>
        <p:nvSpPr>
          <p:cNvPr id="10" name="metric-bg-468">
            <a:extLst xmlns:a="http://schemas.openxmlformats.org/drawingml/2006/main">
              <a:ext uri="{FF2B5EF4-FFF2-40B4-BE49-F238E27FC236}">
                <a16:creationId xmlns:a16="http://schemas.microsoft.com/office/drawing/2014/main" id="{282F409E-7CE8-483D-824B-BCDFD968E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48000"/>
            <a:ext cx="32766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C1B16"/>
          </a:solidFill>
          <a:ln xmlns:a="http://schemas.openxmlformats.org/drawingml/2006/main" w="19050">
            <a:solidFill>
              <a:srgbClr val="5A4B2C"/>
            </a:solidFill>
            <a:prstDash val="solid"/>
          </a:ln>
        </p:spPr>
      </p:sp>
      <p:sp>
        <p:nvSpPr>
          <p:cNvPr id="11" name="metric-accent-468">
            <a:extLst xmlns:a="http://schemas.openxmlformats.org/drawingml/2006/main">
              <a:ext uri="{FF2B5EF4-FFF2-40B4-BE49-F238E27FC236}">
                <a16:creationId xmlns:a16="http://schemas.microsoft.com/office/drawing/2014/main" id="{2B160040-7C8D-4B9A-B2D0-3BCCBFDA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4800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etric-value-468">
            <a:extLst xmlns:a="http://schemas.openxmlformats.org/drawingml/2006/main">
              <a:ext uri="{FF2B5EF4-FFF2-40B4-BE49-F238E27FC236}">
                <a16:creationId xmlns:a16="http://schemas.microsoft.com/office/drawing/2014/main" id="{17313A28-6D9E-40D3-BEAF-0C9FF222A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333750"/>
            <a:ext cx="2762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9AAE5A"/>
                </a:solidFill>
              </a:defRPr>
            </a:pPr>
            <a:r>
              <a:rPr sz="5400" b="1">
                <a:solidFill>
                  <a:srgbClr val="9AAE5A"/>
                </a:solidFill>
              </a:rPr>
              <a:t>100%</a:t>
            </a:r>
          </a:p>
        </p:txBody>
      </p:sp>
      <p:sp>
        <p:nvSpPr>
          <p:cNvPr id="13" name="metric-label-468">
            <a:extLst xmlns:a="http://schemas.openxmlformats.org/drawingml/2006/main">
              <a:ext uri="{FF2B5EF4-FFF2-40B4-BE49-F238E27FC236}">
                <a16:creationId xmlns:a16="http://schemas.microsoft.com/office/drawing/2014/main" id="{8E617F1D-0F75-4700-8D7E-516560E5C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524375"/>
            <a:ext cx="276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4E7C2"/>
                </a:solidFill>
              </a:defRPr>
            </a:pPr>
            <a:r>
              <a:rPr sz="1725" b="0">
                <a:solidFill>
                  <a:srgbClr val="F4E7C2"/>
                </a:solidFill>
              </a:rPr>
              <a:t>3/3 新玩家理解预演与逆相</a:t>
            </a:r>
          </a:p>
        </p:txBody>
      </p:sp>
      <p:sp>
        <p:nvSpPr>
          <p:cNvPr id="14" name="metric-bg-880">
            <a:extLst xmlns:a="http://schemas.openxmlformats.org/drawingml/2006/main">
              <a:ext uri="{FF2B5EF4-FFF2-40B4-BE49-F238E27FC236}">
                <a16:creationId xmlns:a16="http://schemas.microsoft.com/office/drawing/2014/main" id="{1085A819-EE1D-4BA9-9B28-E7A61BE7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48000"/>
            <a:ext cx="32766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C1B16"/>
          </a:solidFill>
          <a:ln xmlns:a="http://schemas.openxmlformats.org/drawingml/2006/main" w="19050">
            <a:solidFill>
              <a:srgbClr val="5A4B2C"/>
            </a:solidFill>
            <a:prstDash val="solid"/>
          </a:ln>
        </p:spPr>
      </p:sp>
      <p:sp>
        <p:nvSpPr>
          <p:cNvPr id="15" name="metric-accent-880">
            <a:extLst xmlns:a="http://schemas.openxmlformats.org/drawingml/2006/main">
              <a:ext uri="{FF2B5EF4-FFF2-40B4-BE49-F238E27FC236}">
                <a16:creationId xmlns:a16="http://schemas.microsoft.com/office/drawing/2014/main" id="{4FC47799-D0DB-45B7-8885-C971C9FD5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4800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etric-value-880">
            <a:extLst xmlns:a="http://schemas.openxmlformats.org/drawingml/2006/main">
              <a:ext uri="{FF2B5EF4-FFF2-40B4-BE49-F238E27FC236}">
                <a16:creationId xmlns:a16="http://schemas.microsoft.com/office/drawing/2014/main" id="{F7BB4A37-16D2-4A6F-AA71-0D27AC33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33750"/>
            <a:ext cx="2762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0B34A"/>
                </a:solidFill>
              </a:defRPr>
            </a:pPr>
            <a:r>
              <a:rPr sz="5400" b="1">
                <a:solidFill>
                  <a:srgbClr val="F0B34A"/>
                </a:solidFill>
              </a:rPr>
              <a:t>2/3</a:t>
            </a:r>
          </a:p>
        </p:txBody>
      </p:sp>
      <p:sp>
        <p:nvSpPr>
          <p:cNvPr id="17" name="metric-label-880">
            <a:extLst xmlns:a="http://schemas.openxmlformats.org/drawingml/2006/main">
              <a:ext uri="{FF2B5EF4-FFF2-40B4-BE49-F238E27FC236}">
                <a16:creationId xmlns:a16="http://schemas.microsoft.com/office/drawing/2014/main" id="{09BF3088-00AF-4945-8EDC-AD7795C0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524375"/>
            <a:ext cx="276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4E7C2"/>
                </a:solidFill>
              </a:defRPr>
            </a:pPr>
            <a:r>
              <a:rPr sz="1725" b="0">
                <a:solidFill>
                  <a:srgbClr val="F4E7C2"/>
                </a:solidFill>
              </a:rPr>
              <a:t>新玩家无指导通关</a:t>
            </a:r>
          </a:p>
          <a:p xmlns:a="http://schemas.openxmlformats.org/drawingml/2006/main">
            <a:pPr algn="l">
              <a:defRPr sz="1725" b="0">
                <a:solidFill>
                  <a:srgbClr val="F4E7C2"/>
                </a:solidFill>
              </a:defRPr>
            </a:pPr>
            <a:r>
              <a:rPr sz="1725" b="0">
                <a:solidFill>
                  <a:srgbClr val="F4E7C2"/>
                </a:solidFill>
              </a:rPr>
              <a:t>观察者介入 0/3、无阻断问题</a:t>
            </a:r>
          </a:p>
        </p:txBody>
      </p:sp>
      <p:sp>
        <p:nvSpPr>
          <p:cNvPr id="18" name="delivery-strip">
            <a:extLst xmlns:a="http://schemas.openxmlformats.org/drawingml/2006/main">
              <a:ext uri="{FF2B5EF4-FFF2-40B4-BE49-F238E27FC236}">
                <a16:creationId xmlns:a16="http://schemas.microsoft.com/office/drawing/2014/main" id="{D9E033D8-B3BF-46A1-9CEF-7696CE8F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111252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2B2A22"/>
          </a:solidFill>
          <a:ln xmlns:a="http://schemas.openxmlformats.org/drawingml/2006/main" w="9525">
            <a:solidFill>
              <a:srgbClr val="5A4B2C"/>
            </a:solidFill>
            <a:prstDash val="solid"/>
          </a:ln>
        </p:spPr>
      </p:sp>
      <p:sp>
        <p:nvSpPr>
          <p:cNvPr id="19" name="delivery-text">
            <a:extLst xmlns:a="http://schemas.openxmlformats.org/drawingml/2006/main">
              <a:ext uri="{FF2B5EF4-FFF2-40B4-BE49-F238E27FC236}">
                <a16:creationId xmlns:a16="http://schemas.microsoft.com/office/drawing/2014/main" id="{3242B847-915A-4F5E-8EC1-11BCB9F1D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72175"/>
            <a:ext cx="1074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4E7C2"/>
                </a:solidFill>
              </a:defRPr>
            </a:pPr>
            <a:r>
              <a:rPr sz="1575" b="1">
                <a:solidFill>
                  <a:srgbClr val="F4E7C2"/>
                </a:solidFill>
              </a:rPr>
              <a:t>Windows 发布包已交付 · 动作模式 / 双关展示两条启动检查通过 · 固定关卡编号可复现演示</a:t>
            </a:r>
          </a:p>
        </p:txBody>
      </p:sp>
      <p:sp>
        <p:nvSpPr>
          <p:cNvPr id="20" name="close-line">
            <a:extLst xmlns:a="http://schemas.openxmlformats.org/drawingml/2006/main">
              <a:ext uri="{FF2B5EF4-FFF2-40B4-BE49-F238E27FC236}">
                <a16:creationId xmlns:a16="http://schemas.microsoft.com/office/drawing/2014/main" id="{043F18EA-7190-41AE-B152-12627CBA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19350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C58A32"/>
                </a:solidFill>
              </a:defRPr>
            </a:pPr>
            <a:r>
              <a:rPr sz="2325" b="1">
                <a:solidFill>
                  <a:srgbClr val="C58A32"/>
                </a:solidFill>
              </a:rPr>
              <a:t>现在请看现场演示：同样三招，顺序如何改写结局。</a:t>
            </a:r>
          </a:p>
        </p:txBody>
      </p:sp>
    </p:spTree>
    <p:extLst>
      <p:ext uri="{BB962C8B-B14F-4D97-AF65-F5344CB8AC3E}">
        <p14:creationId xmlns:p14="http://schemas.microsoft.com/office/powerpoint/2010/main" val="102432815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0B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ection-12">
            <a:extLst xmlns:a="http://schemas.openxmlformats.org/drawingml/2006/main">
              <a:ext uri="{FF2B5EF4-FFF2-40B4-BE49-F238E27FC236}">
                <a16:creationId xmlns:a16="http://schemas.microsoft.com/office/drawing/2014/main" id="{683B7671-054B-407D-9C66-4E0FC795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0B34A"/>
                </a:solidFill>
              </a:defRPr>
            </a:pPr>
            <a:r>
              <a:rPr sz="1200" b="1">
                <a:solidFill>
                  <a:srgbClr val="F0B34A"/>
                </a:solidFill>
              </a:rPr>
              <a:t>09 / 可选择演示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549E7E65-F37A-4B79-819A-44117460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E7C2"/>
                </a:solidFill>
              </a:defRPr>
            </a:pPr>
            <a:r>
              <a:rPr sz="3600" b="1">
                <a:solidFill>
                  <a:srgbClr val="F4E7C2"/>
                </a:solidFill>
              </a:rPr>
              <a:t>现场不必全跑：按时间选择一条路线，也能覆盖评分点</a:t>
            </a:r>
          </a:p>
        </p:txBody>
      </p:sp>
      <p:sp>
        <p:nvSpPr>
          <p:cNvPr id="3" name="rule-12">
            <a:extLst xmlns:a="http://schemas.openxmlformats.org/drawingml/2006/main">
              <a:ext uri="{FF2B5EF4-FFF2-40B4-BE49-F238E27FC236}">
                <a16:creationId xmlns:a16="http://schemas.microsoft.com/office/drawing/2014/main" id="{A2DB5408-3364-4166-93A7-850C67F9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239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4B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2">
            <a:extLst xmlns:a="http://schemas.openxmlformats.org/drawingml/2006/main">
              <a:ext uri="{FF2B5EF4-FFF2-40B4-BE49-F238E27FC236}">
                <a16:creationId xmlns:a16="http://schemas.microsoft.com/office/drawing/2014/main" id="{D338504F-ECFD-41AD-AC61-C91FD9CA2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1A98F"/>
                </a:solidFill>
              </a:defRPr>
            </a:pPr>
            <a:r>
              <a:rPr sz="1200" b="0">
                <a:solidFill>
                  <a:srgbClr val="B1A98F"/>
                </a:solidFill>
              </a:rPr>
              <a:t>12</a:t>
            </a:r>
          </a:p>
        </p:txBody>
      </p:sp>
      <p:sp>
        <p:nvSpPr>
          <p:cNvPr id="5" name="route-A｜主创新 45–60 秒">
            <a:extLst xmlns:a="http://schemas.openxmlformats.org/drawingml/2006/main">
              <a:ext uri="{FF2B5EF4-FFF2-40B4-BE49-F238E27FC236}">
                <a16:creationId xmlns:a16="http://schemas.microsoft.com/office/drawing/2014/main" id="{DCA362C7-F515-48CD-8D6B-E66CB06C3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11252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C1B16"/>
          </a:solidFill>
          <a:ln xmlns:a="http://schemas.openxmlformats.org/drawingml/2006/main" w="19050">
            <a:solidFill>
              <a:srgbClr val="D9A93D"/>
            </a:solidFill>
            <a:prstDash val="solid"/>
          </a:ln>
        </p:spPr>
      </p:sp>
      <p:sp>
        <p:nvSpPr>
          <p:cNvPr id="6" name="route-title-A｜主创新 45–60 秒">
            <a:extLst xmlns:a="http://schemas.openxmlformats.org/drawingml/2006/main">
              <a:ext uri="{FF2B5EF4-FFF2-40B4-BE49-F238E27FC236}">
                <a16:creationId xmlns:a16="http://schemas.microsoft.com/office/drawing/2014/main" id="{04CAA345-59C8-4A2D-A59B-A9A5D29C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28800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9A93D"/>
                </a:solidFill>
              </a:defRPr>
            </a:pPr>
            <a:r>
              <a:rPr sz="1875" b="1">
                <a:solidFill>
                  <a:srgbClr val="D9A93D"/>
                </a:solidFill>
              </a:rPr>
              <a:t>A｜主创新 45–60 秒</a:t>
            </a:r>
          </a:p>
        </p:txBody>
      </p:sp>
      <p:sp>
        <p:nvSpPr>
          <p:cNvPr id="7" name="route-path-A｜主创新 45–60 秒">
            <a:extLst xmlns:a="http://schemas.openxmlformats.org/drawingml/2006/main">
              <a:ext uri="{FF2B5EF4-FFF2-40B4-BE49-F238E27FC236}">
                <a16:creationId xmlns:a16="http://schemas.microsoft.com/office/drawing/2014/main" id="{F8BE042A-F90A-4A87-BAF9-AA001BC12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838325"/>
            <a:ext cx="5753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E7C2"/>
                </a:solidFill>
              </a:defRPr>
            </a:pPr>
            <a:r>
              <a:rPr sz="1500" b="0">
                <a:solidFill>
                  <a:srgbClr val="F4E7C2"/>
                </a:solidFill>
              </a:rPr>
              <a:t>Q 进入战术模式 → 调整前三拍 → 看战损刷新 → Enter 执行</a:t>
            </a:r>
          </a:p>
        </p:txBody>
      </p:sp>
      <p:sp>
        <p:nvSpPr>
          <p:cNvPr id="8" name="route-score-bg-A｜主创新 45–60 秒">
            <a:extLst xmlns:a="http://schemas.openxmlformats.org/drawingml/2006/main">
              <a:ext uri="{FF2B5EF4-FFF2-40B4-BE49-F238E27FC236}">
                <a16:creationId xmlns:a16="http://schemas.microsoft.com/office/drawing/2014/main" id="{6734D6D8-7C01-44D8-9BC2-3CC441486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885950"/>
            <a:ext cx="15811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2B2A22"/>
          </a:solidFill>
          <a:ln xmlns:a="http://schemas.openxmlformats.org/drawingml/2006/main" w="9525">
            <a:solidFill>
              <a:srgbClr val="5A4B2C"/>
            </a:solidFill>
            <a:prstDash val="solid"/>
          </a:ln>
        </p:spPr>
      </p:sp>
      <p:sp>
        <p:nvSpPr>
          <p:cNvPr id="9" name="route-score-A｜主创新 45–60 秒">
            <a:extLst xmlns:a="http://schemas.openxmlformats.org/drawingml/2006/main">
              <a:ext uri="{FF2B5EF4-FFF2-40B4-BE49-F238E27FC236}">
                <a16:creationId xmlns:a16="http://schemas.microsoft.com/office/drawing/2014/main" id="{E25D42D2-49F4-43DE-85CF-E22EC89E4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990725"/>
            <a:ext cx="1352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9A93D"/>
                </a:solidFill>
              </a:defRPr>
            </a:pPr>
            <a:r>
              <a:rPr sz="1275" b="1">
                <a:solidFill>
                  <a:srgbClr val="D9A93D"/>
                </a:solidFill>
              </a:rPr>
              <a:t>创新 + 功能 + 技术</a:t>
            </a:r>
          </a:p>
        </p:txBody>
      </p:sp>
      <p:sp>
        <p:nvSpPr>
          <p:cNvPr id="10" name="route-B｜完整玩法 60–90 秒">
            <a:extLst xmlns:a="http://schemas.openxmlformats.org/drawingml/2006/main">
              <a:ext uri="{FF2B5EF4-FFF2-40B4-BE49-F238E27FC236}">
                <a16:creationId xmlns:a16="http://schemas.microsoft.com/office/drawing/2014/main" id="{0C98891D-451C-4871-AF43-04D11BE1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14650"/>
            <a:ext cx="111252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C1B16"/>
          </a:solidFill>
          <a:ln xmlns:a="http://schemas.openxmlformats.org/drawingml/2006/main" w="19050">
            <a:solidFill>
              <a:srgbClr val="F0B34A"/>
            </a:solidFill>
            <a:prstDash val="solid"/>
          </a:ln>
        </p:spPr>
      </p:sp>
      <p:sp>
        <p:nvSpPr>
          <p:cNvPr id="11" name="route-title-B｜完整玩法 60–90 秒">
            <a:extLst xmlns:a="http://schemas.openxmlformats.org/drawingml/2006/main">
              <a:ext uri="{FF2B5EF4-FFF2-40B4-BE49-F238E27FC236}">
                <a16:creationId xmlns:a16="http://schemas.microsoft.com/office/drawing/2014/main" id="{4DCD54FC-E5AB-4107-B5C0-AB2D5C90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0B34A"/>
                </a:solidFill>
              </a:defRPr>
            </a:pPr>
            <a:r>
              <a:rPr sz="1875" b="1">
                <a:solidFill>
                  <a:srgbClr val="F0B34A"/>
                </a:solidFill>
              </a:rPr>
              <a:t>B｜完整玩法 60–90 秒</a:t>
            </a:r>
          </a:p>
        </p:txBody>
      </p:sp>
      <p:sp>
        <p:nvSpPr>
          <p:cNvPr id="12" name="route-path-B｜完整玩法 60–90 秒">
            <a:extLst xmlns:a="http://schemas.openxmlformats.org/drawingml/2006/main">
              <a:ext uri="{FF2B5EF4-FFF2-40B4-BE49-F238E27FC236}">
                <a16:creationId xmlns:a16="http://schemas.microsoft.com/office/drawing/2014/main" id="{95FA7C60-22CF-45E8-A30C-7BD8D027B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076575"/>
            <a:ext cx="5753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E7C2"/>
                </a:solidFill>
              </a:defRPr>
            </a:pPr>
            <a:r>
              <a:rPr sz="1500" b="0">
                <a:solidFill>
                  <a:srgbClr val="F4E7C2"/>
                </a:solidFill>
              </a:rPr>
              <a:t>近/远程切换 → 闪避/牵引 → 奖励三选一 → Boss 十字预警</a:t>
            </a:r>
          </a:p>
        </p:txBody>
      </p:sp>
      <p:sp>
        <p:nvSpPr>
          <p:cNvPr id="13" name="route-score-bg-B｜完整玩法 60–90 秒">
            <a:extLst xmlns:a="http://schemas.openxmlformats.org/drawingml/2006/main">
              <a:ext uri="{FF2B5EF4-FFF2-40B4-BE49-F238E27FC236}">
                <a16:creationId xmlns:a16="http://schemas.microsoft.com/office/drawing/2014/main" id="{366B61A0-EF2C-4991-A71F-CE9ABDCC0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124200"/>
            <a:ext cx="15811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2B2A22"/>
          </a:solidFill>
          <a:ln xmlns:a="http://schemas.openxmlformats.org/drawingml/2006/main" w="9525">
            <a:solidFill>
              <a:srgbClr val="5A4B2C"/>
            </a:solidFill>
            <a:prstDash val="solid"/>
          </a:ln>
        </p:spPr>
      </p:sp>
      <p:sp>
        <p:nvSpPr>
          <p:cNvPr id="14" name="route-score-B｜完整玩法 60–90 秒">
            <a:extLst xmlns:a="http://schemas.openxmlformats.org/drawingml/2006/main">
              <a:ext uri="{FF2B5EF4-FFF2-40B4-BE49-F238E27FC236}">
                <a16:creationId xmlns:a16="http://schemas.microsoft.com/office/drawing/2014/main" id="{1E071AC2-EEDA-4827-B4F7-667B1B58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28975"/>
            <a:ext cx="1352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0B34A"/>
                </a:solidFill>
              </a:defRPr>
            </a:pPr>
            <a:r>
              <a:rPr sz="1275" b="1">
                <a:solidFill>
                  <a:srgbClr val="F0B34A"/>
                </a:solidFill>
              </a:rPr>
              <a:t>功能 + 界面 + 演示</a:t>
            </a:r>
          </a:p>
        </p:txBody>
      </p:sp>
      <p:sp>
        <p:nvSpPr>
          <p:cNvPr id="15" name="route-C｜两关差异 60 秒">
            <a:extLst xmlns:a="http://schemas.openxmlformats.org/drawingml/2006/main">
              <a:ext uri="{FF2B5EF4-FFF2-40B4-BE49-F238E27FC236}">
                <a16:creationId xmlns:a16="http://schemas.microsoft.com/office/drawing/2014/main" id="{5A5863A4-E146-46D8-8DD4-8E6583AE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52900"/>
            <a:ext cx="111252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C1B16"/>
          </a:solidFill>
          <a:ln xmlns:a="http://schemas.openxmlformats.org/drawingml/2006/main" w="19050">
            <a:solidFill>
              <a:srgbClr val="C58A32"/>
            </a:solidFill>
            <a:prstDash val="solid"/>
          </a:ln>
        </p:spPr>
      </p:sp>
      <p:sp>
        <p:nvSpPr>
          <p:cNvPr id="16" name="route-title-C｜两关差异 60 秒">
            <a:extLst xmlns:a="http://schemas.openxmlformats.org/drawingml/2006/main">
              <a:ext uri="{FF2B5EF4-FFF2-40B4-BE49-F238E27FC236}">
                <a16:creationId xmlns:a16="http://schemas.microsoft.com/office/drawing/2014/main" id="{EBAC8C1A-B3D4-4782-97C3-31B296EF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58A32"/>
                </a:solidFill>
              </a:defRPr>
            </a:pPr>
            <a:r>
              <a:rPr sz="1875" b="1">
                <a:solidFill>
                  <a:srgbClr val="C58A32"/>
                </a:solidFill>
              </a:rPr>
              <a:t>C｜两关差异 60 秒</a:t>
            </a:r>
          </a:p>
        </p:txBody>
      </p:sp>
      <p:sp>
        <p:nvSpPr>
          <p:cNvPr id="17" name="route-path-C｜两关差异 60 秒">
            <a:extLst xmlns:a="http://schemas.openxmlformats.org/drawingml/2006/main">
              <a:ext uri="{FF2B5EF4-FFF2-40B4-BE49-F238E27FC236}">
                <a16:creationId xmlns:a16="http://schemas.microsoft.com/office/drawing/2014/main" id="{87710643-9F5F-41DC-A85D-997EB321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314825"/>
            <a:ext cx="5753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E7C2"/>
                </a:solidFill>
              </a:defRPr>
            </a:pPr>
            <a:r>
              <a:rPr sz="1500" b="0">
                <a:solidFill>
                  <a:srgbClr val="F4E7C2"/>
                </a:solidFill>
              </a:rPr>
              <a:t>Showcase：稳定 1→2→3 → 逆相 3→2→1 → 相位锚锁相</a:t>
            </a:r>
          </a:p>
        </p:txBody>
      </p:sp>
      <p:sp>
        <p:nvSpPr>
          <p:cNvPr id="18" name="route-score-bg-C｜两关差异 60 秒">
            <a:extLst xmlns:a="http://schemas.openxmlformats.org/drawingml/2006/main">
              <a:ext uri="{FF2B5EF4-FFF2-40B4-BE49-F238E27FC236}">
                <a16:creationId xmlns:a16="http://schemas.microsoft.com/office/drawing/2014/main" id="{57F86731-D5F8-4BAF-A1AE-067590815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362450"/>
            <a:ext cx="15811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2B2A22"/>
          </a:solidFill>
          <a:ln xmlns:a="http://schemas.openxmlformats.org/drawingml/2006/main" w="9525">
            <a:solidFill>
              <a:srgbClr val="5A4B2C"/>
            </a:solidFill>
            <a:prstDash val="solid"/>
          </a:ln>
        </p:spPr>
      </p:sp>
      <p:sp>
        <p:nvSpPr>
          <p:cNvPr id="19" name="route-score-C｜两关差异 60 秒">
            <a:extLst xmlns:a="http://schemas.openxmlformats.org/drawingml/2006/main">
              <a:ext uri="{FF2B5EF4-FFF2-40B4-BE49-F238E27FC236}">
                <a16:creationId xmlns:a16="http://schemas.microsoft.com/office/drawing/2014/main" id="{13C75E1B-8992-45CB-B957-3822C41C0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467225"/>
            <a:ext cx="1352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58A32"/>
                </a:solidFill>
              </a:defRPr>
            </a:pPr>
            <a:r>
              <a:rPr sz="1275" b="1">
                <a:solidFill>
                  <a:srgbClr val="C58A32"/>
                </a:solidFill>
              </a:rPr>
              <a:t>创新 + 关卡 + 构筑</a:t>
            </a:r>
          </a:p>
        </p:txBody>
      </p:sp>
      <p:sp>
        <p:nvSpPr>
          <p:cNvPr id="20" name="demo-safety">
            <a:extLst xmlns:a="http://schemas.openxmlformats.org/drawingml/2006/main">
              <a:ext uri="{FF2B5EF4-FFF2-40B4-BE49-F238E27FC236}">
                <a16:creationId xmlns:a16="http://schemas.microsoft.com/office/drawing/2014/main" id="{3E5AD564-4739-457C-B750-34D52328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111252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2B2A22"/>
          </a:solidFill>
          <a:ln xmlns:a="http://schemas.openxmlformats.org/drawingml/2006/main" w="9525">
            <a:solidFill>
              <a:srgbClr val="5A4B2C"/>
            </a:solidFill>
            <a:prstDash val="solid"/>
          </a:ln>
        </p:spPr>
      </p:sp>
      <p:sp>
        <p:nvSpPr>
          <p:cNvPr id="21" name="demo-safety-title">
            <a:extLst xmlns:a="http://schemas.openxmlformats.org/drawingml/2006/main">
              <a:ext uri="{FF2B5EF4-FFF2-40B4-BE49-F238E27FC236}">
                <a16:creationId xmlns:a16="http://schemas.microsoft.com/office/drawing/2014/main" id="{B984ACFC-EC04-4BFD-8564-9D97FD43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86425"/>
            <a:ext cx="192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06464"/>
                </a:solidFill>
              </a:defRPr>
            </a:pPr>
            <a:r>
              <a:rPr sz="1650" b="1">
                <a:solidFill>
                  <a:srgbClr val="F06464"/>
                </a:solidFill>
              </a:rPr>
              <a:t>上台前 30 秒检查</a:t>
            </a:r>
          </a:p>
        </p:txBody>
      </p:sp>
      <p:sp>
        <p:nvSpPr>
          <p:cNvPr id="22" name="demo-safety-body">
            <a:extLst xmlns:a="http://schemas.openxmlformats.org/drawingml/2006/main">
              <a:ext uri="{FF2B5EF4-FFF2-40B4-BE49-F238E27FC236}">
                <a16:creationId xmlns:a16="http://schemas.microsoft.com/office/drawing/2014/main" id="{7D4E2EB4-C222-45BB-AB17-7EE5A991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676900"/>
            <a:ext cx="8629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E7C2"/>
                </a:solidFill>
              </a:defRPr>
            </a:pPr>
            <a:r>
              <a:rPr sz="1500" b="0">
                <a:solidFill>
                  <a:srgbClr val="F4E7C2"/>
                </a:solidFill>
              </a:rPr>
              <a:t>切换英文输入法｜使用固定 Seed｜确认窗口焦点｜必要时按 F3 打开技术面板｜现场只演示已验证路径</a:t>
            </a:r>
          </a:p>
        </p:txBody>
      </p:sp>
    </p:spTree>
    <p:extLst>
      <p:ext uri="{BB962C8B-B14F-4D97-AF65-F5344CB8AC3E}">
        <p14:creationId xmlns:p14="http://schemas.microsoft.com/office/powerpoint/2010/main" val="3468404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2026-09-03T02:19:17.4510000Z</dcterms:created>
  <dcterms:modified xsi:type="dcterms:W3CDTF">2026-09-03T02:19:17.4510000Z</dcterms:modified>
</coreProperties>
</file>