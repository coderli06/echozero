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f4327731b484e2d" /><Relationship Type="http://schemas.openxmlformats.org/officeDocument/2006/relationships/extended-properties" Target="/docProps/app.xml" Id="R57cc9c063d094518" /><Relationship Type="http://schemas.openxmlformats.org/officeDocument/2006/relationships/officeDocument" Target="/ppt/presentation.xml" Id="R43c210d465e4470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920b580c03c4f91"/>
  </p:sldMasterIdLst>
  <p:notesMasterIdLst>
    <p:notesMasterId xmlns:r="http://schemas.openxmlformats.org/officeDocument/2006/relationships" r:id="R94f2188afa534b78"/>
  </p:notesMasterIdLst>
  <p:sldIdLst>
    <p:sldId xmlns:r="http://schemas.openxmlformats.org/officeDocument/2006/relationships" id="256" r:id="Ra2fd1182573147ec"/>
    <p:sldId xmlns:r="http://schemas.openxmlformats.org/officeDocument/2006/relationships" id="257" r:id="Rb40482473de34d25"/>
    <p:sldId xmlns:r="http://schemas.openxmlformats.org/officeDocument/2006/relationships" id="258" r:id="Rdd0f6fdd35b14596"/>
    <p:sldId xmlns:r="http://schemas.openxmlformats.org/officeDocument/2006/relationships" id="259" r:id="R5619b787362245ff"/>
    <p:sldId xmlns:r="http://schemas.openxmlformats.org/officeDocument/2006/relationships" id="260" r:id="R5b29049a2e2547a0"/>
    <p:sldId xmlns:r="http://schemas.openxmlformats.org/officeDocument/2006/relationships" id="261" r:id="Rf2598df2571e4492"/>
    <p:sldId xmlns:r="http://schemas.openxmlformats.org/officeDocument/2006/relationships" id="262" r:id="Rbf7b2b176363409e"/>
    <p:sldId xmlns:r="http://schemas.openxmlformats.org/officeDocument/2006/relationships" id="263" r:id="Rcc438c17f3cf4da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b0b688aea3c49f9" /><Relationship Type="http://schemas.openxmlformats.org/officeDocument/2006/relationships/slideMaster" Target="/ppt/slideMasters/slideMaster1.xml" Id="R1920b580c03c4f91" /><Relationship Type="http://schemas.openxmlformats.org/officeDocument/2006/relationships/notesMaster" Target="/ppt/notesMasters/notesMaster1.xml" Id="R94f2188afa534b78" /><Relationship Type="http://schemas.openxmlformats.org/officeDocument/2006/relationships/presProps" Target="/ppt/presProps.xml" Id="R3b9155ac967247a2" /><Relationship Type="http://schemas.openxmlformats.org/officeDocument/2006/relationships/tableStyles" Target="/ppt/tableStyles.xml" Id="Rd222ce55d8264eec" /><Relationship Type="http://schemas.openxmlformats.org/officeDocument/2006/relationships/slide" Target="/ppt/slides/slide1.xml" Id="Ra2fd1182573147ec" /><Relationship Type="http://schemas.openxmlformats.org/officeDocument/2006/relationships/slide" Target="/ppt/slides/slide2.xml" Id="Rb40482473de34d25" /><Relationship Type="http://schemas.openxmlformats.org/officeDocument/2006/relationships/slide" Target="/ppt/slides/slide3.xml" Id="Rdd0f6fdd35b14596" /><Relationship Type="http://schemas.openxmlformats.org/officeDocument/2006/relationships/slide" Target="/ppt/slides/slide4.xml" Id="R5619b787362245ff" /><Relationship Type="http://schemas.openxmlformats.org/officeDocument/2006/relationships/slide" Target="/ppt/slides/slide5.xml" Id="R5b29049a2e2547a0" /><Relationship Type="http://schemas.openxmlformats.org/officeDocument/2006/relationships/slide" Target="/ppt/slides/slide6.xml" Id="Rf2598df2571e4492" /><Relationship Type="http://schemas.openxmlformats.org/officeDocument/2006/relationships/slide" Target="/ppt/slides/slide7.xml" Id="Rbf7b2b176363409e" /><Relationship Type="http://schemas.openxmlformats.org/officeDocument/2006/relationships/slide" Target="/ppt/slides/slide8.xml" Id="Rcc438c17f3cf4da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180a48225d645e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d92b46364834aba" /><Relationship Type="http://schemas.openxmlformats.org/officeDocument/2006/relationships/notesMaster" Target="/ppt/notesMasters/notesMaster1.xml" Id="R881cae1321954fe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3b732cb541b418f" /><Relationship Type="http://schemas.openxmlformats.org/officeDocument/2006/relationships/notesMaster" Target="/ppt/notesMasters/notesMaster1.xml" Id="R82d3c8e49904423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992b4a58a6647a6" /><Relationship Type="http://schemas.openxmlformats.org/officeDocument/2006/relationships/notesMaster" Target="/ppt/notesMasters/notesMaster1.xml" Id="R771b3c06950b423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c21629230ec4e0a" /><Relationship Type="http://schemas.openxmlformats.org/officeDocument/2006/relationships/notesMaster" Target="/ppt/notesMasters/notesMaster1.xml" Id="R7f1a2e1ba7664d8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9150f107d5d4bfc" /><Relationship Type="http://schemas.openxmlformats.org/officeDocument/2006/relationships/notesMaster" Target="/ppt/notesMasters/notesMaster1.xml" Id="R6fe7a222c9b54b0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fe8ddcc19ea4999" /><Relationship Type="http://schemas.openxmlformats.org/officeDocument/2006/relationships/notesMaster" Target="/ppt/notesMasters/notesMaster1.xml" Id="Rd4c9922de0714d5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2f3829762b94eb3" /><Relationship Type="http://schemas.openxmlformats.org/officeDocument/2006/relationships/notesMaster" Target="/ppt/notesMasters/notesMaster1.xml" Id="R1e10f87eeeb44c9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eb12c69a51a4ac3" /><Relationship Type="http://schemas.openxmlformats.org/officeDocument/2006/relationships/notesMaster" Target="/ppt/notesMasters/notesMaster1.xml" Id="R828870bedf6345a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大家好，这是 EchoZero。它是一款 Python 开发的动作 Roguelike Demo，核心体验是实时交锋、冻结战局，再通过三拍预演改写结果。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D:/daerxia/程序设计实训/project/README.md</a:t>
            </a:r>
          </a:p>
          <a:p xmlns:a="http://schemas.openxmlformats.org/drawingml/2006/main">
            <a:r>
              <a:t>- D:/daerxia/程序设计实训/project/artifacts/ui_polish_final/01_menu_1920x1080.png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设计上没有重做成纯回合制。玩家平时保持动作节奏，遇到高压局面按 Q 冻结，编辑三拍并预演，执行后回到实时状态，两种体验共用同一规则。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D:/daerxia/程序设计实训/project/项目配置.md</a:t>
            </a:r>
          </a:p>
          <a:p xmlns:a="http://schemas.openxmlformats.org/drawingml/2006/main">
            <a:r>
              <a:t>- D:/daerxia/程序设计实训/project/artifacts/ui_polish_final/02_action_1920x1080.png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功能上形成了完整三场 Run：实时战斗、Q 战术预演、三选一奖励，再进入更难的地图和 Boss。右栏会持续显示已选技能和实际效果，成长不是一次性提示。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D:/daerxia/程序设计实训/project/src/domain/action_run.py</a:t>
            </a:r>
          </a:p>
          <a:p xmlns:a="http://schemas.openxmlformats.org/drawingml/2006/main">
            <a:r>
              <a:t>- D:/daerxia/程序设计实训/project/artifacts/ui_polish_final/02_action_1600x900.png</a:t>
            </a:r>
          </a:p>
          <a:p xmlns:a="http://schemas.openxmlformats.org/drawingml/2006/main">
            <a:r>
              <a:t>- D:/daerxia/程序设计实训/project/artifacts/ui_polish_final/03_tactical_1600x900.png</a:t>
            </a:r>
          </a:p>
          <a:p xmlns:a="http://schemas.openxmlformats.org/drawingml/2006/main">
            <a:r>
              <a:t>- D:/daerxia/程序设计实训/project/artifacts/ui_polish_final/04_reward_1600x900.png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过程上采用阶段门：先做可测试的灰盒，再完成双关卡与 Build，之后补表现和引导，最后扩展为 Action Run。范围始终受控，没有引入与初验无关的数据库和联网功能。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D:/daerxia/程序设计实训/project/ROADMAP.md</a:t>
            </a:r>
          </a:p>
          <a:p xmlns:a="http://schemas.openxmlformats.org/drawingml/2006/main">
            <a:r>
              <a:t>- D:/daerxia/程序设计实训/project/TASKS.md</a:t>
            </a:r>
          </a:p>
          <a:p xmlns:a="http://schemas.openxmlformats.org/drawingml/2006/main">
            <a:r>
              <a:t>- D:/daerxia/程序设计实训/project/每日工作日志.md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技术上采用纯逻辑内核。输入先转换为 Command，唯一 Simulator 生成状态和逻辑事件，Renderer 只负责播放。Preview 只是复制状态后再次调用同一结算器，因此不会维护两套规则。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D:/daerxia/程序设计实训/project/ARCHITECTURE.md</a:t>
            </a:r>
          </a:p>
          <a:p xmlns:a="http://schemas.openxmlformats.org/drawingml/2006/main">
            <a:r>
              <a:t>- D:/daerxia/程序设计实训/project/src/domain/simulation.py</a:t>
            </a:r>
          </a:p>
          <a:p xmlns:a="http://schemas.openxmlformats.org/drawingml/2006/main">
            <a:r>
              <a:t>- D:/daerxia/程序设计实训/project/功能测试与初验报告.md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算法重点有三类：程序地图通过 BFS 和重试保证可达；行为树只输出一个 PreparedAction，同时驱动意图和执行；Tactical 用同源模拟与指纹测试保证预演一致。难点是随机但不能失控。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D:/daerxia/程序设计实训/project/src/domain/procedural.py</a:t>
            </a:r>
          </a:p>
          <a:p xmlns:a="http://schemas.openxmlformats.org/drawingml/2006/main">
            <a:r>
              <a:t>- D:/daerxia/程序设计实训/project/src/domain/behavior_tree.py</a:t>
            </a:r>
          </a:p>
          <a:p xmlns:a="http://schemas.openxmlformats.org/drawingml/2006/main">
            <a:r>
              <a:t>- D:/daerxia/程序设计实训/project/src/domain/action_run.py</a:t>
            </a:r>
          </a:p>
          <a:p xmlns:a="http://schemas.openxmlformats.org/drawingml/2006/main">
            <a:r>
              <a:t>- D:/daerxia/程序设计实训/project/artifacts/ui_polish_final/02b_debug_1280x800.png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创新不靠堆概念，而是让玩家直接感受到：同一场战斗可在动作和策略之间切换；Build 会改变规则；AI 意图对玩家透明。工程上还解决了同源结算、窗口恢复和 HUD 信息密度。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D:/daerxia/程序设计实训/project/INNOVATION.md</a:t>
            </a:r>
          </a:p>
          <a:p xmlns:a="http://schemas.openxmlformats.org/drawingml/2006/main">
            <a:r>
              <a:t>- D:/daerxia/程序设计实训/project/项目配置.md</a:t>
            </a:r>
          </a:p>
          <a:p xmlns:a="http://schemas.openxmlformats.org/drawingml/2006/main">
            <a:r>
              <a:t>- D:/daerxia/程序设计实训/project/artifacts/ui_clarity_final/05_boss_two_upgrades_1920x1080.png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目前 125 项测试、Action Run 和 Showcase 两条流程都已通过，三种分辨率完成视觉复核。下一步只做发布包、真人盲测和连续演练，不再扩大玩法范围。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D:/daerxia/程序设计实训/project/功能测试与初验报告.md</a:t>
            </a:r>
          </a:p>
          <a:p xmlns:a="http://schemas.openxmlformats.org/drawingml/2006/main">
            <a:r>
              <a:t>- D:/daerxia/程序设计实训/project/课程任务验收报告.md</a:t>
            </a:r>
          </a:p>
          <a:p xmlns:a="http://schemas.openxmlformats.org/drawingml/2006/main">
            <a:r>
              <a:t>- D:/daerxia/程序设计实训/project/artifacts/ui_polish_final/04b_acquired_1920x1080.png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02bee6c0f648e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faa1cd080f94b5a" /><Relationship Type="http://schemas.openxmlformats.org/officeDocument/2006/relationships/slideLayout" Target="/ppt/slideLayouts/slideLayout1.xml" Id="R2670f1aef958435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670f1aef958435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a7c3dbbb924de8" /><Relationship Type="http://schemas.openxmlformats.org/officeDocument/2006/relationships/image" Target="/ppt/media/image.png" Id="R35aad52d50cb4602" /><Relationship Type="http://schemas.openxmlformats.org/officeDocument/2006/relationships/notesSlide" Target="/ppt/notesSlides/notesSlide1.xml" Id="R3a15893f75b94d0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23a886ba7d4777" /><Relationship Type="http://schemas.openxmlformats.org/officeDocument/2006/relationships/image" Target="/ppt/media/image2.png" Id="R8833aacd70bd4ba9" /><Relationship Type="http://schemas.openxmlformats.org/officeDocument/2006/relationships/notesSlide" Target="/ppt/notesSlides/notesSlide2.xml" Id="Rb47f7f0796b7448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9293bd2c2e447a" /><Relationship Type="http://schemas.openxmlformats.org/officeDocument/2006/relationships/image" Target="/ppt/media/image3.png" Id="R41060134bc334cc1" /><Relationship Type="http://schemas.openxmlformats.org/officeDocument/2006/relationships/image" Target="/ppt/media/image4.png" Id="Reb57b5d814e24bc7" /><Relationship Type="http://schemas.openxmlformats.org/officeDocument/2006/relationships/image" Target="/ppt/media/image5.png" Id="Ra6284b4c50c740ce" /><Relationship Type="http://schemas.openxmlformats.org/officeDocument/2006/relationships/notesSlide" Target="/ppt/notesSlides/notesSlide3.xml" Id="R115cb10bdd85412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b325bdbd4d4449" /><Relationship Type="http://schemas.openxmlformats.org/officeDocument/2006/relationships/notesSlide" Target="/ppt/notesSlides/notesSlide4.xml" Id="R61672e86e27147c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c8d234a8844695" /><Relationship Type="http://schemas.openxmlformats.org/officeDocument/2006/relationships/notesSlide" Target="/ppt/notesSlides/notesSlide5.xml" Id="R7a9c27386713470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5e472d4ef64bb1" /><Relationship Type="http://schemas.openxmlformats.org/officeDocument/2006/relationships/image" Target="/ppt/media/image6.png" Id="Rf7a419c445cc4402" /><Relationship Type="http://schemas.openxmlformats.org/officeDocument/2006/relationships/notesSlide" Target="/ppt/notesSlides/notesSlide6.xml" Id="R07d185f51e93457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389e9404e542ec" /><Relationship Type="http://schemas.openxmlformats.org/officeDocument/2006/relationships/image" Target="/ppt/media/image7.png" Id="Rc3afdabb72604e8e" /><Relationship Type="http://schemas.openxmlformats.org/officeDocument/2006/relationships/notesSlide" Target="/ppt/notesSlides/notesSlide7.xml" Id="Re0c295c18950458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d06639d17547b0" /><Relationship Type="http://schemas.openxmlformats.org/officeDocument/2006/relationships/image" Target="/ppt/media/image8.png" Id="Re5963703a98c4393" /><Relationship Type="http://schemas.openxmlformats.org/officeDocument/2006/relationships/notesSlide" Target="/ppt/notesSlides/notesSlide8.xml" Id="Rc1c74e10a0ab4b5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509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aad52d50cb4602"/>
          <a:srcRect xmlns:a="http://schemas.openxmlformats.org/drawingml/2006/main" l="24414" t="0" r="2441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53125" y="0"/>
            <a:ext cx="6238875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cover-left">
            <a:extLst xmlns:a="http://schemas.openxmlformats.org/drawingml/2006/main">
              <a:ext uri="{FF2B5EF4-FFF2-40B4-BE49-F238E27FC236}">
                <a16:creationId xmlns:a16="http://schemas.microsoft.com/office/drawing/2014/main" id="{73693A0E-2C9B-490A-8E18-A86B12C45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305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9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F607960A-D35F-4C4B-956D-A41A19EC1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476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D6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over-brand">
            <a:extLst xmlns:a="http://schemas.openxmlformats.org/drawingml/2006/main">
              <a:ext uri="{FF2B5EF4-FFF2-40B4-BE49-F238E27FC236}">
                <a16:creationId xmlns:a16="http://schemas.microsoft.com/office/drawing/2014/main" id="{8726B717-76C0-470C-B617-E3191D7BE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123950"/>
            <a:ext cx="476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F2F7FC"/>
                </a:solidFill>
              </a:defRPr>
            </a:pPr>
            <a:r>
              <a:rPr sz="4650" b="1">
                <a:solidFill>
                  <a:srgbClr val="F2F7FC"/>
                </a:solidFill>
              </a:rPr>
              <a:t>ECHO // ZERO</a:t>
            </a:r>
          </a:p>
        </p:txBody>
      </p:sp>
      <p:sp>
        <p:nvSpPr>
          <p:cNvPr id="5" name="cover-cn">
            <a:extLst xmlns:a="http://schemas.openxmlformats.org/drawingml/2006/main">
              <a:ext uri="{FF2B5EF4-FFF2-40B4-BE49-F238E27FC236}">
                <a16:creationId xmlns:a16="http://schemas.microsoft.com/office/drawing/2014/main" id="{6A96F1BB-F043-4D7B-ADAF-004EA54D2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19300"/>
            <a:ext cx="4095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32D6F4"/>
                </a:solidFill>
              </a:defRPr>
            </a:pPr>
            <a:r>
              <a:rPr sz="3150" b="1">
                <a:solidFill>
                  <a:srgbClr val="32D6F4"/>
                </a:solidFill>
              </a:rPr>
              <a:t>初验汇报</a:t>
            </a:r>
          </a:p>
        </p:txBody>
      </p:sp>
      <p:sp>
        <p:nvSpPr>
          <p:cNvPr id="6" name="cover-tagline">
            <a:extLst xmlns:a="http://schemas.openxmlformats.org/drawingml/2006/main">
              <a:ext uri="{FF2B5EF4-FFF2-40B4-BE49-F238E27FC236}">
                <a16:creationId xmlns:a16="http://schemas.microsoft.com/office/drawing/2014/main" id="{E98C120A-FB6B-45B3-A00B-4BF31D790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2895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C6D2DF"/>
                </a:solidFill>
              </a:defRPr>
            </a:pPr>
            <a:r>
              <a:rPr sz="1800" b="0">
                <a:solidFill>
                  <a:srgbClr val="C6D2DF"/>
                </a:solidFill>
              </a:rPr>
              <a:t>实时交锋 · 冻结战局 · 改写因果</a:t>
            </a:r>
          </a:p>
        </p:txBody>
      </p:sp>
      <p:sp>
        <p:nvSpPr>
          <p:cNvPr id="7" name="cover-mini-rule">
            <a:extLst xmlns:a="http://schemas.openxmlformats.org/drawingml/2006/main">
              <a:ext uri="{FF2B5EF4-FFF2-40B4-BE49-F238E27FC236}">
                <a16:creationId xmlns:a16="http://schemas.microsoft.com/office/drawing/2014/main" id="{59F3B0BA-20E7-41C9-8CD9-A0B80768F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33800"/>
            <a:ext cx="914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7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over-meta">
            <a:extLst xmlns:a="http://schemas.openxmlformats.org/drawingml/2006/main">
              <a:ext uri="{FF2B5EF4-FFF2-40B4-BE49-F238E27FC236}">
                <a16:creationId xmlns:a16="http://schemas.microsoft.com/office/drawing/2014/main" id="{D8A8C042-2444-4B29-A0E4-B95F554A7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81450"/>
            <a:ext cx="428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2839A"/>
                </a:solidFill>
              </a:defRPr>
            </a:pPr>
            <a:r>
              <a:rPr sz="1350" b="0">
                <a:solidFill>
                  <a:srgbClr val="72839A"/>
                </a:solidFill>
              </a:rPr>
              <a:t>Python  /  pygame-ce</a:t>
            </a:r>
          </a:p>
          <a:p xmlns:a="http://schemas.openxmlformats.org/drawingml/2006/main">
            <a:pPr algn="l">
              <a:defRPr sz="1350" b="0">
                <a:solidFill>
                  <a:srgbClr val="72839A"/>
                </a:solidFill>
              </a:defRPr>
            </a:pPr>
            <a:r>
              <a:rPr sz="1350" b="0">
                <a:solidFill>
                  <a:srgbClr val="72839A"/>
                </a:solidFill>
              </a:rPr>
              <a:t>动作 Roguelike × 战术因果编排</a:t>
            </a:r>
          </a:p>
        </p:txBody>
      </p:sp>
      <p:sp>
        <p:nvSpPr>
          <p:cNvPr id="9" name="cover-date">
            <a:extLst xmlns:a="http://schemas.openxmlformats.org/drawingml/2006/main">
              <a:ext uri="{FF2B5EF4-FFF2-40B4-BE49-F238E27FC236}">
                <a16:creationId xmlns:a16="http://schemas.microsoft.com/office/drawing/2014/main" id="{3C40652B-81C5-417B-9E19-74F7BA152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924550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2839A"/>
                </a:solidFill>
              </a:defRPr>
            </a:pPr>
            <a:r>
              <a:rPr sz="1050" b="1">
                <a:solidFill>
                  <a:srgbClr val="72839A"/>
                </a:solidFill>
              </a:rPr>
              <a:t>2026.08  ·  INITIAL BUILD</a:t>
            </a:r>
          </a:p>
        </p:txBody>
      </p:sp>
    </p:spTree>
    <p:extLst>
      <p:ext uri="{BB962C8B-B14F-4D97-AF65-F5344CB8AC3E}">
        <p14:creationId xmlns:p14="http://schemas.microsoft.com/office/powerpoint/2010/main" val="190436048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509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ys-2">
            <a:extLst xmlns:a="http://schemas.openxmlformats.org/drawingml/2006/main">
              <a:ext uri="{FF2B5EF4-FFF2-40B4-BE49-F238E27FC236}">
                <a16:creationId xmlns:a16="http://schemas.microsoft.com/office/drawing/2014/main" id="{8071DD1C-E4D5-4FDD-B215-7FA4F5735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3905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2D6F4"/>
                </a:solidFill>
              </a:defRPr>
            </a:pPr>
            <a:r>
              <a:rPr sz="1050" b="1">
                <a:solidFill>
                  <a:srgbClr val="32D6F4"/>
                </a:solidFill>
              </a:rPr>
              <a:t>ECHO // ZERO  /  INITIAL REVIEW</a:t>
            </a:r>
          </a:p>
        </p:txBody>
      </p:sp>
      <p:sp>
        <p:nvSpPr>
          <p:cNvPr id="2" name="section-2">
            <a:extLst xmlns:a="http://schemas.openxmlformats.org/drawingml/2006/main">
              <a:ext uri="{FF2B5EF4-FFF2-40B4-BE49-F238E27FC236}">
                <a16:creationId xmlns:a16="http://schemas.microsoft.com/office/drawing/2014/main" id="{8D8CC8A4-BE68-4AFC-B73E-11C923525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66700"/>
            <a:ext cx="2533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2839A"/>
                </a:solidFill>
              </a:defRPr>
            </a:pPr>
            <a:r>
              <a:rPr sz="975" b="1">
                <a:solidFill>
                  <a:srgbClr val="72839A"/>
                </a:solidFill>
              </a:rPr>
              <a:t>DESIGN IDEA</a:t>
            </a:r>
          </a:p>
        </p:txBody>
      </p:sp>
      <p:sp>
        <p:nvSpPr>
          <p:cNvPr id="3" name="top-rule-2">
            <a:extLst xmlns:a="http://schemas.openxmlformats.org/drawingml/2006/main">
              <a:ext uri="{FF2B5EF4-FFF2-40B4-BE49-F238E27FC236}">
                <a16:creationId xmlns:a16="http://schemas.microsoft.com/office/drawing/2014/main" id="{54EC9F1D-B24D-41E4-90D5-E9CB8DA2C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1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2">
            <a:extLst xmlns:a="http://schemas.openxmlformats.org/drawingml/2006/main">
              <a:ext uri="{FF2B5EF4-FFF2-40B4-BE49-F238E27FC236}">
                <a16:creationId xmlns:a16="http://schemas.microsoft.com/office/drawing/2014/main" id="{A89044AC-BDA1-4CFE-BEC2-D385EC0B8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2839A"/>
                </a:solidFill>
              </a:defRPr>
            </a:pPr>
            <a:r>
              <a:rPr sz="900" b="1">
                <a:solidFill>
                  <a:srgbClr val="72839A"/>
                </a:solidFill>
              </a:rPr>
              <a:t>02</a:t>
            </a:r>
          </a:p>
        </p:txBody>
      </p:sp>
      <p:sp>
        <p:nvSpPr>
          <p:cNvPr id="5" name="s2-title">
            <a:extLst xmlns:a="http://schemas.openxmlformats.org/drawingml/2006/main">
              <a:ext uri="{FF2B5EF4-FFF2-40B4-BE49-F238E27FC236}">
                <a16:creationId xmlns:a16="http://schemas.microsoft.com/office/drawing/2014/main" id="{0B9C60BC-8DD3-4551-81E8-E622A4F46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742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2F7FC"/>
                </a:solidFill>
              </a:defRPr>
            </a:pPr>
            <a:r>
              <a:rPr sz="2850" b="1">
                <a:solidFill>
                  <a:srgbClr val="F2F7FC"/>
                </a:solidFill>
              </a:rPr>
              <a:t>一次战斗，兼顾动作节奏与策略表达</a:t>
            </a:r>
          </a:p>
        </p:txBody>
      </p:sp>
      <p:sp>
        <p:nvSpPr>
          <p:cNvPr id="6" name="s2-lead">
            <a:extLst xmlns:a="http://schemas.openxmlformats.org/drawingml/2006/main">
              <a:ext uri="{FF2B5EF4-FFF2-40B4-BE49-F238E27FC236}">
                <a16:creationId xmlns:a16="http://schemas.microsoft.com/office/drawing/2014/main" id="{09895F60-2273-47C3-A80B-06203D16A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C6D2DF"/>
                </a:solidFill>
              </a:defRPr>
            </a:pPr>
            <a:r>
              <a:rPr sz="1575" b="0">
                <a:solidFill>
                  <a:srgbClr val="C6D2DF"/>
                </a:solidFill>
              </a:rPr>
              <a:t>常态快速操作；危险时按 Q 冻结，读取敌方意图并编辑三拍。</a:t>
            </a:r>
          </a:p>
        </p:txBody>
      </p:sp>
      <p:sp>
        <p:nvSpPr>
          <p:cNvPr id="7" name="s2-real-label">
            <a:extLst xmlns:a="http://schemas.openxmlformats.org/drawingml/2006/main">
              <a:ext uri="{FF2B5EF4-FFF2-40B4-BE49-F238E27FC236}">
                <a16:creationId xmlns:a16="http://schemas.microsoft.com/office/drawing/2014/main" id="{4425C904-D892-49C4-A93F-CEC9C48EF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2D6F4"/>
                </a:solidFill>
              </a:defRPr>
            </a:pPr>
            <a:r>
              <a:rPr sz="1350" b="1">
                <a:solidFill>
                  <a:srgbClr val="32D6F4"/>
                </a:solidFill>
              </a:rPr>
              <a:t>REAL-TIME</a:t>
            </a:r>
          </a:p>
        </p:txBody>
      </p:sp>
      <p:sp>
        <p:nvSpPr>
          <p:cNvPr id="8" name="s2-real">
            <a:extLst xmlns:a="http://schemas.openxmlformats.org/drawingml/2006/main">
              <a:ext uri="{FF2B5EF4-FFF2-40B4-BE49-F238E27FC236}">
                <a16:creationId xmlns:a16="http://schemas.microsoft.com/office/drawing/2014/main" id="{7103763B-0908-44E3-968F-1921E36B8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985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2F7FC"/>
                </a:solidFill>
              </a:defRPr>
            </a:pPr>
            <a:r>
              <a:rPr sz="1950" b="1">
                <a:solidFill>
                  <a:srgbClr val="F2F7FC"/>
                </a:solidFill>
              </a:rPr>
              <a:t>移动 · 攻击 · 闪避</a:t>
            </a:r>
          </a:p>
        </p:txBody>
      </p:sp>
      <p:sp>
        <p:nvSpPr>
          <p:cNvPr id="9" name="s2-flow-1">
            <a:extLst xmlns:a="http://schemas.openxmlformats.org/drawingml/2006/main">
              <a:ext uri="{FF2B5EF4-FFF2-40B4-BE49-F238E27FC236}">
                <a16:creationId xmlns:a16="http://schemas.microsoft.com/office/drawing/2014/main" id="{4F0F7B6F-2681-46C8-8F6F-EA644501A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0400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1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2-q">
            <a:extLst xmlns:a="http://schemas.openxmlformats.org/drawingml/2006/main">
              <a:ext uri="{FF2B5EF4-FFF2-40B4-BE49-F238E27FC236}">
                <a16:creationId xmlns:a16="http://schemas.microsoft.com/office/drawing/2014/main" id="{D8876FDA-1A98-41D0-A80C-6458A3D1F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57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A874FF"/>
                </a:solidFill>
              </a:defRPr>
            </a:pPr>
            <a:r>
              <a:rPr sz="3150" b="1">
                <a:solidFill>
                  <a:srgbClr val="A874FF"/>
                </a:solidFill>
              </a:rPr>
              <a:t>Q</a:t>
            </a:r>
          </a:p>
        </p:txBody>
      </p:sp>
      <p:sp>
        <p:nvSpPr>
          <p:cNvPr id="11" name="s2-q-copy">
            <a:extLst xmlns:a="http://schemas.openxmlformats.org/drawingml/2006/main">
              <a:ext uri="{FF2B5EF4-FFF2-40B4-BE49-F238E27FC236}">
                <a16:creationId xmlns:a16="http://schemas.microsoft.com/office/drawing/2014/main" id="{D6BFA9D3-1472-4316-A1AE-B34687912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52425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6D2DF"/>
                </a:solidFill>
              </a:defRPr>
            </a:pPr>
            <a:r>
              <a:rPr sz="1500" b="0">
                <a:solidFill>
                  <a:srgbClr val="C6D2DF"/>
                </a:solidFill>
              </a:rPr>
              <a:t>冻结时间  →  三拍 Preview  →  Execute</a:t>
            </a:r>
          </a:p>
        </p:txBody>
      </p:sp>
      <p:sp>
        <p:nvSpPr>
          <p:cNvPr id="12" name="s2-flow-2">
            <a:extLst xmlns:a="http://schemas.openxmlformats.org/drawingml/2006/main">
              <a:ext uri="{FF2B5EF4-FFF2-40B4-BE49-F238E27FC236}">
                <a16:creationId xmlns:a16="http://schemas.microsoft.com/office/drawing/2014/main" id="{D741289C-2AD7-4066-93EB-009CE2F1A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52900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1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2-return">
            <a:extLst xmlns:a="http://schemas.openxmlformats.org/drawingml/2006/main">
              <a:ext uri="{FF2B5EF4-FFF2-40B4-BE49-F238E27FC236}">
                <a16:creationId xmlns:a16="http://schemas.microsoft.com/office/drawing/2014/main" id="{A11C72DA-44A2-423A-94D2-875B40CB2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96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56E39F"/>
                </a:solidFill>
              </a:defRPr>
            </a:pPr>
            <a:r>
              <a:rPr sz="1725" b="1">
                <a:solidFill>
                  <a:srgbClr val="56E39F"/>
                </a:solidFill>
              </a:rPr>
              <a:t>执行后立即回到实时战斗</a:t>
            </a:r>
          </a:p>
        </p:txBody>
      </p:sp>
      <p:sp>
        <p:nvSpPr>
          <p:cNvPr id="14" name="s2-principle">
            <a:extLst xmlns:a="http://schemas.openxmlformats.org/drawingml/2006/main">
              <a:ext uri="{FF2B5EF4-FFF2-40B4-BE49-F238E27FC236}">
                <a16:creationId xmlns:a16="http://schemas.microsoft.com/office/drawing/2014/main" id="{0CECB48F-2D74-4661-B000-7A5F3425E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00650"/>
            <a:ext cx="476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72839A"/>
                </a:solidFill>
              </a:defRPr>
            </a:pPr>
            <a:r>
              <a:rPr sz="1500" b="0">
                <a:solidFill>
                  <a:srgbClr val="72839A"/>
                </a:solidFill>
              </a:rPr>
              <a:t>不是两个独立模式，而是同一套战斗规则的两种节奏。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33aacd70bd4ba9"/>
          <a:srcRect xmlns:a="http://schemas.openxmlformats.org/drawingml/2006/main" l="18" t="0" r="1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10250" y="1428750"/>
            <a:ext cx="5772150" cy="3248025"/>
          </a:xfrm>
          <a:prstGeom xmlns:a="http://schemas.openxmlformats.org/drawingml/2006/main" prst="rect">
            <a:avLst/>
          </a:prstGeom>
        </p:spPr>
      </p:pic>
      <p:sp>
        <p:nvSpPr>
          <p:cNvPr id="16" name="s2-image-border">
            <a:extLst xmlns:a="http://schemas.openxmlformats.org/drawingml/2006/main">
              <a:ext uri="{FF2B5EF4-FFF2-40B4-BE49-F238E27FC236}">
                <a16:creationId xmlns:a16="http://schemas.microsoft.com/office/drawing/2014/main" id="{1762551C-23F5-4C40-BC84-5B06820C9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428750"/>
            <a:ext cx="5772150" cy="3248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2D6F4"/>
            </a:solidFill>
            <a:prstDash val="solid"/>
          </a:ln>
        </p:spPr>
      </p:sp>
      <p:sp>
        <p:nvSpPr>
          <p:cNvPr id="17" name="s2-caption">
            <a:extLst xmlns:a="http://schemas.openxmlformats.org/drawingml/2006/main">
              <a:ext uri="{FF2B5EF4-FFF2-40B4-BE49-F238E27FC236}">
                <a16:creationId xmlns:a16="http://schemas.microsoft.com/office/drawing/2014/main" id="{D423A047-43E6-432E-ABE2-DA255831C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857750"/>
            <a:ext cx="5772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2839A"/>
                </a:solidFill>
              </a:defRPr>
            </a:pPr>
            <a:r>
              <a:rPr sz="1200" b="0">
                <a:solidFill>
                  <a:srgbClr val="72839A"/>
                </a:solidFill>
              </a:rPr>
              <a:t>正式 HUD：CORE / 冷却 / 敌方意图 / 本局构筑</a:t>
            </a:r>
          </a:p>
        </p:txBody>
      </p:sp>
    </p:spTree>
    <p:extLst>
      <p:ext uri="{BB962C8B-B14F-4D97-AF65-F5344CB8AC3E}">
        <p14:creationId xmlns:p14="http://schemas.microsoft.com/office/powerpoint/2010/main" val="86291452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509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ys-3">
            <a:extLst xmlns:a="http://schemas.openxmlformats.org/drawingml/2006/main">
              <a:ext uri="{FF2B5EF4-FFF2-40B4-BE49-F238E27FC236}">
                <a16:creationId xmlns:a16="http://schemas.microsoft.com/office/drawing/2014/main" id="{104A03FE-FB6D-416D-B7D5-069D7C854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3905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2D6F4"/>
                </a:solidFill>
              </a:defRPr>
            </a:pPr>
            <a:r>
              <a:rPr sz="1050" b="1">
                <a:solidFill>
                  <a:srgbClr val="32D6F4"/>
                </a:solidFill>
              </a:rPr>
              <a:t>ECHO // ZERO  /  INITIAL REVIEW</a:t>
            </a:r>
          </a:p>
        </p:txBody>
      </p:sp>
      <p:sp>
        <p:nvSpPr>
          <p:cNvPr id="2" name="section-3">
            <a:extLst xmlns:a="http://schemas.openxmlformats.org/drawingml/2006/main">
              <a:ext uri="{FF2B5EF4-FFF2-40B4-BE49-F238E27FC236}">
                <a16:creationId xmlns:a16="http://schemas.microsoft.com/office/drawing/2014/main" id="{077873C2-036E-4DEC-B85A-845D90032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66700"/>
            <a:ext cx="2533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2839A"/>
                </a:solidFill>
              </a:defRPr>
            </a:pPr>
            <a:r>
              <a:rPr sz="975" b="1">
                <a:solidFill>
                  <a:srgbClr val="72839A"/>
                </a:solidFill>
              </a:rPr>
              <a:t>FUNCTION / UI</a:t>
            </a:r>
          </a:p>
        </p:txBody>
      </p:sp>
      <p:sp>
        <p:nvSpPr>
          <p:cNvPr id="3" name="top-rule-3">
            <a:extLst xmlns:a="http://schemas.openxmlformats.org/drawingml/2006/main">
              <a:ext uri="{FF2B5EF4-FFF2-40B4-BE49-F238E27FC236}">
                <a16:creationId xmlns:a16="http://schemas.microsoft.com/office/drawing/2014/main" id="{F2CBCAFC-E7DB-410D-976B-6BAFD013D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1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3">
            <a:extLst xmlns:a="http://schemas.openxmlformats.org/drawingml/2006/main">
              <a:ext uri="{FF2B5EF4-FFF2-40B4-BE49-F238E27FC236}">
                <a16:creationId xmlns:a16="http://schemas.microsoft.com/office/drawing/2014/main" id="{3DA02E46-C36E-49C7-90B5-46D182E68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2839A"/>
                </a:solidFill>
              </a:defRPr>
            </a:pPr>
            <a:r>
              <a:rPr sz="900" b="1">
                <a:solidFill>
                  <a:srgbClr val="72839A"/>
                </a:solidFill>
              </a:rPr>
              <a:t>03</a:t>
            </a:r>
          </a:p>
        </p:txBody>
      </p:sp>
      <p:sp>
        <p:nvSpPr>
          <p:cNvPr id="5" name="s3-title">
            <a:extLst xmlns:a="http://schemas.openxmlformats.org/drawingml/2006/main">
              <a:ext uri="{FF2B5EF4-FFF2-40B4-BE49-F238E27FC236}">
                <a16:creationId xmlns:a16="http://schemas.microsoft.com/office/drawing/2014/main" id="{641C9249-0213-4FFB-801B-396AC1500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819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2F7FC"/>
                </a:solidFill>
              </a:defRPr>
            </a:pPr>
            <a:r>
              <a:rPr sz="2850" b="1">
                <a:solidFill>
                  <a:srgbClr val="F2F7FC"/>
                </a:solidFill>
              </a:rPr>
              <a:t>三场 Run，把动作、策略和成长闭合成循环</a:t>
            </a:r>
          </a:p>
        </p:txBody>
      </p:sp>
      <p:sp>
        <p:nvSpPr>
          <p:cNvPr id="6" name="s3-sub">
            <a:extLst xmlns:a="http://schemas.openxmlformats.org/drawingml/2006/main">
              <a:ext uri="{FF2B5EF4-FFF2-40B4-BE49-F238E27FC236}">
                <a16:creationId xmlns:a16="http://schemas.microsoft.com/office/drawing/2014/main" id="{66A77259-CB4E-4902-9423-28C67EABE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C6D2DF"/>
                </a:solidFill>
              </a:defRPr>
            </a:pPr>
            <a:r>
              <a:rPr sz="1575" b="0">
                <a:solidFill>
                  <a:srgbClr val="C6D2DF"/>
                </a:solidFill>
              </a:rPr>
              <a:t>同一局内：战斗 → 战术决策 → 三选一强化 → 下一场遭遇 → Boss</a:t>
            </a:r>
          </a:p>
        </p:txBody>
      </p:sp>
      <p:sp>
        <p:nvSpPr>
          <p:cNvPr id="7" name="s3-label-0">
            <a:extLst xmlns:a="http://schemas.openxmlformats.org/drawingml/2006/main">
              <a:ext uri="{FF2B5EF4-FFF2-40B4-BE49-F238E27FC236}">
                <a16:creationId xmlns:a16="http://schemas.microsoft.com/office/drawing/2014/main" id="{296DCB79-363B-4510-8B16-9BD7471C2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3276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2D6F4"/>
                </a:solidFill>
              </a:defRPr>
            </a:pPr>
            <a:r>
              <a:rPr sz="1050" b="1">
                <a:solidFill>
                  <a:srgbClr val="32D6F4"/>
                </a:solidFill>
              </a:rPr>
              <a:t>ACTION COMBAT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060134bc334cc1"/>
          <a:srcRect xmlns:a="http://schemas.openxmlformats.org/drawingml/2006/main" l="129" t="0" r="12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2305050"/>
            <a:ext cx="3276600" cy="1847850"/>
          </a:xfrm>
          <a:prstGeom xmlns:a="http://schemas.openxmlformats.org/drawingml/2006/main" prst="rect">
            <a:avLst/>
          </a:prstGeom>
        </p:spPr>
      </p:pic>
      <p:sp>
        <p:nvSpPr>
          <p:cNvPr id="9" name="s3-accent-0">
            <a:extLst xmlns:a="http://schemas.openxmlformats.org/drawingml/2006/main">
              <a:ext uri="{FF2B5EF4-FFF2-40B4-BE49-F238E27FC236}">
                <a16:creationId xmlns:a16="http://schemas.microsoft.com/office/drawing/2014/main" id="{83DAC40F-1236-42BF-A6B1-062F9229E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52900"/>
            <a:ext cx="3276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D6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3-title-0">
            <a:extLst xmlns:a="http://schemas.openxmlformats.org/drawingml/2006/main">
              <a:ext uri="{FF2B5EF4-FFF2-40B4-BE49-F238E27FC236}">
                <a16:creationId xmlns:a16="http://schemas.microsoft.com/office/drawing/2014/main" id="{AE370EB3-D44D-40FD-BC32-E20D73024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38650"/>
            <a:ext cx="3276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2F7FC"/>
                </a:solidFill>
              </a:defRPr>
            </a:pPr>
            <a:r>
              <a:rPr sz="1800" b="1">
                <a:solidFill>
                  <a:srgbClr val="F2F7FC"/>
                </a:solidFill>
              </a:rPr>
              <a:t>实时动作</a:t>
            </a:r>
          </a:p>
        </p:txBody>
      </p:sp>
      <p:sp>
        <p:nvSpPr>
          <p:cNvPr id="11" name="s3-copy-0">
            <a:extLst xmlns:a="http://schemas.openxmlformats.org/drawingml/2006/main">
              <a:ext uri="{FF2B5EF4-FFF2-40B4-BE49-F238E27FC236}">
                <a16:creationId xmlns:a16="http://schemas.microsoft.com/office/drawing/2014/main" id="{AC422ECB-AB81-40B6-8EF5-31EF5EAAC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3276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2839A"/>
                </a:solidFill>
              </a:defRPr>
            </a:pPr>
            <a:r>
              <a:rPr sz="1275" b="0">
                <a:solidFill>
                  <a:srgbClr val="72839A"/>
                </a:solidFill>
              </a:rPr>
              <a:t>移动、攻击、闪避、牵引</a:t>
            </a:r>
          </a:p>
        </p:txBody>
      </p:sp>
      <p:sp>
        <p:nvSpPr>
          <p:cNvPr id="12" name="s3-label-1">
            <a:extLst xmlns:a="http://schemas.openxmlformats.org/drawingml/2006/main">
              <a:ext uri="{FF2B5EF4-FFF2-40B4-BE49-F238E27FC236}">
                <a16:creationId xmlns:a16="http://schemas.microsoft.com/office/drawing/2014/main" id="{F6A7D35B-0F13-40FA-AA4F-643F06392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981200"/>
            <a:ext cx="3276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874FF"/>
                </a:solidFill>
              </a:defRPr>
            </a:pPr>
            <a:r>
              <a:rPr sz="1050" b="1">
                <a:solidFill>
                  <a:srgbClr val="A874FF"/>
                </a:solidFill>
              </a:rPr>
              <a:t>TACTICAL MODE</a:t>
            </a:r>
          </a:p>
        </p:txBody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57b5d814e24bc7"/>
          <a:srcRect xmlns:a="http://schemas.openxmlformats.org/drawingml/2006/main" l="129" t="0" r="12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43400" y="2305050"/>
            <a:ext cx="3276600" cy="1847850"/>
          </a:xfrm>
          <a:prstGeom xmlns:a="http://schemas.openxmlformats.org/drawingml/2006/main" prst="rect">
            <a:avLst/>
          </a:prstGeom>
        </p:spPr>
      </p:pic>
      <p:sp>
        <p:nvSpPr>
          <p:cNvPr id="14" name="s3-accent-1">
            <a:extLst xmlns:a="http://schemas.openxmlformats.org/drawingml/2006/main">
              <a:ext uri="{FF2B5EF4-FFF2-40B4-BE49-F238E27FC236}">
                <a16:creationId xmlns:a16="http://schemas.microsoft.com/office/drawing/2014/main" id="{DB8F89F5-D9EC-41CA-B6E6-12D90CF94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152900"/>
            <a:ext cx="3276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7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3-title-1">
            <a:extLst xmlns:a="http://schemas.openxmlformats.org/drawingml/2006/main">
              <a:ext uri="{FF2B5EF4-FFF2-40B4-BE49-F238E27FC236}">
                <a16:creationId xmlns:a16="http://schemas.microsoft.com/office/drawing/2014/main" id="{281DA3A2-C105-423E-8CE2-B9A5D7FC5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438650"/>
            <a:ext cx="3276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2F7FC"/>
                </a:solidFill>
              </a:defRPr>
            </a:pPr>
            <a:r>
              <a:rPr sz="1800" b="1">
                <a:solidFill>
                  <a:srgbClr val="F2F7FC"/>
                </a:solidFill>
              </a:rPr>
              <a:t>三拍因果预演</a:t>
            </a:r>
          </a:p>
        </p:txBody>
      </p:sp>
      <p:sp>
        <p:nvSpPr>
          <p:cNvPr id="16" name="s3-copy-1">
            <a:extLst xmlns:a="http://schemas.openxmlformats.org/drawingml/2006/main">
              <a:ext uri="{FF2B5EF4-FFF2-40B4-BE49-F238E27FC236}">
                <a16:creationId xmlns:a16="http://schemas.microsoft.com/office/drawing/2014/main" id="{6468E18A-04B8-440E-B148-294E63D45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876800"/>
            <a:ext cx="3276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2839A"/>
                </a:solidFill>
              </a:defRPr>
            </a:pPr>
            <a:r>
              <a:rPr sz="1275" b="0">
                <a:solidFill>
                  <a:srgbClr val="72839A"/>
                </a:solidFill>
              </a:rPr>
              <a:t>敌方意图、预测位置、执行</a:t>
            </a:r>
          </a:p>
        </p:txBody>
      </p:sp>
      <p:sp>
        <p:nvSpPr>
          <p:cNvPr id="17" name="s3-label-2">
            <a:extLst xmlns:a="http://schemas.openxmlformats.org/drawingml/2006/main">
              <a:ext uri="{FF2B5EF4-FFF2-40B4-BE49-F238E27FC236}">
                <a16:creationId xmlns:a16="http://schemas.microsoft.com/office/drawing/2014/main" id="{B3776C7C-2AF7-483F-911A-5E44CAEDD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981200"/>
            <a:ext cx="3276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6E39F"/>
                </a:solidFill>
              </a:defRPr>
            </a:pPr>
            <a:r>
              <a:rPr sz="1050" b="1">
                <a:solidFill>
                  <a:srgbClr val="56E39F"/>
                </a:solidFill>
              </a:rPr>
              <a:t>REWARD / BUILD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284b4c50c740ce"/>
          <a:srcRect xmlns:a="http://schemas.openxmlformats.org/drawingml/2006/main" l="129" t="0" r="12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77200" y="2305050"/>
            <a:ext cx="3276600" cy="1847850"/>
          </a:xfrm>
          <a:prstGeom xmlns:a="http://schemas.openxmlformats.org/drawingml/2006/main" prst="rect">
            <a:avLst/>
          </a:prstGeom>
        </p:spPr>
      </p:pic>
      <p:sp>
        <p:nvSpPr>
          <p:cNvPr id="19" name="s3-accent-2">
            <a:extLst xmlns:a="http://schemas.openxmlformats.org/drawingml/2006/main">
              <a:ext uri="{FF2B5EF4-FFF2-40B4-BE49-F238E27FC236}">
                <a16:creationId xmlns:a16="http://schemas.microsoft.com/office/drawing/2014/main" id="{55C9A597-DD3B-4D53-9D54-AE9BE4957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152900"/>
            <a:ext cx="3276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E3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s3-title-2">
            <a:extLst xmlns:a="http://schemas.openxmlformats.org/drawingml/2006/main">
              <a:ext uri="{FF2B5EF4-FFF2-40B4-BE49-F238E27FC236}">
                <a16:creationId xmlns:a16="http://schemas.microsoft.com/office/drawing/2014/main" id="{98EA631A-7777-4178-B97D-5052E226A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438650"/>
            <a:ext cx="3276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2F7FC"/>
                </a:solidFill>
              </a:defRPr>
            </a:pPr>
            <a:r>
              <a:rPr sz="1800" b="1">
                <a:solidFill>
                  <a:srgbClr val="F2F7FC"/>
                </a:solidFill>
              </a:rPr>
              <a:t>Roguelike 成长</a:t>
            </a:r>
          </a:p>
        </p:txBody>
      </p:sp>
      <p:sp>
        <p:nvSpPr>
          <p:cNvPr id="21" name="s3-copy-2">
            <a:extLst xmlns:a="http://schemas.openxmlformats.org/drawingml/2006/main">
              <a:ext uri="{FF2B5EF4-FFF2-40B4-BE49-F238E27FC236}">
                <a16:creationId xmlns:a16="http://schemas.microsoft.com/office/drawing/2014/main" id="{E0CBCB8B-AC2A-479A-AA2E-5C251F103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876800"/>
            <a:ext cx="3276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2839A"/>
                </a:solidFill>
              </a:defRPr>
            </a:pPr>
            <a:r>
              <a:rPr sz="1275" b="0">
                <a:solidFill>
                  <a:srgbClr val="72839A"/>
                </a:solidFill>
              </a:rPr>
              <a:t>协议 / 技能 / 属性三选一</a:t>
            </a:r>
          </a:p>
        </p:txBody>
      </p:sp>
      <p:sp>
        <p:nvSpPr>
          <p:cNvPr id="22" name="s3-bottom-rule">
            <a:extLst xmlns:a="http://schemas.openxmlformats.org/drawingml/2006/main">
              <a:ext uri="{FF2B5EF4-FFF2-40B4-BE49-F238E27FC236}">
                <a16:creationId xmlns:a16="http://schemas.microsoft.com/office/drawing/2014/main" id="{604063F1-0831-431D-9AC4-D4CA1DCE3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76900"/>
            <a:ext cx="10744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1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s3-bottom">
            <a:extLst xmlns:a="http://schemas.openxmlformats.org/drawingml/2006/main">
              <a:ext uri="{FF2B5EF4-FFF2-40B4-BE49-F238E27FC236}">
                <a16:creationId xmlns:a16="http://schemas.microsoft.com/office/drawing/2014/main" id="{22E74EA3-A43E-458C-A434-2A1B9362B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744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6D2DF"/>
                </a:solidFill>
              </a:defRPr>
            </a:pPr>
            <a:r>
              <a:rPr sz="1500" b="0">
                <a:solidFill>
                  <a:srgbClr val="C6D2DF"/>
                </a:solidFill>
              </a:rPr>
              <a:t>后续 Encounter 的右栏持续显示已选强化名称与累计效果，玩家能看见这一局如何成长。</a:t>
            </a:r>
          </a:p>
        </p:txBody>
      </p:sp>
    </p:spTree>
    <p:extLst>
      <p:ext uri="{BB962C8B-B14F-4D97-AF65-F5344CB8AC3E}">
        <p14:creationId xmlns:p14="http://schemas.microsoft.com/office/powerpoint/2010/main" val="33174109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509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sys-4">
            <a:extLst xmlns:a="http://schemas.openxmlformats.org/drawingml/2006/main">
              <a:ext uri="{FF2B5EF4-FFF2-40B4-BE49-F238E27FC236}">
                <a16:creationId xmlns:a16="http://schemas.microsoft.com/office/drawing/2014/main" id="{CB9DDF1B-C750-409A-9EE3-28C0023C8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3905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2D6F4"/>
                </a:solidFill>
              </a:defRPr>
            </a:pPr>
            <a:r>
              <a:rPr sz="1050" b="1">
                <a:solidFill>
                  <a:srgbClr val="32D6F4"/>
                </a:solidFill>
              </a:rPr>
              <a:t>ECHO // ZERO  /  INITIAL REVIEW</a:t>
            </a:r>
          </a:p>
        </p:txBody>
      </p:sp>
      <p:sp>
        <p:nvSpPr>
          <p:cNvPr id="2" name="section-4">
            <a:extLst xmlns:a="http://schemas.openxmlformats.org/drawingml/2006/main">
              <a:ext uri="{FF2B5EF4-FFF2-40B4-BE49-F238E27FC236}">
                <a16:creationId xmlns:a16="http://schemas.microsoft.com/office/drawing/2014/main" id="{F7F265CE-FE87-4475-8FCD-FB02EEBD8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66700"/>
            <a:ext cx="2533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2839A"/>
                </a:solidFill>
              </a:defRPr>
            </a:pPr>
            <a:r>
              <a:rPr sz="975" b="1">
                <a:solidFill>
                  <a:srgbClr val="72839A"/>
                </a:solidFill>
              </a:rPr>
              <a:t>PROCESS</a:t>
            </a:r>
          </a:p>
        </p:txBody>
      </p:sp>
      <p:sp>
        <p:nvSpPr>
          <p:cNvPr id="3" name="top-rule-4">
            <a:extLst xmlns:a="http://schemas.openxmlformats.org/drawingml/2006/main">
              <a:ext uri="{FF2B5EF4-FFF2-40B4-BE49-F238E27FC236}">
                <a16:creationId xmlns:a16="http://schemas.microsoft.com/office/drawing/2014/main" id="{010A4A21-71B6-408F-B72B-3CC2D9B23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1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4">
            <a:extLst xmlns:a="http://schemas.openxmlformats.org/drawingml/2006/main">
              <a:ext uri="{FF2B5EF4-FFF2-40B4-BE49-F238E27FC236}">
                <a16:creationId xmlns:a16="http://schemas.microsoft.com/office/drawing/2014/main" id="{2565FA7A-DE15-478C-8D56-C8B6FE112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2839A"/>
                </a:solidFill>
              </a:defRPr>
            </a:pPr>
            <a:r>
              <a:rPr sz="900" b="1">
                <a:solidFill>
                  <a:srgbClr val="72839A"/>
                </a:solidFill>
              </a:rPr>
              <a:t>04</a:t>
            </a:r>
          </a:p>
        </p:txBody>
      </p:sp>
      <p:sp>
        <p:nvSpPr>
          <p:cNvPr id="5" name="s4-title">
            <a:extLst xmlns:a="http://schemas.openxmlformats.org/drawingml/2006/main">
              <a:ext uri="{FF2B5EF4-FFF2-40B4-BE49-F238E27FC236}">
                <a16:creationId xmlns:a16="http://schemas.microsoft.com/office/drawing/2014/main" id="{A3420335-03AC-452D-B64C-FE1B46EA0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2F7FC"/>
                </a:solidFill>
              </a:defRPr>
            </a:pPr>
            <a:r>
              <a:rPr sz="2850" b="1">
                <a:solidFill>
                  <a:srgbClr val="F2F7FC"/>
                </a:solidFill>
              </a:rPr>
              <a:t>8 天里先保证能玩，再逐层补强</a:t>
            </a:r>
          </a:p>
        </p:txBody>
      </p:sp>
      <p:sp>
        <p:nvSpPr>
          <p:cNvPr id="6" name="s4-principle">
            <a:extLst xmlns:a="http://schemas.openxmlformats.org/drawingml/2006/main">
              <a:ext uri="{FF2B5EF4-FFF2-40B4-BE49-F238E27FC236}">
                <a16:creationId xmlns:a16="http://schemas.microsoft.com/office/drawing/2014/main" id="{F7522B8D-E6E9-4C80-8E77-2C7CB4A7C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666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2D6F4"/>
                </a:solidFill>
              </a:defRPr>
            </a:pPr>
            <a:r>
              <a:rPr sz="1800" b="1">
                <a:solidFill>
                  <a:srgbClr val="32D6F4"/>
                </a:solidFill>
              </a:rPr>
              <a:t>每一阶段都必须：可运行  →  可测试  →  可展示</a:t>
            </a:r>
          </a:p>
        </p:txBody>
      </p:sp>
      <p:sp>
        <p:nvSpPr>
          <p:cNvPr id="7" name="s4-line">
            <a:extLst xmlns:a="http://schemas.openxmlformats.org/drawingml/2006/main">
              <a:ext uri="{FF2B5EF4-FFF2-40B4-BE49-F238E27FC236}">
                <a16:creationId xmlns:a16="http://schemas.microsoft.com/office/drawing/2014/main" id="{1242C1F2-11A5-477B-B690-A5CB71E02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76600"/>
            <a:ext cx="10096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1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4-node-0">
            <a:extLst xmlns:a="http://schemas.openxmlformats.org/drawingml/2006/main">
              <a:ext uri="{FF2B5EF4-FFF2-40B4-BE49-F238E27FC236}">
                <a16:creationId xmlns:a16="http://schemas.microsoft.com/office/drawing/2014/main" id="{5836B296-98F7-4987-8CEB-3B2A5583F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432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D6F4"/>
          </a:solidFill>
          <a:ln xmlns:a="http://schemas.openxmlformats.org/drawingml/2006/main" w="38100">
            <a:solidFill>
              <a:srgbClr val="050912"/>
            </a:solidFill>
            <a:prstDash val="solid"/>
          </a:ln>
        </p:spPr>
      </p:sp>
      <p:sp>
        <p:nvSpPr>
          <p:cNvPr id="9" name="s4-day-0">
            <a:extLst xmlns:a="http://schemas.openxmlformats.org/drawingml/2006/main">
              <a:ext uri="{FF2B5EF4-FFF2-40B4-BE49-F238E27FC236}">
                <a16:creationId xmlns:a16="http://schemas.microsoft.com/office/drawing/2014/main" id="{BBEBCEA8-20B5-43D8-9B63-FD535DAD1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431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2D6F4"/>
                </a:solidFill>
              </a:defRPr>
            </a:pPr>
            <a:r>
              <a:rPr sz="1350" b="1">
                <a:solidFill>
                  <a:srgbClr val="32D6F4"/>
                </a:solidFill>
              </a:rPr>
              <a:t>D1–2</a:t>
            </a:r>
          </a:p>
        </p:txBody>
      </p:sp>
      <p:sp>
        <p:nvSpPr>
          <p:cNvPr id="10" name="s4-head-0">
            <a:extLst xmlns:a="http://schemas.openxmlformats.org/drawingml/2006/main">
              <a:ext uri="{FF2B5EF4-FFF2-40B4-BE49-F238E27FC236}">
                <a16:creationId xmlns:a16="http://schemas.microsoft.com/office/drawing/2014/main" id="{FA5C4CE0-62E2-4230-B393-0EF49A94B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479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2F7FC"/>
                </a:solidFill>
              </a:defRPr>
            </a:pPr>
            <a:r>
              <a:rPr sz="1800" b="1">
                <a:solidFill>
                  <a:srgbClr val="F2F7FC"/>
                </a:solidFill>
              </a:rPr>
              <a:t>灰盒闭环</a:t>
            </a:r>
          </a:p>
        </p:txBody>
      </p:sp>
      <p:sp>
        <p:nvSpPr>
          <p:cNvPr id="11" name="s4-body-0">
            <a:extLst xmlns:a="http://schemas.openxmlformats.org/drawingml/2006/main">
              <a:ext uri="{FF2B5EF4-FFF2-40B4-BE49-F238E27FC236}">
                <a16:creationId xmlns:a16="http://schemas.microsoft.com/office/drawing/2014/main" id="{0A822EFD-F3B8-4EF8-9D8C-EA470A718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33800"/>
            <a:ext cx="2190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6D2DF"/>
                </a:solidFill>
              </a:defRPr>
            </a:pPr>
            <a:r>
              <a:rPr sz="1275" b="0">
                <a:solidFill>
                  <a:srgbClr val="C6D2DF"/>
                </a:solidFill>
              </a:rPr>
              <a:t>Command</a:t>
            </a:r>
          </a:p>
          <a:p xmlns:a="http://schemas.openxmlformats.org/drawingml/2006/main">
            <a:pPr algn="l">
              <a:defRPr sz="1275" b="0">
                <a:solidFill>
                  <a:srgbClr val="C6D2DF"/>
                </a:solidFill>
              </a:defRPr>
            </a:pPr>
            <a:r>
              <a:rPr sz="1275" b="0">
                <a:solidFill>
                  <a:srgbClr val="C6D2DF"/>
                </a:solidFill>
              </a:rPr>
              <a:t>Preview / Execute</a:t>
            </a:r>
          </a:p>
        </p:txBody>
      </p:sp>
      <p:sp>
        <p:nvSpPr>
          <p:cNvPr id="12" name="s4-node-1">
            <a:extLst xmlns:a="http://schemas.openxmlformats.org/drawingml/2006/main">
              <a:ext uri="{FF2B5EF4-FFF2-40B4-BE49-F238E27FC236}">
                <a16:creationId xmlns:a16="http://schemas.microsoft.com/office/drawing/2014/main" id="{9EC09DCD-9562-4B1E-A840-24CEF45FD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1432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74FF"/>
          </a:solidFill>
          <a:ln xmlns:a="http://schemas.openxmlformats.org/drawingml/2006/main" w="38100">
            <a:solidFill>
              <a:srgbClr val="050912"/>
            </a:solidFill>
            <a:prstDash val="solid"/>
          </a:ln>
        </p:spPr>
      </p:sp>
      <p:sp>
        <p:nvSpPr>
          <p:cNvPr id="13" name="s4-day-1">
            <a:extLst xmlns:a="http://schemas.openxmlformats.org/drawingml/2006/main">
              <a:ext uri="{FF2B5EF4-FFF2-40B4-BE49-F238E27FC236}">
                <a16:creationId xmlns:a16="http://schemas.microsoft.com/office/drawing/2014/main" id="{430EA8C7-9979-4684-AA59-2382EC750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3431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874FF"/>
                </a:solidFill>
              </a:defRPr>
            </a:pPr>
            <a:r>
              <a:rPr sz="1350" b="1">
                <a:solidFill>
                  <a:srgbClr val="A874FF"/>
                </a:solidFill>
              </a:rPr>
              <a:t>D3–5</a:t>
            </a:r>
          </a:p>
        </p:txBody>
      </p:sp>
      <p:sp>
        <p:nvSpPr>
          <p:cNvPr id="14" name="s4-head-1">
            <a:extLst xmlns:a="http://schemas.openxmlformats.org/drawingml/2006/main">
              <a:ext uri="{FF2B5EF4-FFF2-40B4-BE49-F238E27FC236}">
                <a16:creationId xmlns:a16="http://schemas.microsoft.com/office/drawing/2014/main" id="{9288ABEF-3CCC-4E9F-83F6-105F22A12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6479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2F7FC"/>
                </a:solidFill>
              </a:defRPr>
            </a:pPr>
            <a:r>
              <a:rPr sz="1800" b="1">
                <a:solidFill>
                  <a:srgbClr val="F2F7FC"/>
                </a:solidFill>
              </a:rPr>
              <a:t>双关卡成型</a:t>
            </a:r>
          </a:p>
        </p:txBody>
      </p:sp>
      <p:sp>
        <p:nvSpPr>
          <p:cNvPr id="15" name="s4-body-1">
            <a:extLst xmlns:a="http://schemas.openxmlformats.org/drawingml/2006/main">
              <a:ext uri="{FF2B5EF4-FFF2-40B4-BE49-F238E27FC236}">
                <a16:creationId xmlns:a16="http://schemas.microsoft.com/office/drawing/2014/main" id="{91C9C16E-CF78-481E-86C5-EB72A1596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3733800"/>
            <a:ext cx="2190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6D2DF"/>
                </a:solidFill>
              </a:defRPr>
            </a:pPr>
            <a:r>
              <a:rPr sz="1275" b="0">
                <a:solidFill>
                  <a:srgbClr val="C6D2DF"/>
                </a:solidFill>
              </a:rPr>
              <a:t>Reward / Build</a:t>
            </a:r>
          </a:p>
          <a:p xmlns:a="http://schemas.openxmlformats.org/drawingml/2006/main">
            <a:pPr algn="l">
              <a:defRPr sz="1275" b="0">
                <a:solidFill>
                  <a:srgbClr val="C6D2DF"/>
                </a:solidFill>
              </a:defRPr>
            </a:pPr>
            <a:r>
              <a:rPr sz="1275" b="0">
                <a:solidFill>
                  <a:srgbClr val="C6D2DF"/>
                </a:solidFill>
              </a:rPr>
              <a:t>Stable / Reverse / Boss</a:t>
            </a:r>
          </a:p>
        </p:txBody>
      </p:sp>
      <p:sp>
        <p:nvSpPr>
          <p:cNvPr id="16" name="s4-node-2">
            <a:extLst xmlns:a="http://schemas.openxmlformats.org/drawingml/2006/main">
              <a:ext uri="{FF2B5EF4-FFF2-40B4-BE49-F238E27FC236}">
                <a16:creationId xmlns:a16="http://schemas.microsoft.com/office/drawing/2014/main" id="{3646874B-4275-4D60-8E8B-44BEDF339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432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E39F"/>
          </a:solidFill>
          <a:ln xmlns:a="http://schemas.openxmlformats.org/drawingml/2006/main" w="38100">
            <a:solidFill>
              <a:srgbClr val="050912"/>
            </a:solidFill>
            <a:prstDash val="solid"/>
          </a:ln>
        </p:spPr>
      </p:sp>
      <p:sp>
        <p:nvSpPr>
          <p:cNvPr id="17" name="s4-day-2">
            <a:extLst xmlns:a="http://schemas.openxmlformats.org/drawingml/2006/main">
              <a:ext uri="{FF2B5EF4-FFF2-40B4-BE49-F238E27FC236}">
                <a16:creationId xmlns:a16="http://schemas.microsoft.com/office/drawing/2014/main" id="{F0E24B37-AD50-4E5F-B743-3D28FF052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431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6E39F"/>
                </a:solidFill>
              </a:defRPr>
            </a:pPr>
            <a:r>
              <a:rPr sz="1350" b="1">
                <a:solidFill>
                  <a:srgbClr val="56E39F"/>
                </a:solidFill>
              </a:rPr>
              <a:t>D6–7</a:t>
            </a:r>
          </a:p>
        </p:txBody>
      </p:sp>
      <p:sp>
        <p:nvSpPr>
          <p:cNvPr id="18" name="s4-head-2">
            <a:extLst xmlns:a="http://schemas.openxmlformats.org/drawingml/2006/main">
              <a:ext uri="{FF2B5EF4-FFF2-40B4-BE49-F238E27FC236}">
                <a16:creationId xmlns:a16="http://schemas.microsoft.com/office/drawing/2014/main" id="{97D93B5E-0C62-4778-AEF0-FA917944A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6479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2F7FC"/>
                </a:solidFill>
              </a:defRPr>
            </a:pPr>
            <a:r>
              <a:rPr sz="1800" b="1">
                <a:solidFill>
                  <a:srgbClr val="F2F7FC"/>
                </a:solidFill>
              </a:rPr>
              <a:t>体验打磨</a:t>
            </a:r>
          </a:p>
        </p:txBody>
      </p:sp>
      <p:sp>
        <p:nvSpPr>
          <p:cNvPr id="19" name="s4-body-2">
            <a:extLst xmlns:a="http://schemas.openxmlformats.org/drawingml/2006/main">
              <a:ext uri="{FF2B5EF4-FFF2-40B4-BE49-F238E27FC236}">
                <a16:creationId xmlns:a16="http://schemas.microsoft.com/office/drawing/2014/main" id="{A2CD3305-1569-4A3A-B723-40613320C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733800"/>
            <a:ext cx="2190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6D2DF"/>
                </a:solidFill>
              </a:defRPr>
            </a:pPr>
            <a:r>
              <a:rPr sz="1275" b="0">
                <a:solidFill>
                  <a:srgbClr val="C6D2DF"/>
                </a:solidFill>
              </a:rPr>
              <a:t>HUD / Animation / Audio</a:t>
            </a:r>
          </a:p>
          <a:p xmlns:a="http://schemas.openxmlformats.org/drawingml/2006/main">
            <a:pPr algn="l">
              <a:defRPr sz="1275" b="0">
                <a:solidFill>
                  <a:srgbClr val="C6D2DF"/>
                </a:solidFill>
              </a:defRPr>
            </a:pPr>
            <a:r>
              <a:rPr sz="1275" b="0">
                <a:solidFill>
                  <a:srgbClr val="C6D2DF"/>
                </a:solidFill>
              </a:rPr>
              <a:t>Tutorial / Visual QA</a:t>
            </a:r>
          </a:p>
        </p:txBody>
      </p:sp>
      <p:sp>
        <p:nvSpPr>
          <p:cNvPr id="20" name="s4-node-3">
            <a:extLst xmlns:a="http://schemas.openxmlformats.org/drawingml/2006/main">
              <a:ext uri="{FF2B5EF4-FFF2-40B4-BE49-F238E27FC236}">
                <a16:creationId xmlns:a16="http://schemas.microsoft.com/office/drawing/2014/main" id="{688C690F-8791-401D-B424-7169A813D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1432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D7D"/>
          </a:solidFill>
          <a:ln xmlns:a="http://schemas.openxmlformats.org/drawingml/2006/main" w="38100">
            <a:solidFill>
              <a:srgbClr val="050912"/>
            </a:solidFill>
            <a:prstDash val="solid"/>
          </a:ln>
        </p:spPr>
      </p:sp>
      <p:sp>
        <p:nvSpPr>
          <p:cNvPr id="21" name="s4-day-3">
            <a:extLst xmlns:a="http://schemas.openxmlformats.org/drawingml/2006/main">
              <a:ext uri="{FF2B5EF4-FFF2-40B4-BE49-F238E27FC236}">
                <a16:creationId xmlns:a16="http://schemas.microsoft.com/office/drawing/2014/main" id="{B77FAB96-E4E4-4820-87B2-D158580A8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3431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4D7D"/>
                </a:solidFill>
              </a:defRPr>
            </a:pPr>
            <a:r>
              <a:rPr sz="1350" b="1">
                <a:solidFill>
                  <a:srgbClr val="FF4D7D"/>
                </a:solidFill>
              </a:rPr>
              <a:t>D8</a:t>
            </a:r>
          </a:p>
        </p:txBody>
      </p:sp>
      <p:sp>
        <p:nvSpPr>
          <p:cNvPr id="22" name="s4-head-3">
            <a:extLst xmlns:a="http://schemas.openxmlformats.org/drawingml/2006/main">
              <a:ext uri="{FF2B5EF4-FFF2-40B4-BE49-F238E27FC236}">
                <a16:creationId xmlns:a16="http://schemas.microsoft.com/office/drawing/2014/main" id="{DC0A82DF-5645-4553-B5FA-3CCCD54FA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6479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2F7FC"/>
                </a:solidFill>
              </a:defRPr>
            </a:pPr>
            <a:r>
              <a:rPr sz="1800" b="1">
                <a:solidFill>
                  <a:srgbClr val="F2F7FC"/>
                </a:solidFill>
              </a:rPr>
              <a:t>动作 Run 收口</a:t>
            </a:r>
          </a:p>
        </p:txBody>
      </p:sp>
      <p:sp>
        <p:nvSpPr>
          <p:cNvPr id="23" name="s4-body-3">
            <a:extLst xmlns:a="http://schemas.openxmlformats.org/drawingml/2006/main">
              <a:ext uri="{FF2B5EF4-FFF2-40B4-BE49-F238E27FC236}">
                <a16:creationId xmlns:a16="http://schemas.microsoft.com/office/drawing/2014/main" id="{A1E9827F-0661-4A15-8C9B-B3E0400F4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3733800"/>
            <a:ext cx="2190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6D2DF"/>
                </a:solidFill>
              </a:defRPr>
            </a:pPr>
            <a:r>
              <a:rPr sz="1275" b="0">
                <a:solidFill>
                  <a:srgbClr val="C6D2DF"/>
                </a:solidFill>
              </a:rPr>
              <a:t>Procedural / BT / Tactical</a:t>
            </a:r>
          </a:p>
          <a:p xmlns:a="http://schemas.openxmlformats.org/drawingml/2006/main">
            <a:pPr algn="l">
              <a:defRPr sz="1275" b="0">
                <a:solidFill>
                  <a:srgbClr val="C6D2DF"/>
                </a:solidFill>
              </a:defRPr>
            </a:pPr>
            <a:r>
              <a:rPr sz="1275" b="0">
                <a:solidFill>
                  <a:srgbClr val="C6D2DF"/>
                </a:solidFill>
              </a:rPr>
              <a:t>Final UI / Smoke</a:t>
            </a:r>
          </a:p>
        </p:txBody>
      </p:sp>
      <p:sp>
        <p:nvSpPr>
          <p:cNvPr id="24" name="s4-guard">
            <a:extLst xmlns:a="http://schemas.openxmlformats.org/drawingml/2006/main">
              <a:ext uri="{FF2B5EF4-FFF2-40B4-BE49-F238E27FC236}">
                <a16:creationId xmlns:a16="http://schemas.microsoft.com/office/drawing/2014/main" id="{E87B70C1-5F91-4DFE-A2DB-B142E5AAF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10744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1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s4-guard-title">
            <a:extLst xmlns:a="http://schemas.openxmlformats.org/drawingml/2006/main">
              <a:ext uri="{FF2B5EF4-FFF2-40B4-BE49-F238E27FC236}">
                <a16:creationId xmlns:a16="http://schemas.microsoft.com/office/drawing/2014/main" id="{3A24A44E-0A80-4DA2-BBE4-791C95C07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149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A874FF"/>
                </a:solidFill>
              </a:defRPr>
            </a:pPr>
            <a:r>
              <a:rPr sz="1500" b="1">
                <a:solidFill>
                  <a:srgbClr val="A874FF"/>
                </a:solidFill>
              </a:rPr>
              <a:t>范围控制</a:t>
            </a:r>
          </a:p>
        </p:txBody>
      </p:sp>
      <p:sp>
        <p:nvSpPr>
          <p:cNvPr id="26" name="s4-guard-copy">
            <a:extLst xmlns:a="http://schemas.openxmlformats.org/drawingml/2006/main">
              <a:ext uri="{FF2B5EF4-FFF2-40B4-BE49-F238E27FC236}">
                <a16:creationId xmlns:a16="http://schemas.microsoft.com/office/drawing/2014/main" id="{1AC906D0-869C-4264-B864-AF77057B1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276850"/>
            <a:ext cx="8953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6D2DF"/>
                </a:solidFill>
              </a:defRPr>
            </a:pPr>
            <a:r>
              <a:rPr sz="1500" b="0">
                <a:solidFill>
                  <a:srgbClr val="C6D2DF"/>
                </a:solidFill>
              </a:rPr>
              <a:t>不扩关卡、不加角色、不接网络或数据库；把时间集中到核心创新、稳定性和答辩可见度。</a:t>
            </a:r>
          </a:p>
        </p:txBody>
      </p:sp>
    </p:spTree>
    <p:extLst>
      <p:ext uri="{BB962C8B-B14F-4D97-AF65-F5344CB8AC3E}">
        <p14:creationId xmlns:p14="http://schemas.microsoft.com/office/powerpoint/2010/main" val="128034300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509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sys-5">
            <a:extLst xmlns:a="http://schemas.openxmlformats.org/drawingml/2006/main">
              <a:ext uri="{FF2B5EF4-FFF2-40B4-BE49-F238E27FC236}">
                <a16:creationId xmlns:a16="http://schemas.microsoft.com/office/drawing/2014/main" id="{26AD764D-5626-4BBD-B2A5-5575FB868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3905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2D6F4"/>
                </a:solidFill>
              </a:defRPr>
            </a:pPr>
            <a:r>
              <a:rPr sz="1050" b="1">
                <a:solidFill>
                  <a:srgbClr val="32D6F4"/>
                </a:solidFill>
              </a:rPr>
              <a:t>ECHO // ZERO  /  INITIAL REVIEW</a:t>
            </a:r>
          </a:p>
        </p:txBody>
      </p:sp>
      <p:sp>
        <p:nvSpPr>
          <p:cNvPr id="2" name="section-5">
            <a:extLst xmlns:a="http://schemas.openxmlformats.org/drawingml/2006/main">
              <a:ext uri="{FF2B5EF4-FFF2-40B4-BE49-F238E27FC236}">
                <a16:creationId xmlns:a16="http://schemas.microsoft.com/office/drawing/2014/main" id="{E77D4B0C-E362-447C-A808-59F1D762B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66700"/>
            <a:ext cx="2533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2839A"/>
                </a:solidFill>
              </a:defRPr>
            </a:pPr>
            <a:r>
              <a:rPr sz="975" b="1">
                <a:solidFill>
                  <a:srgbClr val="72839A"/>
                </a:solidFill>
              </a:rPr>
              <a:t>TECHNOLOGY</a:t>
            </a:r>
          </a:p>
        </p:txBody>
      </p:sp>
      <p:sp>
        <p:nvSpPr>
          <p:cNvPr id="3" name="top-rule-5">
            <a:extLst xmlns:a="http://schemas.openxmlformats.org/drawingml/2006/main">
              <a:ext uri="{FF2B5EF4-FFF2-40B4-BE49-F238E27FC236}">
                <a16:creationId xmlns:a16="http://schemas.microsoft.com/office/drawing/2014/main" id="{CEDD4D97-968D-40B0-B932-B48913150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1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5">
            <a:extLst xmlns:a="http://schemas.openxmlformats.org/drawingml/2006/main">
              <a:ext uri="{FF2B5EF4-FFF2-40B4-BE49-F238E27FC236}">
                <a16:creationId xmlns:a16="http://schemas.microsoft.com/office/drawing/2014/main" id="{7386D27F-778A-45BF-98D5-BEEFEC5D3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2839A"/>
                </a:solidFill>
              </a:defRPr>
            </a:pPr>
            <a:r>
              <a:rPr sz="900" b="1">
                <a:solidFill>
                  <a:srgbClr val="72839A"/>
                </a:solidFill>
              </a:rPr>
              <a:t>05</a:t>
            </a:r>
          </a:p>
        </p:txBody>
      </p:sp>
      <p:sp>
        <p:nvSpPr>
          <p:cNvPr id="5" name="s5-title">
            <a:extLst xmlns:a="http://schemas.openxmlformats.org/drawingml/2006/main">
              <a:ext uri="{FF2B5EF4-FFF2-40B4-BE49-F238E27FC236}">
                <a16:creationId xmlns:a16="http://schemas.microsoft.com/office/drawing/2014/main" id="{7444FCA6-622B-436A-9699-09BB20EB6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2F7FC"/>
                </a:solidFill>
              </a:defRPr>
            </a:pPr>
            <a:r>
              <a:rPr sz="2850" b="1">
                <a:solidFill>
                  <a:srgbClr val="F2F7FC"/>
                </a:solidFill>
              </a:rPr>
              <a:t>纯逻辑内核，让预演与执行保持一致</a:t>
            </a:r>
          </a:p>
        </p:txBody>
      </p:sp>
      <p:sp>
        <p:nvSpPr>
          <p:cNvPr id="6" name="s5-sub">
            <a:extLst xmlns:a="http://schemas.openxmlformats.org/drawingml/2006/main">
              <a:ext uri="{FF2B5EF4-FFF2-40B4-BE49-F238E27FC236}">
                <a16:creationId xmlns:a16="http://schemas.microsoft.com/office/drawing/2014/main" id="{9ABD7DDD-B6B4-44E7-A7FC-9AD2487A1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C6D2DF"/>
                </a:solidFill>
              </a:defRPr>
            </a:pPr>
            <a:r>
              <a:rPr sz="1575" b="0">
                <a:solidFill>
                  <a:srgbClr val="C6D2DF"/>
                </a:solidFill>
              </a:rPr>
              <a:t>pygame 负责输入和表现；伤害、位置、AI 与胜负只由领域层决定。</a:t>
            </a:r>
          </a:p>
        </p:txBody>
      </p:sp>
      <p:sp>
        <p:nvSpPr>
          <p:cNvPr id="7" name="s5-input">
            <a:extLst xmlns:a="http://schemas.openxmlformats.org/drawingml/2006/main">
              <a:ext uri="{FF2B5EF4-FFF2-40B4-BE49-F238E27FC236}">
                <a16:creationId xmlns:a16="http://schemas.microsoft.com/office/drawing/2014/main" id="{FD89F63A-9E48-4A18-BF44-785847494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1714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422"/>
          </a:solidFill>
          <a:ln xmlns:a="http://schemas.openxmlformats.org/drawingml/2006/main" w="19050">
            <a:solidFill>
              <a:srgbClr val="32D6F4"/>
            </a:solidFill>
            <a:prstDash val="solid"/>
          </a:ln>
        </p:spPr>
      </p:sp>
      <p:sp>
        <p:nvSpPr>
          <p:cNvPr id="8" name="s5-input-label">
            <a:extLst xmlns:a="http://schemas.openxmlformats.org/drawingml/2006/main">
              <a:ext uri="{FF2B5EF4-FFF2-40B4-BE49-F238E27FC236}">
                <a16:creationId xmlns:a16="http://schemas.microsoft.com/office/drawing/2014/main" id="{3AE10E8C-A51F-493F-BFAA-68F371DD4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76500"/>
            <a:ext cx="1447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2D6F4"/>
                </a:solidFill>
              </a:defRPr>
            </a:pPr>
            <a:r>
              <a:rPr sz="1050" b="1">
                <a:solidFill>
                  <a:srgbClr val="32D6F4"/>
                </a:solidFill>
              </a:rPr>
              <a:t>INPUT / SCENE</a:t>
            </a:r>
          </a:p>
        </p:txBody>
      </p:sp>
      <p:sp>
        <p:nvSpPr>
          <p:cNvPr id="9" name="s5-input-body">
            <a:extLst xmlns:a="http://schemas.openxmlformats.org/drawingml/2006/main">
              <a:ext uri="{FF2B5EF4-FFF2-40B4-BE49-F238E27FC236}">
                <a16:creationId xmlns:a16="http://schemas.microsoft.com/office/drawing/2014/main" id="{1CC312C7-8617-4E32-95DF-479B39852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52725"/>
            <a:ext cx="1447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2F7FC"/>
                </a:solidFill>
              </a:defRPr>
            </a:pPr>
            <a:r>
              <a:rPr sz="1275" b="1">
                <a:solidFill>
                  <a:srgbClr val="F2F7FC"/>
                </a:solidFill>
              </a:rPr>
              <a:t>键鼠 → Command</a:t>
            </a:r>
          </a:p>
        </p:txBody>
      </p:sp>
      <p:sp>
        <p:nvSpPr>
          <p:cNvPr id="10" name="s5-command">
            <a:extLst xmlns:a="http://schemas.openxmlformats.org/drawingml/2006/main">
              <a:ext uri="{FF2B5EF4-FFF2-40B4-BE49-F238E27FC236}">
                <a16:creationId xmlns:a16="http://schemas.microsoft.com/office/drawing/2014/main" id="{B4F8BBF5-A35D-4FAD-AECD-FF79E254B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343150"/>
            <a:ext cx="1619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422"/>
          </a:solidFill>
          <a:ln xmlns:a="http://schemas.openxmlformats.org/drawingml/2006/main" w="19050">
            <a:solidFill>
              <a:srgbClr val="32D6F4"/>
            </a:solidFill>
            <a:prstDash val="solid"/>
          </a:ln>
        </p:spPr>
      </p:sp>
      <p:sp>
        <p:nvSpPr>
          <p:cNvPr id="11" name="s5-command-label">
            <a:extLst xmlns:a="http://schemas.openxmlformats.org/drawingml/2006/main">
              <a:ext uri="{FF2B5EF4-FFF2-40B4-BE49-F238E27FC236}">
                <a16:creationId xmlns:a16="http://schemas.microsoft.com/office/drawing/2014/main" id="{A5AFEDB1-758E-455F-BB85-8AD3D970A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476500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2D6F4"/>
                </a:solidFill>
              </a:defRPr>
            </a:pPr>
            <a:r>
              <a:rPr sz="1050" b="1">
                <a:solidFill>
                  <a:srgbClr val="32D6F4"/>
                </a:solidFill>
              </a:rPr>
              <a:t>COMMAND</a:t>
            </a:r>
          </a:p>
        </p:txBody>
      </p:sp>
      <p:sp>
        <p:nvSpPr>
          <p:cNvPr id="12" name="s5-command-body">
            <a:extLst xmlns:a="http://schemas.openxmlformats.org/drawingml/2006/main">
              <a:ext uri="{FF2B5EF4-FFF2-40B4-BE49-F238E27FC236}">
                <a16:creationId xmlns:a16="http://schemas.microsoft.com/office/drawing/2014/main" id="{79D39647-26D7-4940-BA09-17CF7ACA3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752725"/>
            <a:ext cx="1352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2F7FC"/>
                </a:solidFill>
              </a:defRPr>
            </a:pPr>
            <a:r>
              <a:rPr sz="1275" b="1">
                <a:solidFill>
                  <a:srgbClr val="F2F7FC"/>
                </a:solidFill>
              </a:rPr>
              <a:t>不可变动作</a:t>
            </a:r>
          </a:p>
        </p:txBody>
      </p:sp>
      <p:sp>
        <p:nvSpPr>
          <p:cNvPr id="13" name="s5-sim">
            <a:extLst xmlns:a="http://schemas.openxmlformats.org/drawingml/2006/main">
              <a:ext uri="{FF2B5EF4-FFF2-40B4-BE49-F238E27FC236}">
                <a16:creationId xmlns:a16="http://schemas.microsoft.com/office/drawing/2014/main" id="{67B048C0-D809-4A2E-9A5A-E6CA371F4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171700"/>
            <a:ext cx="1905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422"/>
          </a:solidFill>
          <a:ln xmlns:a="http://schemas.openxmlformats.org/drawingml/2006/main" w="19050">
            <a:solidFill>
              <a:srgbClr val="A874FF"/>
            </a:solidFill>
            <a:prstDash val="solid"/>
          </a:ln>
        </p:spPr>
      </p:sp>
      <p:sp>
        <p:nvSpPr>
          <p:cNvPr id="14" name="s5-sim-label">
            <a:extLst xmlns:a="http://schemas.openxmlformats.org/drawingml/2006/main">
              <a:ext uri="{FF2B5EF4-FFF2-40B4-BE49-F238E27FC236}">
                <a16:creationId xmlns:a16="http://schemas.microsoft.com/office/drawing/2014/main" id="{CB9B5397-8EF9-4478-A77C-7EF0C27CC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305050"/>
            <a:ext cx="1638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874FF"/>
                </a:solidFill>
              </a:defRPr>
            </a:pPr>
            <a:r>
              <a:rPr sz="1050" b="1">
                <a:solidFill>
                  <a:srgbClr val="A874FF"/>
                </a:solidFill>
              </a:rPr>
              <a:t>SIMULATOR</a:t>
            </a:r>
          </a:p>
        </p:txBody>
      </p:sp>
      <p:sp>
        <p:nvSpPr>
          <p:cNvPr id="15" name="s5-sim-body">
            <a:extLst xmlns:a="http://schemas.openxmlformats.org/drawingml/2006/main">
              <a:ext uri="{FF2B5EF4-FFF2-40B4-BE49-F238E27FC236}">
                <a16:creationId xmlns:a16="http://schemas.microsoft.com/office/drawing/2014/main" id="{6257DD16-9B27-4EA8-ADFF-DBFD605DA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581275"/>
            <a:ext cx="1638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2F7FC"/>
                </a:solidFill>
              </a:defRPr>
            </a:pPr>
            <a:r>
              <a:rPr sz="1275" b="1">
                <a:solidFill>
                  <a:srgbClr val="F2F7FC"/>
                </a:solidFill>
              </a:rPr>
              <a:t>唯一结算器</a:t>
            </a:r>
          </a:p>
        </p:txBody>
      </p:sp>
      <p:sp>
        <p:nvSpPr>
          <p:cNvPr id="16" name="s5-state">
            <a:extLst xmlns:a="http://schemas.openxmlformats.org/drawingml/2006/main">
              <a:ext uri="{FF2B5EF4-FFF2-40B4-BE49-F238E27FC236}">
                <a16:creationId xmlns:a16="http://schemas.microsoft.com/office/drawing/2014/main" id="{18E0DF00-DA88-4E47-AB53-A1AA5E7D7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809750"/>
            <a:ext cx="1905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422"/>
          </a:solidFill>
          <a:ln xmlns:a="http://schemas.openxmlformats.org/drawingml/2006/main" w="19050">
            <a:solidFill>
              <a:srgbClr val="56E39F"/>
            </a:solidFill>
            <a:prstDash val="solid"/>
          </a:ln>
        </p:spPr>
      </p:sp>
      <p:sp>
        <p:nvSpPr>
          <p:cNvPr id="17" name="s5-state-label">
            <a:extLst xmlns:a="http://schemas.openxmlformats.org/drawingml/2006/main">
              <a:ext uri="{FF2B5EF4-FFF2-40B4-BE49-F238E27FC236}">
                <a16:creationId xmlns:a16="http://schemas.microsoft.com/office/drawing/2014/main" id="{99C1ADE5-AD54-42F0-8F21-35C271034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943100"/>
            <a:ext cx="1638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6E39F"/>
                </a:solidFill>
              </a:defRPr>
            </a:pPr>
            <a:r>
              <a:rPr sz="1050" b="1">
                <a:solidFill>
                  <a:srgbClr val="56E39F"/>
                </a:solidFill>
              </a:rPr>
              <a:t>COMBAT STATE</a:t>
            </a:r>
          </a:p>
        </p:txBody>
      </p:sp>
      <p:sp>
        <p:nvSpPr>
          <p:cNvPr id="18" name="s5-state-body">
            <a:extLst xmlns:a="http://schemas.openxmlformats.org/drawingml/2006/main">
              <a:ext uri="{FF2B5EF4-FFF2-40B4-BE49-F238E27FC236}">
                <a16:creationId xmlns:a16="http://schemas.microsoft.com/office/drawing/2014/main" id="{D08EBE44-CF04-4BFC-8115-6CF60D0F3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219325"/>
            <a:ext cx="1638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2F7FC"/>
                </a:solidFill>
              </a:defRPr>
            </a:pPr>
            <a:r>
              <a:rPr sz="1275" b="1">
                <a:solidFill>
                  <a:srgbClr val="F2F7FC"/>
                </a:solidFill>
              </a:rPr>
              <a:t>完整战斗事实</a:t>
            </a:r>
          </a:p>
        </p:txBody>
      </p:sp>
      <p:sp>
        <p:nvSpPr>
          <p:cNvPr id="19" name="s5-event">
            <a:extLst xmlns:a="http://schemas.openxmlformats.org/drawingml/2006/main">
              <a:ext uri="{FF2B5EF4-FFF2-40B4-BE49-F238E27FC236}">
                <a16:creationId xmlns:a16="http://schemas.microsoft.com/office/drawing/2014/main" id="{3FCB1667-9306-40D3-9C0E-5C1220E0D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181350"/>
            <a:ext cx="1905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422"/>
          </a:solidFill>
          <a:ln xmlns:a="http://schemas.openxmlformats.org/drawingml/2006/main" w="19050">
            <a:solidFill>
              <a:srgbClr val="FF4D7D"/>
            </a:solidFill>
            <a:prstDash val="solid"/>
          </a:ln>
        </p:spPr>
      </p:sp>
      <p:sp>
        <p:nvSpPr>
          <p:cNvPr id="20" name="s5-event-label">
            <a:extLst xmlns:a="http://schemas.openxmlformats.org/drawingml/2006/main">
              <a:ext uri="{FF2B5EF4-FFF2-40B4-BE49-F238E27FC236}">
                <a16:creationId xmlns:a16="http://schemas.microsoft.com/office/drawing/2014/main" id="{B7D3774F-5B3D-4B2D-BA69-38F92D736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314700"/>
            <a:ext cx="1638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4D7D"/>
                </a:solidFill>
              </a:defRPr>
            </a:pPr>
            <a:r>
              <a:rPr sz="1050" b="1">
                <a:solidFill>
                  <a:srgbClr val="FF4D7D"/>
                </a:solidFill>
              </a:rPr>
              <a:t>LOGIC EVENT</a:t>
            </a:r>
          </a:p>
        </p:txBody>
      </p:sp>
      <p:sp>
        <p:nvSpPr>
          <p:cNvPr id="21" name="s5-event-body">
            <a:extLst xmlns:a="http://schemas.openxmlformats.org/drawingml/2006/main">
              <a:ext uri="{FF2B5EF4-FFF2-40B4-BE49-F238E27FC236}">
                <a16:creationId xmlns:a16="http://schemas.microsoft.com/office/drawing/2014/main" id="{F9AFCE04-FE1A-4B9E-8816-B08F12E78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590925"/>
            <a:ext cx="1638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2F7FC"/>
                </a:solidFill>
              </a:defRPr>
            </a:pPr>
            <a:r>
              <a:rPr sz="1275" b="1">
                <a:solidFill>
                  <a:srgbClr val="F2F7FC"/>
                </a:solidFill>
              </a:rPr>
              <a:t>可序列化事件</a:t>
            </a:r>
          </a:p>
        </p:txBody>
      </p:sp>
      <p:sp>
        <p:nvSpPr>
          <p:cNvPr id="22" name="s5-render">
            <a:extLst xmlns:a="http://schemas.openxmlformats.org/drawingml/2006/main">
              <a:ext uri="{FF2B5EF4-FFF2-40B4-BE49-F238E27FC236}">
                <a16:creationId xmlns:a16="http://schemas.microsoft.com/office/drawing/2014/main" id="{AEE88958-16C6-4BEF-9E2F-FDA5A409D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476500"/>
            <a:ext cx="1428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422"/>
          </a:solidFill>
          <a:ln xmlns:a="http://schemas.openxmlformats.org/drawingml/2006/main" w="19050">
            <a:solidFill>
              <a:srgbClr val="32D6F4"/>
            </a:solidFill>
            <a:prstDash val="solid"/>
          </a:ln>
        </p:spPr>
      </p:sp>
      <p:sp>
        <p:nvSpPr>
          <p:cNvPr id="23" name="s5-render-label">
            <a:extLst xmlns:a="http://schemas.openxmlformats.org/drawingml/2006/main">
              <a:ext uri="{FF2B5EF4-FFF2-40B4-BE49-F238E27FC236}">
                <a16:creationId xmlns:a16="http://schemas.microsoft.com/office/drawing/2014/main" id="{041D59AD-DDFA-4EE6-BC6D-6C33E794E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609850"/>
            <a:ext cx="1162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2D6F4"/>
                </a:solidFill>
              </a:defRPr>
            </a:pPr>
            <a:r>
              <a:rPr sz="1050" b="1">
                <a:solidFill>
                  <a:srgbClr val="32D6F4"/>
                </a:solidFill>
              </a:rPr>
              <a:t>RENDERER</a:t>
            </a:r>
          </a:p>
        </p:txBody>
      </p:sp>
      <p:sp>
        <p:nvSpPr>
          <p:cNvPr id="24" name="s5-render-body">
            <a:extLst xmlns:a="http://schemas.openxmlformats.org/drawingml/2006/main">
              <a:ext uri="{FF2B5EF4-FFF2-40B4-BE49-F238E27FC236}">
                <a16:creationId xmlns:a16="http://schemas.microsoft.com/office/drawing/2014/main" id="{F46315AC-5E0B-4C89-94B4-36CCB8DFB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886075"/>
            <a:ext cx="1162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2F7FC"/>
                </a:solidFill>
              </a:defRPr>
            </a:pPr>
            <a:r>
              <a:rPr sz="1275" b="1">
                <a:solidFill>
                  <a:srgbClr val="F2F7FC"/>
                </a:solidFill>
              </a:rPr>
              <a:t>动画 / HUD / 音频</a:t>
            </a:r>
          </a:p>
        </p:txBody>
      </p:sp>
      <p:sp>
        <p:nvSpPr>
          <p:cNvPr id="25" name="s5-clone">
            <a:extLst xmlns:a="http://schemas.openxmlformats.org/drawingml/2006/main">
              <a:ext uri="{FF2B5EF4-FFF2-40B4-BE49-F238E27FC236}">
                <a16:creationId xmlns:a16="http://schemas.microsoft.com/office/drawing/2014/main" id="{CF369862-AB18-472C-A91D-C1EA9489C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191000"/>
            <a:ext cx="1809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422"/>
          </a:solidFill>
          <a:ln xmlns:a="http://schemas.openxmlformats.org/drawingml/2006/main" w="19050">
            <a:solidFill>
              <a:srgbClr val="A874FF"/>
            </a:solidFill>
            <a:prstDash val="solid"/>
          </a:ln>
        </p:spPr>
      </p:sp>
      <p:sp>
        <p:nvSpPr>
          <p:cNvPr id="26" name="s5-clone-label">
            <a:extLst xmlns:a="http://schemas.openxmlformats.org/drawingml/2006/main">
              <a:ext uri="{FF2B5EF4-FFF2-40B4-BE49-F238E27FC236}">
                <a16:creationId xmlns:a16="http://schemas.microsoft.com/office/drawing/2014/main" id="{10C11A03-D6A6-4361-847C-7794729AB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324350"/>
            <a:ext cx="1543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874FF"/>
                </a:solidFill>
              </a:defRPr>
            </a:pPr>
            <a:r>
              <a:rPr sz="1050" b="1">
                <a:solidFill>
                  <a:srgbClr val="A874FF"/>
                </a:solidFill>
              </a:rPr>
              <a:t>PREVIEW CLONE</a:t>
            </a:r>
          </a:p>
        </p:txBody>
      </p:sp>
      <p:sp>
        <p:nvSpPr>
          <p:cNvPr id="27" name="s5-clone-body">
            <a:extLst xmlns:a="http://schemas.openxmlformats.org/drawingml/2006/main">
              <a:ext uri="{FF2B5EF4-FFF2-40B4-BE49-F238E27FC236}">
                <a16:creationId xmlns:a16="http://schemas.microsoft.com/office/drawing/2014/main" id="{E7EE12E2-6940-4EC3-99C3-1307A9A28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600575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2F7FC"/>
                </a:solidFill>
              </a:defRPr>
            </a:pPr>
            <a:r>
              <a:rPr sz="1275" b="1">
                <a:solidFill>
                  <a:srgbClr val="F2F7FC"/>
                </a:solidFill>
              </a:rPr>
              <a:t>状态副本</a:t>
            </a:r>
          </a:p>
        </p:txBody>
      </p:sp>
      <p:cxnSp>
        <p:nvCxnSpPr>
          <p:cNvPr id="66" name="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2324100" y="2733675"/>
            <a:ext cx="5334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03149"/>
            </a:solidFill>
            <a:prstDash val="solid"/>
            <a:tailEnd type="arrow" w="med" len="med"/>
          </a:ln>
        </p:spPr>
      </p:cxnSp>
      <p:cxnSp>
        <p:nvCxnSpPr>
          <p:cNvPr id="67" name=""/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 flipV="1">
            <a:off x="4476750" y="2562225"/>
            <a:ext cx="666750" cy="1714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03149"/>
            </a:solidFill>
            <a:prstDash val="solid"/>
            <a:tailEnd type="arrow" w="med" len="med"/>
          </a:ln>
        </p:spPr>
      </p:cxnSp>
      <p:cxnSp>
        <p:nvCxnSpPr>
          <p:cNvPr id="68" name=""/>
          <p:cNvCxnSpPr>
            <a:stCxn xmlns:a="http://schemas.openxmlformats.org/drawingml/2006/main" id="13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 flipV="1">
            <a:off x="7048500" y="2200275"/>
            <a:ext cx="762000" cy="3619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56E39F"/>
            </a:solidFill>
            <a:prstDash val="solid"/>
            <a:tailEnd type="arrow" w="med" len="med"/>
          </a:ln>
        </p:spPr>
      </p:cxnSp>
      <p:cxnSp>
        <p:nvCxnSpPr>
          <p:cNvPr id="69" name=""/>
          <p:cNvCxnSpPr>
            <a:stCxn xmlns:a="http://schemas.openxmlformats.org/drawingml/2006/main" id="13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7048500" y="2562225"/>
            <a:ext cx="762000" cy="10096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FF4D7D"/>
            </a:solidFill>
            <a:prstDash val="solid"/>
            <a:tailEnd type="arrow" w="med" len="med"/>
          </a:ln>
        </p:spPr>
      </p:cxnSp>
      <p:cxnSp>
        <p:nvCxnSpPr>
          <p:cNvPr id="70" name=""/>
          <p:cNvCxnSpPr>
            <a:stCxn xmlns:a="http://schemas.openxmlformats.org/drawingml/2006/main" id="19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 flipV="1">
            <a:off x="9715500" y="2867025"/>
            <a:ext cx="571500" cy="7048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2D6F4"/>
            </a:solidFill>
            <a:prstDash val="solid"/>
            <a:tailEnd type="arrow" w="med" len="med"/>
          </a:ln>
        </p:spPr>
      </p:cxnSp>
      <p:cxnSp>
        <p:nvCxnSpPr>
          <p:cNvPr id="71" name=""/>
          <p:cNvCxnSpPr>
            <a:stCxn xmlns:a="http://schemas.openxmlformats.org/drawingml/2006/main" id="25" idx="3"/>
            <a:endCxn xmlns:a="http://schemas.openxmlformats.org/drawingml/2006/main" id="13" idx="2"/>
          </p:cNvCxnSpPr>
          <p:nvPr/>
        </p:nvCxnSpPr>
        <p:spPr>
          <a:xfrm xmlns:a="http://schemas.openxmlformats.org/drawingml/2006/main" flipV="1">
            <a:off x="4667250" y="2952750"/>
            <a:ext cx="1428750" cy="1628775"/>
          </a:xfrm>
          <a:prstGeom xmlns:a="http://schemas.openxmlformats.org/drawingml/2006/main" prst="bentConnector2">
            <a:avLst/>
          </a:prstGeom>
          <a:ln xmlns:a="http://schemas.openxmlformats.org/drawingml/2006/main" w="28575">
            <a:solidFill>
              <a:srgbClr val="A874FF"/>
            </a:solidFill>
            <a:prstDash val="dash"/>
            <a:tailEnd type="arrow" w="med" len="med"/>
          </a:ln>
        </p:spPr>
      </p:cxnSp>
      <p:sp>
        <p:nvSpPr>
          <p:cNvPr id="34" name="s5-clone-note">
            <a:extLst xmlns:a="http://schemas.openxmlformats.org/drawingml/2006/main">
              <a:ext uri="{FF2B5EF4-FFF2-40B4-BE49-F238E27FC236}">
                <a16:creationId xmlns:a16="http://schemas.microsoft.com/office/drawing/2014/main" id="{CBBB8EB5-00DB-4E32-8DA0-211F5FB27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333875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874FF"/>
                </a:solidFill>
              </a:defRPr>
            </a:pPr>
            <a:r>
              <a:rPr sz="1275" b="1">
                <a:solidFill>
                  <a:srgbClr val="A874FF"/>
                </a:solidFill>
              </a:rPr>
              <a:t>Preview 复制状态后仍调用同一个 Simulator</a:t>
            </a:r>
          </a:p>
        </p:txBody>
      </p:sp>
      <p:sp>
        <p:nvSpPr>
          <p:cNvPr id="35" name="s5-bottom">
            <a:extLst xmlns:a="http://schemas.openxmlformats.org/drawingml/2006/main">
              <a:ext uri="{FF2B5EF4-FFF2-40B4-BE49-F238E27FC236}">
                <a16:creationId xmlns:a16="http://schemas.microsoft.com/office/drawing/2014/main" id="{E5BBD90D-F25E-4423-90FF-246533F7E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91150"/>
            <a:ext cx="10744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1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s5-stat1">
            <a:extLst xmlns:a="http://schemas.openxmlformats.org/drawingml/2006/main">
              <a:ext uri="{FF2B5EF4-FFF2-40B4-BE49-F238E27FC236}">
                <a16:creationId xmlns:a16="http://schemas.microsoft.com/office/drawing/2014/main" id="{650730F8-F2D2-499B-A23B-878039CF5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959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2D6F4"/>
                </a:solidFill>
              </a:defRPr>
            </a:pPr>
            <a:r>
              <a:rPr sz="1350" b="1">
                <a:solidFill>
                  <a:srgbClr val="32D6F4"/>
                </a:solidFill>
              </a:rPr>
              <a:t>DOMAIN 无 pygame</a:t>
            </a:r>
          </a:p>
        </p:txBody>
      </p:sp>
      <p:sp>
        <p:nvSpPr>
          <p:cNvPr id="37" name="s5-stat2">
            <a:extLst xmlns:a="http://schemas.openxmlformats.org/drawingml/2006/main">
              <a:ext uri="{FF2B5EF4-FFF2-40B4-BE49-F238E27FC236}">
                <a16:creationId xmlns:a16="http://schemas.microsoft.com/office/drawing/2014/main" id="{25A58E99-E6C2-4D6D-B5D7-6FB1D5B75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6959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874FF"/>
                </a:solidFill>
              </a:defRPr>
            </a:pPr>
            <a:r>
              <a:rPr sz="1350" b="1">
                <a:solidFill>
                  <a:srgbClr val="A874FF"/>
                </a:solidFill>
              </a:rPr>
              <a:t>JSON 配置严格校验</a:t>
            </a:r>
          </a:p>
        </p:txBody>
      </p:sp>
      <p:sp>
        <p:nvSpPr>
          <p:cNvPr id="38" name="s5-stat3">
            <a:extLst xmlns:a="http://schemas.openxmlformats.org/drawingml/2006/main">
              <a:ext uri="{FF2B5EF4-FFF2-40B4-BE49-F238E27FC236}">
                <a16:creationId xmlns:a16="http://schemas.microsoft.com/office/drawing/2014/main" id="{4365A460-A396-44D4-9F4E-C3BAD1897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6959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6E39F"/>
                </a:solidFill>
              </a:defRPr>
            </a:pPr>
            <a:r>
              <a:rPr sz="1350" b="1">
                <a:solidFill>
                  <a:srgbClr val="56E39F"/>
                </a:solidFill>
              </a:rPr>
              <a:t>125 项自动测试</a:t>
            </a:r>
          </a:p>
        </p:txBody>
      </p:sp>
    </p:spTree>
    <p:extLst>
      <p:ext uri="{BB962C8B-B14F-4D97-AF65-F5344CB8AC3E}">
        <p14:creationId xmlns:p14="http://schemas.microsoft.com/office/powerpoint/2010/main" val="39012417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509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ys-6">
            <a:extLst xmlns:a="http://schemas.openxmlformats.org/drawingml/2006/main">
              <a:ext uri="{FF2B5EF4-FFF2-40B4-BE49-F238E27FC236}">
                <a16:creationId xmlns:a16="http://schemas.microsoft.com/office/drawing/2014/main" id="{A5C8F387-339F-42F3-9EFD-E79623D3E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3905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2D6F4"/>
                </a:solidFill>
              </a:defRPr>
            </a:pPr>
            <a:r>
              <a:rPr sz="1050" b="1">
                <a:solidFill>
                  <a:srgbClr val="32D6F4"/>
                </a:solidFill>
              </a:rPr>
              <a:t>ECHO // ZERO  /  INITIAL REVIEW</a:t>
            </a:r>
          </a:p>
        </p:txBody>
      </p:sp>
      <p:sp>
        <p:nvSpPr>
          <p:cNvPr id="2" name="section-6">
            <a:extLst xmlns:a="http://schemas.openxmlformats.org/drawingml/2006/main">
              <a:ext uri="{FF2B5EF4-FFF2-40B4-BE49-F238E27FC236}">
                <a16:creationId xmlns:a16="http://schemas.microsoft.com/office/drawing/2014/main" id="{3CB4E996-A7EE-4903-80E6-414C3AD52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66700"/>
            <a:ext cx="2533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2839A"/>
                </a:solidFill>
              </a:defRPr>
            </a:pPr>
            <a:r>
              <a:rPr sz="975" b="1">
                <a:solidFill>
                  <a:srgbClr val="72839A"/>
                </a:solidFill>
              </a:rPr>
              <a:t>ALGORITHM / HARD PARTS</a:t>
            </a:r>
          </a:p>
        </p:txBody>
      </p:sp>
      <p:sp>
        <p:nvSpPr>
          <p:cNvPr id="3" name="top-rule-6">
            <a:extLst xmlns:a="http://schemas.openxmlformats.org/drawingml/2006/main">
              <a:ext uri="{FF2B5EF4-FFF2-40B4-BE49-F238E27FC236}">
                <a16:creationId xmlns:a16="http://schemas.microsoft.com/office/drawing/2014/main" id="{6BFFD0DF-EDA5-4C16-A39E-887DF23C0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1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6">
            <a:extLst xmlns:a="http://schemas.openxmlformats.org/drawingml/2006/main">
              <a:ext uri="{FF2B5EF4-FFF2-40B4-BE49-F238E27FC236}">
                <a16:creationId xmlns:a16="http://schemas.microsoft.com/office/drawing/2014/main" id="{B4517E44-0548-46CF-9D0C-477744D53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2839A"/>
                </a:solidFill>
              </a:defRPr>
            </a:pPr>
            <a:r>
              <a:rPr sz="900" b="1">
                <a:solidFill>
                  <a:srgbClr val="72839A"/>
                </a:solidFill>
              </a:rPr>
              <a:t>06</a:t>
            </a:r>
          </a:p>
        </p:txBody>
      </p:sp>
      <p:sp>
        <p:nvSpPr>
          <p:cNvPr id="5" name="s6-title">
            <a:extLst xmlns:a="http://schemas.openxmlformats.org/drawingml/2006/main">
              <a:ext uri="{FF2B5EF4-FFF2-40B4-BE49-F238E27FC236}">
                <a16:creationId xmlns:a16="http://schemas.microsoft.com/office/drawing/2014/main" id="{AC109AAB-6FDF-42EA-83B6-93FBD587E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762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2F7FC"/>
                </a:solidFill>
              </a:defRPr>
            </a:pPr>
            <a:r>
              <a:rPr sz="2850" b="1">
                <a:solidFill>
                  <a:srgbClr val="F2F7FC"/>
                </a:solidFill>
              </a:rPr>
              <a:t>三类算法，让随机仍然可控、可解释</a:t>
            </a:r>
          </a:p>
        </p:txBody>
      </p:sp>
      <p:sp>
        <p:nvSpPr>
          <p:cNvPr id="6" name="s6-no-0">
            <a:extLst xmlns:a="http://schemas.openxmlformats.org/drawingml/2006/main">
              <a:ext uri="{FF2B5EF4-FFF2-40B4-BE49-F238E27FC236}">
                <a16:creationId xmlns:a16="http://schemas.microsoft.com/office/drawing/2014/main" id="{65259391-A5B1-4023-9DAF-7C6DF7498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2D6F4"/>
                </a:solidFill>
              </a:defRPr>
            </a:pPr>
            <a:r>
              <a:rPr sz="1800" b="1">
                <a:solidFill>
                  <a:srgbClr val="32D6F4"/>
                </a:solidFill>
              </a:rPr>
              <a:t>01</a:t>
            </a:r>
          </a:p>
        </p:txBody>
      </p:sp>
      <p:sp>
        <p:nvSpPr>
          <p:cNvPr id="7" name="s6-head-0">
            <a:extLst xmlns:a="http://schemas.openxmlformats.org/drawingml/2006/main">
              <a:ext uri="{FF2B5EF4-FFF2-40B4-BE49-F238E27FC236}">
                <a16:creationId xmlns:a16="http://schemas.microsoft.com/office/drawing/2014/main" id="{67BD2295-AE85-42B4-AA70-3BF933306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764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2F7FC"/>
                </a:solidFill>
              </a:defRPr>
            </a:pPr>
            <a:r>
              <a:rPr sz="1725" b="1">
                <a:solidFill>
                  <a:srgbClr val="F2F7FC"/>
                </a:solidFill>
              </a:rPr>
              <a:t>程序地图</a:t>
            </a:r>
          </a:p>
        </p:txBody>
      </p:sp>
      <p:sp>
        <p:nvSpPr>
          <p:cNvPr id="8" name="s6-body-0">
            <a:extLst xmlns:a="http://schemas.openxmlformats.org/drawingml/2006/main">
              <a:ext uri="{FF2B5EF4-FFF2-40B4-BE49-F238E27FC236}">
                <a16:creationId xmlns:a16="http://schemas.microsoft.com/office/drawing/2014/main" id="{E41085DC-D301-4599-ABD5-9FCEF9466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076450"/>
            <a:ext cx="476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6D2DF"/>
                </a:solidFill>
              </a:defRPr>
            </a:pPr>
            <a:r>
              <a:rPr sz="1275" b="0">
                <a:solidFill>
                  <a:srgbClr val="C6D2DF"/>
                </a:solidFill>
              </a:rPr>
              <a:t>Seed → 房间/走廊 → BFS 可达性 → 距离校验 → 派生 Seed 重试</a:t>
            </a:r>
          </a:p>
        </p:txBody>
      </p:sp>
      <p:sp>
        <p:nvSpPr>
          <p:cNvPr id="9" name="s6-rule-0">
            <a:extLst xmlns:a="http://schemas.openxmlformats.org/drawingml/2006/main">
              <a:ext uri="{FF2B5EF4-FFF2-40B4-BE49-F238E27FC236}">
                <a16:creationId xmlns:a16="http://schemas.microsoft.com/office/drawing/2014/main" id="{7A28B44C-05B4-4D9C-8FCD-F951F1A30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5353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1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6-no-1">
            <a:extLst xmlns:a="http://schemas.openxmlformats.org/drawingml/2006/main">
              <a:ext uri="{FF2B5EF4-FFF2-40B4-BE49-F238E27FC236}">
                <a16:creationId xmlns:a16="http://schemas.microsoft.com/office/drawing/2014/main" id="{AB5596DE-1E3B-4D32-B3D7-144138CEA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4D7D"/>
                </a:solidFill>
              </a:defRPr>
            </a:pPr>
            <a:r>
              <a:rPr sz="1800" b="1">
                <a:solidFill>
                  <a:srgbClr val="FF4D7D"/>
                </a:solidFill>
              </a:rPr>
              <a:t>02</a:t>
            </a:r>
          </a:p>
        </p:txBody>
      </p:sp>
      <p:sp>
        <p:nvSpPr>
          <p:cNvPr id="11" name="s6-head-1">
            <a:extLst xmlns:a="http://schemas.openxmlformats.org/drawingml/2006/main">
              <a:ext uri="{FF2B5EF4-FFF2-40B4-BE49-F238E27FC236}">
                <a16:creationId xmlns:a16="http://schemas.microsoft.com/office/drawing/2014/main" id="{17847DFF-D2D5-496D-AC56-3EF83030A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9527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2F7FC"/>
                </a:solidFill>
              </a:defRPr>
            </a:pPr>
            <a:r>
              <a:rPr sz="1725" b="1">
                <a:solidFill>
                  <a:srgbClr val="F2F7FC"/>
                </a:solidFill>
              </a:rPr>
              <a:t>Behavior Tree</a:t>
            </a:r>
          </a:p>
        </p:txBody>
      </p:sp>
      <p:sp>
        <p:nvSpPr>
          <p:cNvPr id="12" name="s6-body-1">
            <a:extLst xmlns:a="http://schemas.openxmlformats.org/drawingml/2006/main">
              <a:ext uri="{FF2B5EF4-FFF2-40B4-BE49-F238E27FC236}">
                <a16:creationId xmlns:a16="http://schemas.microsoft.com/office/drawing/2014/main" id="{BF580400-68DB-4CC1-B316-23B8DDFD6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352800"/>
            <a:ext cx="476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6D2DF"/>
                </a:solidFill>
              </a:defRPr>
            </a:pPr>
            <a:r>
              <a:rPr sz="1275" b="0">
                <a:solidFill>
                  <a:srgbClr val="C6D2DF"/>
                </a:solidFill>
              </a:rPr>
              <a:t>Selector / Sequence / Condition → 唯一 PreparedAction → Intent 与执行共用</a:t>
            </a:r>
          </a:p>
        </p:txBody>
      </p:sp>
      <p:sp>
        <p:nvSpPr>
          <p:cNvPr id="13" name="s6-rule-1">
            <a:extLst xmlns:a="http://schemas.openxmlformats.org/drawingml/2006/main">
              <a:ext uri="{FF2B5EF4-FFF2-40B4-BE49-F238E27FC236}">
                <a16:creationId xmlns:a16="http://schemas.microsoft.com/office/drawing/2014/main" id="{34A5EC36-BEAD-488A-94B4-515E030C7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5353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1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6-no-2">
            <a:extLst xmlns:a="http://schemas.openxmlformats.org/drawingml/2006/main">
              <a:ext uri="{FF2B5EF4-FFF2-40B4-BE49-F238E27FC236}">
                <a16:creationId xmlns:a16="http://schemas.microsoft.com/office/drawing/2014/main" id="{A6724005-7003-484E-8CB6-1F36A5A73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2910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A874FF"/>
                </a:solidFill>
              </a:defRPr>
            </a:pPr>
            <a:r>
              <a:rPr sz="1800" b="1">
                <a:solidFill>
                  <a:srgbClr val="A874FF"/>
                </a:solidFill>
              </a:rPr>
              <a:t>03</a:t>
            </a:r>
          </a:p>
        </p:txBody>
      </p:sp>
      <p:sp>
        <p:nvSpPr>
          <p:cNvPr id="15" name="s6-head-2">
            <a:extLst xmlns:a="http://schemas.openxmlformats.org/drawingml/2006/main">
              <a:ext uri="{FF2B5EF4-FFF2-40B4-BE49-F238E27FC236}">
                <a16:creationId xmlns:a16="http://schemas.microsoft.com/office/drawing/2014/main" id="{3CA13202-77DC-4671-AAD5-8735F8A25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291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2F7FC"/>
                </a:solidFill>
              </a:defRPr>
            </a:pPr>
            <a:r>
              <a:rPr sz="1725" b="1">
                <a:solidFill>
                  <a:srgbClr val="F2F7FC"/>
                </a:solidFill>
              </a:rPr>
              <a:t>因果预演</a:t>
            </a:r>
          </a:p>
        </p:txBody>
      </p:sp>
      <p:sp>
        <p:nvSpPr>
          <p:cNvPr id="16" name="s6-body-2">
            <a:extLst xmlns:a="http://schemas.openxmlformats.org/drawingml/2006/main">
              <a:ext uri="{FF2B5EF4-FFF2-40B4-BE49-F238E27FC236}">
                <a16:creationId xmlns:a16="http://schemas.microsoft.com/office/drawing/2014/main" id="{AEAFFFE6-2C29-457D-8E50-4A673DAE8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29150"/>
            <a:ext cx="476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6D2DF"/>
                </a:solidFill>
              </a:defRPr>
            </a:pPr>
            <a:r>
              <a:rPr sz="1275" b="0">
                <a:solidFill>
                  <a:srgbClr val="C6D2DF"/>
                </a:solidFill>
              </a:rPr>
              <a:t>clone 状态 → simulate_turn → fingerprint；与真实执行终态自动比较</a:t>
            </a:r>
          </a:p>
        </p:txBody>
      </p:sp>
      <p:sp>
        <p:nvSpPr>
          <p:cNvPr id="17" name="s6-rule-2">
            <a:extLst xmlns:a="http://schemas.openxmlformats.org/drawingml/2006/main">
              <a:ext uri="{FF2B5EF4-FFF2-40B4-BE49-F238E27FC236}">
                <a16:creationId xmlns:a16="http://schemas.microsoft.com/office/drawing/2014/main" id="{B6AF62E9-8DCF-47F5-B717-501B047F7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5353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149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a419c445cc4402"/>
          <a:srcRect xmlns:a="http://schemas.openxmlformats.org/drawingml/2006/main" l="0" t="37" r="0" b="3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57950" y="1695450"/>
            <a:ext cx="5124450" cy="3200400"/>
          </a:xfrm>
          <a:prstGeom xmlns:a="http://schemas.openxmlformats.org/drawingml/2006/main" prst="rect">
            <a:avLst/>
          </a:prstGeom>
        </p:spPr>
      </p:pic>
      <p:sp>
        <p:nvSpPr>
          <p:cNvPr id="19" name="s6-debug-border">
            <a:extLst xmlns:a="http://schemas.openxmlformats.org/drawingml/2006/main">
              <a:ext uri="{FF2B5EF4-FFF2-40B4-BE49-F238E27FC236}">
                <a16:creationId xmlns:a16="http://schemas.microsoft.com/office/drawing/2014/main" id="{A3A84E92-728C-4ADE-8485-BF6BD8ECF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695450"/>
            <a:ext cx="512445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4D7D"/>
            </a:solidFill>
            <a:prstDash val="solid"/>
          </a:ln>
        </p:spPr>
      </p:sp>
      <p:sp>
        <p:nvSpPr>
          <p:cNvPr id="20" name="s6-debug-caption">
            <a:extLst xmlns:a="http://schemas.openxmlformats.org/drawingml/2006/main">
              <a:ext uri="{FF2B5EF4-FFF2-40B4-BE49-F238E27FC236}">
                <a16:creationId xmlns:a16="http://schemas.microsoft.com/office/drawing/2014/main" id="{C92BBB4E-AFBF-473B-8689-F5984069D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048250"/>
            <a:ext cx="512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2839A"/>
                </a:solidFill>
              </a:defRPr>
            </a:pPr>
            <a:r>
              <a:rPr sz="1275" b="0">
                <a:solidFill>
                  <a:srgbClr val="72839A"/>
                </a:solidFill>
              </a:rPr>
              <a:t>F3 技术面板：正式 HUD 隐藏算法节点，答辩时再展开</a:t>
            </a:r>
          </a:p>
        </p:txBody>
      </p:sp>
      <p:sp>
        <p:nvSpPr>
          <p:cNvPr id="21" name="s6-hard">
            <a:extLst xmlns:a="http://schemas.openxmlformats.org/drawingml/2006/main">
              <a:ext uri="{FF2B5EF4-FFF2-40B4-BE49-F238E27FC236}">
                <a16:creationId xmlns:a16="http://schemas.microsoft.com/office/drawing/2014/main" id="{94B1804E-5077-4011-A8B2-699E3E884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657850"/>
            <a:ext cx="5124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2F7FC"/>
                </a:solidFill>
              </a:defRPr>
            </a:pPr>
            <a:r>
              <a:rPr sz="1500" b="1">
                <a:solidFill>
                  <a:srgbClr val="F2F7FC"/>
                </a:solidFill>
              </a:rPr>
              <a:t>最难的不是“随机”，而是让每次随机都合法、可复现，并与画面反馈保持一致。</a:t>
            </a:r>
          </a:p>
        </p:txBody>
      </p:sp>
    </p:spTree>
    <p:extLst>
      <p:ext uri="{BB962C8B-B14F-4D97-AF65-F5344CB8AC3E}">
        <p14:creationId xmlns:p14="http://schemas.microsoft.com/office/powerpoint/2010/main" val="125066576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509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ys-7">
            <a:extLst xmlns:a="http://schemas.openxmlformats.org/drawingml/2006/main">
              <a:ext uri="{FF2B5EF4-FFF2-40B4-BE49-F238E27FC236}">
                <a16:creationId xmlns:a16="http://schemas.microsoft.com/office/drawing/2014/main" id="{95EAC3EF-8519-43D4-92F7-E980A97E6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3905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2D6F4"/>
                </a:solidFill>
              </a:defRPr>
            </a:pPr>
            <a:r>
              <a:rPr sz="1050" b="1">
                <a:solidFill>
                  <a:srgbClr val="32D6F4"/>
                </a:solidFill>
              </a:rPr>
              <a:t>ECHO // ZERO  /  INITIAL REVIEW</a:t>
            </a:r>
          </a:p>
        </p:txBody>
      </p:sp>
      <p:sp>
        <p:nvSpPr>
          <p:cNvPr id="2" name="section-7">
            <a:extLst xmlns:a="http://schemas.openxmlformats.org/drawingml/2006/main">
              <a:ext uri="{FF2B5EF4-FFF2-40B4-BE49-F238E27FC236}">
                <a16:creationId xmlns:a16="http://schemas.microsoft.com/office/drawing/2014/main" id="{45601160-3A76-47F3-A8E3-4BC447E87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66700"/>
            <a:ext cx="2533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2839A"/>
                </a:solidFill>
              </a:defRPr>
            </a:pPr>
            <a:r>
              <a:rPr sz="975" b="1">
                <a:solidFill>
                  <a:srgbClr val="72839A"/>
                </a:solidFill>
              </a:rPr>
              <a:t>INNOVATION</a:t>
            </a:r>
          </a:p>
        </p:txBody>
      </p:sp>
      <p:sp>
        <p:nvSpPr>
          <p:cNvPr id="3" name="top-rule-7">
            <a:extLst xmlns:a="http://schemas.openxmlformats.org/drawingml/2006/main">
              <a:ext uri="{FF2B5EF4-FFF2-40B4-BE49-F238E27FC236}">
                <a16:creationId xmlns:a16="http://schemas.microsoft.com/office/drawing/2014/main" id="{BA8D6CBC-91E4-4C87-BDF6-325D5EF88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1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7">
            <a:extLst xmlns:a="http://schemas.openxmlformats.org/drawingml/2006/main">
              <a:ext uri="{FF2B5EF4-FFF2-40B4-BE49-F238E27FC236}">
                <a16:creationId xmlns:a16="http://schemas.microsoft.com/office/drawing/2014/main" id="{94EB9EEE-63D6-42AB-92FD-A434D5BB5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2839A"/>
                </a:solidFill>
              </a:defRPr>
            </a:pPr>
            <a:r>
              <a:rPr sz="900" b="1">
                <a:solidFill>
                  <a:srgbClr val="72839A"/>
                </a:solidFill>
              </a:rPr>
              <a:t>07</a:t>
            </a:r>
          </a:p>
        </p:txBody>
      </p:sp>
      <p:sp>
        <p:nvSpPr>
          <p:cNvPr id="5" name="s7-title">
            <a:extLst xmlns:a="http://schemas.openxmlformats.org/drawingml/2006/main">
              <a:ext uri="{FF2B5EF4-FFF2-40B4-BE49-F238E27FC236}">
                <a16:creationId xmlns:a16="http://schemas.microsoft.com/office/drawing/2014/main" id="{EC3CF2B7-B5C3-4327-9161-6A3FB2077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762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2F7FC"/>
                </a:solidFill>
              </a:defRPr>
            </a:pPr>
            <a:r>
              <a:rPr sz="2850" b="1">
                <a:solidFill>
                  <a:srgbClr val="F2F7FC"/>
                </a:solidFill>
              </a:rPr>
              <a:t>创新点落在玩家能感受到的选择上</a:t>
            </a:r>
          </a:p>
        </p:txBody>
      </p:sp>
      <p:sp>
        <p:nvSpPr>
          <p:cNvPr id="6" name="s7-quote">
            <a:extLst xmlns:a="http://schemas.openxmlformats.org/drawingml/2006/main">
              <a:ext uri="{FF2B5EF4-FFF2-40B4-BE49-F238E27FC236}">
                <a16:creationId xmlns:a16="http://schemas.microsoft.com/office/drawing/2014/main" id="{5B96C717-DAE3-4DB8-B357-4AA3F257C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47800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A874FF"/>
                </a:solidFill>
              </a:defRPr>
            </a:pPr>
            <a:r>
              <a:rPr sz="1875" b="1">
                <a:solidFill>
                  <a:srgbClr val="A874FF"/>
                </a:solidFill>
              </a:rPr>
              <a:t>实时交锋 · 冻结战局 · 改写因果</a:t>
            </a:r>
          </a:p>
        </p:txBody>
      </p:sp>
      <p:sp>
        <p:nvSpPr>
          <p:cNvPr id="7" name="s7-no-0">
            <a:extLst xmlns:a="http://schemas.openxmlformats.org/drawingml/2006/main">
              <a:ext uri="{FF2B5EF4-FFF2-40B4-BE49-F238E27FC236}">
                <a16:creationId xmlns:a16="http://schemas.microsoft.com/office/drawing/2014/main" id="{2668486E-56AB-4FDE-8407-6D3BEB009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2D6F4"/>
                </a:solidFill>
              </a:defRPr>
            </a:pPr>
            <a:r>
              <a:rPr sz="1500" b="1">
                <a:solidFill>
                  <a:srgbClr val="32D6F4"/>
                </a:solidFill>
              </a:rPr>
              <a:t>01</a:t>
            </a:r>
          </a:p>
        </p:txBody>
      </p:sp>
      <p:sp>
        <p:nvSpPr>
          <p:cNvPr id="8" name="s7-head-0">
            <a:extLst xmlns:a="http://schemas.openxmlformats.org/drawingml/2006/main">
              <a:ext uri="{FF2B5EF4-FFF2-40B4-BE49-F238E27FC236}">
                <a16:creationId xmlns:a16="http://schemas.microsoft.com/office/drawing/2014/main" id="{DD067A97-5C14-48B4-A914-0D61D3A84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2479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2F7FC"/>
                </a:solidFill>
              </a:defRPr>
            </a:pPr>
            <a:r>
              <a:rPr sz="1650" b="1">
                <a:solidFill>
                  <a:srgbClr val="F2F7FC"/>
                </a:solidFill>
              </a:rPr>
              <a:t>同一场战斗的两种节奏</a:t>
            </a:r>
          </a:p>
        </p:txBody>
      </p:sp>
      <p:sp>
        <p:nvSpPr>
          <p:cNvPr id="9" name="s7-copy-0">
            <a:extLst xmlns:a="http://schemas.openxmlformats.org/drawingml/2006/main">
              <a:ext uri="{FF2B5EF4-FFF2-40B4-BE49-F238E27FC236}">
                <a16:creationId xmlns:a16="http://schemas.microsoft.com/office/drawing/2014/main" id="{C0446101-386C-4B99-B631-C5E41A6DB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28900"/>
            <a:ext cx="409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6D2DF"/>
                </a:solidFill>
              </a:defRPr>
            </a:pPr>
            <a:r>
              <a:rPr sz="1275" b="0">
                <a:solidFill>
                  <a:srgbClr val="C6D2DF"/>
                </a:solidFill>
              </a:rPr>
              <a:t>动作负责速度，Tactical 负责高价值决策。</a:t>
            </a:r>
          </a:p>
        </p:txBody>
      </p:sp>
      <p:sp>
        <p:nvSpPr>
          <p:cNvPr id="10" name="s7-no-1">
            <a:extLst xmlns:a="http://schemas.openxmlformats.org/drawingml/2006/main">
              <a:ext uri="{FF2B5EF4-FFF2-40B4-BE49-F238E27FC236}">
                <a16:creationId xmlns:a16="http://schemas.microsoft.com/office/drawing/2014/main" id="{EF219A38-1260-4BDA-8507-C90333FD7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528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A874FF"/>
                </a:solidFill>
              </a:defRPr>
            </a:pPr>
            <a:r>
              <a:rPr sz="1500" b="1">
                <a:solidFill>
                  <a:srgbClr val="A874FF"/>
                </a:solidFill>
              </a:rPr>
              <a:t>02</a:t>
            </a:r>
          </a:p>
        </p:txBody>
      </p:sp>
      <p:sp>
        <p:nvSpPr>
          <p:cNvPr id="11" name="s7-head-1">
            <a:extLst xmlns:a="http://schemas.openxmlformats.org/drawingml/2006/main">
              <a:ext uri="{FF2B5EF4-FFF2-40B4-BE49-F238E27FC236}">
                <a16:creationId xmlns:a16="http://schemas.microsoft.com/office/drawing/2014/main" id="{8F8DD1B5-47CF-4EDB-B361-948989560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3528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2F7FC"/>
                </a:solidFill>
              </a:defRPr>
            </a:pPr>
            <a:r>
              <a:rPr sz="1650" b="1">
                <a:solidFill>
                  <a:srgbClr val="F2F7FC"/>
                </a:solidFill>
              </a:rPr>
              <a:t>Build 改写规则</a:t>
            </a:r>
          </a:p>
        </p:txBody>
      </p:sp>
      <p:sp>
        <p:nvSpPr>
          <p:cNvPr id="12" name="s7-copy-1">
            <a:extLst xmlns:a="http://schemas.openxmlformats.org/drawingml/2006/main">
              <a:ext uri="{FF2B5EF4-FFF2-40B4-BE49-F238E27FC236}">
                <a16:creationId xmlns:a16="http://schemas.microsoft.com/office/drawing/2014/main" id="{E1C6A35B-9121-48B7-9F7D-23208E0FE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33800"/>
            <a:ext cx="409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6D2DF"/>
                </a:solidFill>
              </a:defRPr>
            </a:pPr>
            <a:r>
              <a:rPr sz="1275" b="0">
                <a:solidFill>
                  <a:srgbClr val="C6D2DF"/>
                </a:solidFill>
              </a:rPr>
              <a:t>协议不仅加数值，还改变冷却、命令或时间轴。</a:t>
            </a:r>
          </a:p>
        </p:txBody>
      </p:sp>
      <p:sp>
        <p:nvSpPr>
          <p:cNvPr id="13" name="s7-no-2">
            <a:extLst xmlns:a="http://schemas.openxmlformats.org/drawingml/2006/main">
              <a:ext uri="{FF2B5EF4-FFF2-40B4-BE49-F238E27FC236}">
                <a16:creationId xmlns:a16="http://schemas.microsoft.com/office/drawing/2014/main" id="{D2407C39-1F21-4BE9-9DE4-C8E9C0E7B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577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4D7D"/>
                </a:solidFill>
              </a:defRPr>
            </a:pPr>
            <a:r>
              <a:rPr sz="1500" b="1">
                <a:solidFill>
                  <a:srgbClr val="FF4D7D"/>
                </a:solidFill>
              </a:rPr>
              <a:t>03</a:t>
            </a:r>
          </a:p>
        </p:txBody>
      </p:sp>
      <p:sp>
        <p:nvSpPr>
          <p:cNvPr id="14" name="s7-head-2">
            <a:extLst xmlns:a="http://schemas.openxmlformats.org/drawingml/2006/main">
              <a:ext uri="{FF2B5EF4-FFF2-40B4-BE49-F238E27FC236}">
                <a16:creationId xmlns:a16="http://schemas.microsoft.com/office/drawing/2014/main" id="{B7DB2F49-C71F-4089-A1BC-4BBCEB9FF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4577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2F7FC"/>
                </a:solidFill>
              </a:defRPr>
            </a:pPr>
            <a:r>
              <a:rPr sz="1650" b="1">
                <a:solidFill>
                  <a:srgbClr val="F2F7FC"/>
                </a:solidFill>
              </a:rPr>
              <a:t>AI 对玩家透明</a:t>
            </a:r>
          </a:p>
        </p:txBody>
      </p:sp>
      <p:sp>
        <p:nvSpPr>
          <p:cNvPr id="15" name="s7-copy-2">
            <a:extLst xmlns:a="http://schemas.openxmlformats.org/drawingml/2006/main">
              <a:ext uri="{FF2B5EF4-FFF2-40B4-BE49-F238E27FC236}">
                <a16:creationId xmlns:a16="http://schemas.microsoft.com/office/drawing/2014/main" id="{3677DD94-E999-4F85-BF5A-73DC8728C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38700"/>
            <a:ext cx="409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6D2DF"/>
                </a:solidFill>
              </a:defRPr>
            </a:pPr>
            <a:r>
              <a:rPr sz="1275" b="0">
                <a:solidFill>
                  <a:srgbClr val="C6D2DF"/>
                </a:solidFill>
              </a:rPr>
              <a:t>正式 HUD 给出中文意图；技术细节留给 F3。</a:t>
            </a:r>
          </a:p>
        </p:txBody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afdabb72604e8e"/>
          <a:srcRect xmlns:a="http://schemas.openxmlformats.org/drawingml/2006/main" l="19" t="0" r="1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62650" y="1638300"/>
            <a:ext cx="5619750" cy="3162300"/>
          </a:xfrm>
          <a:prstGeom xmlns:a="http://schemas.openxmlformats.org/drawingml/2006/main" prst="rect">
            <a:avLst/>
          </a:prstGeom>
        </p:spPr>
      </p:pic>
      <p:sp>
        <p:nvSpPr>
          <p:cNvPr id="17" name="s7-boss-border">
            <a:extLst xmlns:a="http://schemas.openxmlformats.org/drawingml/2006/main">
              <a:ext uri="{FF2B5EF4-FFF2-40B4-BE49-F238E27FC236}">
                <a16:creationId xmlns:a16="http://schemas.microsoft.com/office/drawing/2014/main" id="{DF38854A-835D-4A4D-8E64-6AB5A92D5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638300"/>
            <a:ext cx="5619750" cy="316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874FF"/>
            </a:solidFill>
            <a:prstDash val="solid"/>
          </a:ln>
        </p:spPr>
      </p:sp>
      <p:sp>
        <p:nvSpPr>
          <p:cNvPr id="18" name="s7-caption">
            <a:extLst xmlns:a="http://schemas.openxmlformats.org/drawingml/2006/main">
              <a:ext uri="{FF2B5EF4-FFF2-40B4-BE49-F238E27FC236}">
                <a16:creationId xmlns:a16="http://schemas.microsoft.com/office/drawing/2014/main" id="{DDE8C8D3-63B6-4900-8640-6E131074E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953000"/>
            <a:ext cx="561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2839A"/>
                </a:solidFill>
              </a:defRPr>
            </a:pPr>
            <a:r>
              <a:rPr sz="1275" b="0">
                <a:solidFill>
                  <a:srgbClr val="72839A"/>
                </a:solidFill>
              </a:rPr>
              <a:t>Boss 遭遇：右栏同时展示两项已安装强化及累计效果</a:t>
            </a:r>
          </a:p>
        </p:txBody>
      </p:sp>
      <p:sp>
        <p:nvSpPr>
          <p:cNvPr id="19" name="s7-bottom">
            <a:extLst xmlns:a="http://schemas.openxmlformats.org/drawingml/2006/main">
              <a:ext uri="{FF2B5EF4-FFF2-40B4-BE49-F238E27FC236}">
                <a16:creationId xmlns:a16="http://schemas.microsoft.com/office/drawing/2014/main" id="{56C3657C-0C98-4A66-B6F4-DA037BD75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1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s7-difficult">
            <a:extLst xmlns:a="http://schemas.openxmlformats.org/drawingml/2006/main">
              <a:ext uri="{FF2B5EF4-FFF2-40B4-BE49-F238E27FC236}">
                <a16:creationId xmlns:a16="http://schemas.microsoft.com/office/drawing/2014/main" id="{0C7162BB-A648-4040-BBAC-BC319E5D9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6D2DF"/>
                </a:solidFill>
              </a:defRPr>
            </a:pPr>
            <a:r>
              <a:rPr sz="1350" b="1">
                <a:solidFill>
                  <a:srgbClr val="C6D2DF"/>
                </a:solidFill>
              </a:rPr>
              <a:t>工程难点：同源结算  /  窗口恢复稳定  /  输入法边界  /  信息密度控制</a:t>
            </a:r>
          </a:p>
        </p:txBody>
      </p:sp>
    </p:spTree>
    <p:extLst>
      <p:ext uri="{BB962C8B-B14F-4D97-AF65-F5344CB8AC3E}">
        <p14:creationId xmlns:p14="http://schemas.microsoft.com/office/powerpoint/2010/main" val="197892820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509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ys-8">
            <a:extLst xmlns:a="http://schemas.openxmlformats.org/drawingml/2006/main">
              <a:ext uri="{FF2B5EF4-FFF2-40B4-BE49-F238E27FC236}">
                <a16:creationId xmlns:a16="http://schemas.microsoft.com/office/drawing/2014/main" id="{BD4F1665-3A7A-45DB-9AAF-A79398B34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3905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2D6F4"/>
                </a:solidFill>
              </a:defRPr>
            </a:pPr>
            <a:r>
              <a:rPr sz="1050" b="1">
                <a:solidFill>
                  <a:srgbClr val="32D6F4"/>
                </a:solidFill>
              </a:rPr>
              <a:t>ECHO // ZERO  /  INITIAL REVIEW</a:t>
            </a:r>
          </a:p>
        </p:txBody>
      </p:sp>
      <p:sp>
        <p:nvSpPr>
          <p:cNvPr id="2" name="section-8">
            <a:extLst xmlns:a="http://schemas.openxmlformats.org/drawingml/2006/main">
              <a:ext uri="{FF2B5EF4-FFF2-40B4-BE49-F238E27FC236}">
                <a16:creationId xmlns:a16="http://schemas.microsoft.com/office/drawing/2014/main" id="{BE8C203E-8054-4277-9F32-B49D5BF8B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66700"/>
            <a:ext cx="2533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2839A"/>
                </a:solidFill>
              </a:defRPr>
            </a:pPr>
            <a:r>
              <a:rPr sz="975" b="1">
                <a:solidFill>
                  <a:srgbClr val="72839A"/>
                </a:solidFill>
              </a:rPr>
              <a:t>SUMMARY / NEXT</a:t>
            </a:r>
          </a:p>
        </p:txBody>
      </p:sp>
      <p:sp>
        <p:nvSpPr>
          <p:cNvPr id="3" name="top-rule-8">
            <a:extLst xmlns:a="http://schemas.openxmlformats.org/drawingml/2006/main">
              <a:ext uri="{FF2B5EF4-FFF2-40B4-BE49-F238E27FC236}">
                <a16:creationId xmlns:a16="http://schemas.microsoft.com/office/drawing/2014/main" id="{E6E10FD5-1B40-4280-83A3-3DBC775BC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1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8">
            <a:extLst xmlns:a="http://schemas.openxmlformats.org/drawingml/2006/main">
              <a:ext uri="{FF2B5EF4-FFF2-40B4-BE49-F238E27FC236}">
                <a16:creationId xmlns:a16="http://schemas.microsoft.com/office/drawing/2014/main" id="{AC17B668-CD73-4AED-BC72-B562B7012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2839A"/>
                </a:solidFill>
              </a:defRPr>
            </a:pPr>
            <a:r>
              <a:rPr sz="900" b="1">
                <a:solidFill>
                  <a:srgbClr val="72839A"/>
                </a:solidFill>
              </a:rPr>
              <a:t>08</a:t>
            </a:r>
          </a:p>
        </p:txBody>
      </p:sp>
      <p:sp>
        <p:nvSpPr>
          <p:cNvPr id="5" name="s8-title">
            <a:extLst xmlns:a="http://schemas.openxmlformats.org/drawingml/2006/main">
              <a:ext uri="{FF2B5EF4-FFF2-40B4-BE49-F238E27FC236}">
                <a16:creationId xmlns:a16="http://schemas.microsoft.com/office/drawing/2014/main" id="{10BADC10-5248-4E2D-B6C9-D83F747EF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609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2F7FC"/>
                </a:solidFill>
              </a:defRPr>
            </a:pPr>
            <a:r>
              <a:rPr sz="3000" b="1">
                <a:solidFill>
                  <a:srgbClr val="F2F7FC"/>
                </a:solidFill>
              </a:rPr>
              <a:t>当前已通过代码侧初验</a:t>
            </a:r>
          </a:p>
        </p:txBody>
      </p:sp>
      <p:sp>
        <p:nvSpPr>
          <p:cNvPr id="6" name="s8-close">
            <a:extLst xmlns:a="http://schemas.openxmlformats.org/drawingml/2006/main">
              <a:ext uri="{FF2B5EF4-FFF2-40B4-BE49-F238E27FC236}">
                <a16:creationId xmlns:a16="http://schemas.microsoft.com/office/drawing/2014/main" id="{B3F3EDF4-823E-425E-8962-0D0013FF7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704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2D6F4"/>
                </a:solidFill>
              </a:defRPr>
            </a:pPr>
            <a:r>
              <a:rPr sz="1800" b="1">
                <a:solidFill>
                  <a:srgbClr val="32D6F4"/>
                </a:solidFill>
              </a:rPr>
              <a:t>一个可玩、可讲、可验证的动作 Roguelike Demo</a:t>
            </a:r>
          </a:p>
        </p:txBody>
      </p:sp>
      <p:sp>
        <p:nvSpPr>
          <p:cNvPr id="7" name="s8-metric-0">
            <a:extLst xmlns:a="http://schemas.openxmlformats.org/drawingml/2006/main">
              <a:ext uri="{FF2B5EF4-FFF2-40B4-BE49-F238E27FC236}">
                <a16:creationId xmlns:a16="http://schemas.microsoft.com/office/drawing/2014/main" id="{F0A99C57-B0EA-4B35-BFE2-B3CCAA6C5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2190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56E39F"/>
                </a:solidFill>
              </a:defRPr>
            </a:pPr>
            <a:r>
              <a:rPr sz="3900" b="1">
                <a:solidFill>
                  <a:srgbClr val="56E39F"/>
                </a:solidFill>
              </a:rPr>
              <a:t>125</a:t>
            </a:r>
          </a:p>
        </p:txBody>
      </p:sp>
      <p:sp>
        <p:nvSpPr>
          <p:cNvPr id="8" name="s8-label-0">
            <a:extLst xmlns:a="http://schemas.openxmlformats.org/drawingml/2006/main">
              <a:ext uri="{FF2B5EF4-FFF2-40B4-BE49-F238E27FC236}">
                <a16:creationId xmlns:a16="http://schemas.microsoft.com/office/drawing/2014/main" id="{0998DF88-10C2-443C-AAAF-7B5572127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194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6D2DF"/>
                </a:solidFill>
              </a:defRPr>
            </a:pPr>
            <a:r>
              <a:rPr sz="1275" b="1">
                <a:solidFill>
                  <a:srgbClr val="C6D2DF"/>
                </a:solidFill>
              </a:rPr>
              <a:t>自动测试</a:t>
            </a:r>
          </a:p>
        </p:txBody>
      </p:sp>
      <p:sp>
        <p:nvSpPr>
          <p:cNvPr id="9" name="s8-rule-0">
            <a:extLst xmlns:a="http://schemas.openxmlformats.org/drawingml/2006/main">
              <a:ext uri="{FF2B5EF4-FFF2-40B4-BE49-F238E27FC236}">
                <a16:creationId xmlns:a16="http://schemas.microsoft.com/office/drawing/2014/main" id="{E8EAA18B-7211-4BA3-81B6-D226A4766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81350"/>
            <a:ext cx="2095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1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8-metric-1">
            <a:extLst xmlns:a="http://schemas.openxmlformats.org/drawingml/2006/main">
              <a:ext uri="{FF2B5EF4-FFF2-40B4-BE49-F238E27FC236}">
                <a16:creationId xmlns:a16="http://schemas.microsoft.com/office/drawing/2014/main" id="{22705E83-5CC2-48B0-9228-586BDA184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43125"/>
            <a:ext cx="2190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32D6F4"/>
                </a:solidFill>
              </a:defRPr>
            </a:pPr>
            <a:r>
              <a:rPr sz="3900" b="1">
                <a:solidFill>
                  <a:srgbClr val="32D6F4"/>
                </a:solidFill>
              </a:rPr>
              <a:t>2</a:t>
            </a:r>
          </a:p>
        </p:txBody>
      </p:sp>
      <p:sp>
        <p:nvSpPr>
          <p:cNvPr id="11" name="s8-label-1">
            <a:extLst xmlns:a="http://schemas.openxmlformats.org/drawingml/2006/main">
              <a:ext uri="{FF2B5EF4-FFF2-40B4-BE49-F238E27FC236}">
                <a16:creationId xmlns:a16="http://schemas.microsoft.com/office/drawing/2014/main" id="{61592C61-8690-4844-A942-6619DCFAA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194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6D2DF"/>
                </a:solidFill>
              </a:defRPr>
            </a:pPr>
            <a:r>
              <a:rPr sz="1275" b="1">
                <a:solidFill>
                  <a:srgbClr val="C6D2DF"/>
                </a:solidFill>
              </a:rPr>
              <a:t>完整展示入口</a:t>
            </a:r>
          </a:p>
        </p:txBody>
      </p:sp>
      <p:sp>
        <p:nvSpPr>
          <p:cNvPr id="12" name="s8-rule-1">
            <a:extLst xmlns:a="http://schemas.openxmlformats.org/drawingml/2006/main">
              <a:ext uri="{FF2B5EF4-FFF2-40B4-BE49-F238E27FC236}">
                <a16:creationId xmlns:a16="http://schemas.microsoft.com/office/drawing/2014/main" id="{6431F3AE-96CB-4C05-9817-C09E98786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181350"/>
            <a:ext cx="2095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1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8-metric-2">
            <a:extLst xmlns:a="http://schemas.openxmlformats.org/drawingml/2006/main">
              <a:ext uri="{FF2B5EF4-FFF2-40B4-BE49-F238E27FC236}">
                <a16:creationId xmlns:a16="http://schemas.microsoft.com/office/drawing/2014/main" id="{95B14996-0741-48EF-8F87-CE77CEE50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143125"/>
            <a:ext cx="2190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A874FF"/>
                </a:solidFill>
              </a:defRPr>
            </a:pPr>
            <a:r>
              <a:rPr sz="3900" b="1">
                <a:solidFill>
                  <a:srgbClr val="A874FF"/>
                </a:solidFill>
              </a:rPr>
              <a:t>3</a:t>
            </a:r>
          </a:p>
        </p:txBody>
      </p:sp>
      <p:sp>
        <p:nvSpPr>
          <p:cNvPr id="14" name="s8-label-2">
            <a:extLst xmlns:a="http://schemas.openxmlformats.org/drawingml/2006/main">
              <a:ext uri="{FF2B5EF4-FFF2-40B4-BE49-F238E27FC236}">
                <a16:creationId xmlns:a16="http://schemas.microsoft.com/office/drawing/2014/main" id="{757E75E1-F064-46E7-9A3B-B73811988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8194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6D2DF"/>
                </a:solidFill>
              </a:defRPr>
            </a:pPr>
            <a:r>
              <a:rPr sz="1275" b="1">
                <a:solidFill>
                  <a:srgbClr val="C6D2DF"/>
                </a:solidFill>
              </a:rPr>
              <a:t>目标分辨率</a:t>
            </a:r>
          </a:p>
        </p:txBody>
      </p:sp>
      <p:sp>
        <p:nvSpPr>
          <p:cNvPr id="15" name="s8-rule-2">
            <a:extLst xmlns:a="http://schemas.openxmlformats.org/drawingml/2006/main">
              <a:ext uri="{FF2B5EF4-FFF2-40B4-BE49-F238E27FC236}">
                <a16:creationId xmlns:a16="http://schemas.microsoft.com/office/drawing/2014/main" id="{8017380E-4B83-42E2-9B15-4EFFEAF80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181350"/>
            <a:ext cx="2095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1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8-metric-3">
            <a:extLst xmlns:a="http://schemas.openxmlformats.org/drawingml/2006/main">
              <a:ext uri="{FF2B5EF4-FFF2-40B4-BE49-F238E27FC236}">
                <a16:creationId xmlns:a16="http://schemas.microsoft.com/office/drawing/2014/main" id="{ACA6E6B2-D7F5-442F-8ACD-71F0B6601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143125"/>
            <a:ext cx="2190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4D7D"/>
                </a:solidFill>
              </a:defRPr>
            </a:pPr>
            <a:r>
              <a:rPr sz="3900" b="1">
                <a:solidFill>
                  <a:srgbClr val="FF4D7D"/>
                </a:solidFill>
              </a:rPr>
              <a:t>34</a:t>
            </a:r>
          </a:p>
        </p:txBody>
      </p:sp>
      <p:sp>
        <p:nvSpPr>
          <p:cNvPr id="17" name="s8-label-3">
            <a:extLst xmlns:a="http://schemas.openxmlformats.org/drawingml/2006/main">
              <a:ext uri="{FF2B5EF4-FFF2-40B4-BE49-F238E27FC236}">
                <a16:creationId xmlns:a16="http://schemas.microsoft.com/office/drawing/2014/main" id="{B1D142C4-1735-4933-8F94-876CD2058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8194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6D2DF"/>
                </a:solidFill>
              </a:defRPr>
            </a:pPr>
            <a:r>
              <a:rPr sz="1275" b="1">
                <a:solidFill>
                  <a:srgbClr val="C6D2DF"/>
                </a:solidFill>
              </a:rPr>
              <a:t>最终 UI QA 截图</a:t>
            </a:r>
          </a:p>
        </p:txBody>
      </p:sp>
      <p:sp>
        <p:nvSpPr>
          <p:cNvPr id="18" name="s8-rule-3">
            <a:extLst xmlns:a="http://schemas.openxmlformats.org/drawingml/2006/main">
              <a:ext uri="{FF2B5EF4-FFF2-40B4-BE49-F238E27FC236}">
                <a16:creationId xmlns:a16="http://schemas.microsoft.com/office/drawing/2014/main" id="{0E14272D-F1DA-4286-8A9F-9FB6A028C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181350"/>
            <a:ext cx="2095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1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s8-next-label">
            <a:extLst xmlns:a="http://schemas.openxmlformats.org/drawingml/2006/main">
              <a:ext uri="{FF2B5EF4-FFF2-40B4-BE49-F238E27FC236}">
                <a16:creationId xmlns:a16="http://schemas.microsoft.com/office/drawing/2014/main" id="{D7DCD9CA-988D-4DC7-BF50-252D01691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874FF"/>
                </a:solidFill>
              </a:defRPr>
            </a:pPr>
            <a:r>
              <a:rPr sz="1350" b="1">
                <a:solidFill>
                  <a:srgbClr val="A874FF"/>
                </a:solidFill>
              </a:rPr>
              <a:t>NEXT</a:t>
            </a:r>
          </a:p>
        </p:txBody>
      </p:sp>
      <p:sp>
        <p:nvSpPr>
          <p:cNvPr id="20" name="s8-next">
            <a:extLst xmlns:a="http://schemas.openxmlformats.org/drawingml/2006/main">
              <a:ext uri="{FF2B5EF4-FFF2-40B4-BE49-F238E27FC236}">
                <a16:creationId xmlns:a16="http://schemas.microsoft.com/office/drawing/2014/main" id="{8D629053-1011-4752-9CBD-CC4BBD94E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33850"/>
            <a:ext cx="4762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2F7FC"/>
                </a:solidFill>
              </a:defRPr>
            </a:pPr>
            <a:r>
              <a:rPr sz="1575" b="1">
                <a:solidFill>
                  <a:srgbClr val="F2F7FC"/>
                </a:solidFill>
              </a:rPr>
              <a:t>01  PyInstaller onedir 发布包</a:t>
            </a:r>
          </a:p>
          <a:p xmlns:a="http://schemas.openxmlformats.org/drawingml/2006/main">
            <a:pPr algn="l">
              <a:defRPr sz="1575" b="1">
                <a:solidFill>
                  <a:srgbClr val="F2F7FC"/>
                </a:solidFill>
              </a:defRPr>
            </a:pPr>
            <a:r>
              <a:rPr sz="1575" b="1">
                <a:solidFill>
                  <a:srgbClr val="F2F7FC"/>
                </a:solidFill>
              </a:rPr>
              <a:t>02  真人盲测与反馈回填</a:t>
            </a:r>
          </a:p>
          <a:p xmlns:a="http://schemas.openxmlformats.org/drawingml/2006/main">
            <a:pPr algn="l">
              <a:defRPr sz="1575" b="1">
                <a:solidFill>
                  <a:srgbClr val="F2F7FC"/>
                </a:solidFill>
              </a:defRPr>
            </a:pPr>
            <a:r>
              <a:rPr sz="1575" b="1">
                <a:solidFill>
                  <a:srgbClr val="F2F7FC"/>
                </a:solidFill>
              </a:rPr>
              <a:t>03  连续 5 次三分钟答辩演练</a:t>
            </a:r>
          </a:p>
        </p:txBody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963703a98c4393"/>
          <a:srcRect xmlns:a="http://schemas.openxmlformats.org/drawingml/2006/main" l="0" t="10599" r="0" b="1059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10300" y="3657600"/>
            <a:ext cx="5372100" cy="2381250"/>
          </a:xfrm>
          <a:prstGeom xmlns:a="http://schemas.openxmlformats.org/drawingml/2006/main" prst="rect">
            <a:avLst/>
          </a:prstGeom>
        </p:spPr>
      </p:pic>
      <p:sp>
        <p:nvSpPr>
          <p:cNvPr id="22" name="s8-acquired-border">
            <a:extLst xmlns:a="http://schemas.openxmlformats.org/drawingml/2006/main">
              <a:ext uri="{FF2B5EF4-FFF2-40B4-BE49-F238E27FC236}">
                <a16:creationId xmlns:a16="http://schemas.microsoft.com/office/drawing/2014/main" id="{63DEE3D3-AE7C-4706-AB0B-689C68376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657600"/>
            <a:ext cx="53721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6E39F"/>
            </a:solidFill>
            <a:prstDash val="solid"/>
          </a:ln>
        </p:spPr>
      </p:sp>
      <p:sp>
        <p:nvSpPr>
          <p:cNvPr id="23" name="s8-footer">
            <a:extLst xmlns:a="http://schemas.openxmlformats.org/drawingml/2006/main">
              <a:ext uri="{FF2B5EF4-FFF2-40B4-BE49-F238E27FC236}">
                <a16:creationId xmlns:a16="http://schemas.microsoft.com/office/drawing/2014/main" id="{058D958F-E67F-4275-A98F-4A16D692F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2839A"/>
                </a:solidFill>
              </a:defRPr>
            </a:pPr>
            <a:r>
              <a:rPr sz="1050" b="1">
                <a:solidFill>
                  <a:srgbClr val="72839A"/>
                </a:solidFill>
              </a:rPr>
              <a:t>READY FOR INITIAL REVIEW</a:t>
            </a:r>
          </a:p>
        </p:txBody>
      </p:sp>
    </p:spTree>
    <p:extLst>
      <p:ext uri="{BB962C8B-B14F-4D97-AF65-F5344CB8AC3E}">
        <p14:creationId xmlns:p14="http://schemas.microsoft.com/office/powerpoint/2010/main" val="14567730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2026-09-01T03:35:42.7430000Z</dcterms:created>
  <dcterms:modified xsi:type="dcterms:W3CDTF">2026-09-01T03:35:42.7430000Z</dcterms:modified>
</coreProperties>
</file>